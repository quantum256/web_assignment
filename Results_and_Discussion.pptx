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91a7b511-b412-2089-e699-4863986d07d9}">
          <p14:sldIdLst>
            <p14:sldId id="256"/>
          </p14:sldIdLst>
        </p14:section>
        <p14:section name="Objective 1" id="{3badacc3-3377-ba37-2c91-c96055355362}">
          <p14:sldIdLst>
            <p14:sldId id="257"/>
            <p14:sldId id="258"/>
            <p14:sldId id="259"/>
            <p14:sldId id="260"/>
            <p14:sldId id="261"/>
            <p14:sldId id="262"/>
          </p14:sldIdLst>
        </p14:section>
        <p14:section name="Objective 2" id="{da5b84dd-69c9-f594-028b-943dc5016487}">
          <p14:sldIdLst>
            <p14:sldId id="263"/>
            <p14:sldId id="264"/>
            <p14:sldId id="265"/>
            <p14:sldId id="266"/>
            <p14:sldId id="267"/>
            <p14:sldId id="268"/>
            <p14:sldId id="269"/>
            <p14:sldId id="270"/>
          </p14:sldIdLst>
        </p14:section>
        <p14:section name="Objective 3" id="{6615bffa-d120-ffc9-0fcf-01146b05c0c6}">
          <p14:sldIdLst>
            <p14:sldId id="271"/>
            <p14:sldId id="272"/>
            <p14:sldId id="273"/>
            <p14:sldId id="274"/>
            <p14:sldId id="275"/>
            <p14:sldId id="276"/>
            <p14:sldId id="277"/>
            <p14:sldId id="278"/>
            <p14:sldId id="279"/>
            <p14:sldId id="280"/>
            <p14:sldId id="281"/>
            <p14:sldId id="282"/>
          </p14:sldIdLst>
        </p14:section>
        <p14:section name="Conclusion and Recommendations" id="{409dc1c5-ebfc-a2ba-57bf-af840e45f00f}">
          <p14:sldIdLst>
            <p14:sldId id="283"/>
            <p14:sldId id="284"/>
            <p14:sldId id="285"/>
          </p14:sldIdLst>
        </p14:section>
        <p14:section name="References" id="{69aa763c-1a09-0804-f93d-540ce7ef090a}">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rtlCol="0"/>
          <a:lstStyle>
            <a:lvl1pPr indent="0" marL="0">
              <a:buNone/>
              <a:defRPr lang="en-US" sz="1100" b="1"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611880"/>
            <a:ext cx="10698480" cy="82296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indent="0" marL="0">
              <a:buNone/>
            </a:pPr>
            <a:r>
              <a:rPr lang="en-US" sz="4800" b="1" dirty="0">
                <a:solidFill>
                  <a:schemeClr val="bg1"/>
                </a:solidFill>
              </a:rPr>
              <a:t>RESULTS AND DISCUSSION</a:t>
            </a:r>
            <a:endParaRPr lang="en-US" sz="4800" dirty="0"/>
          </a:p>
        </p:txBody>
      </p:sp>
      <p:sp>
        <p:nvSpPr>
          <p:cNvPr id="3" name="Text 0"/>
          <p:cNvSpPr/>
          <p:nvPr>
            <p:ph idx="101" type="body" hasCustomPrompt="1"/>
          </p:nvPr>
        </p:nvSpPr>
        <p:spPr>
          <a:xfrm>
            <a:off x="731520" y="3611880"/>
            <a:ext cx="10698480" cy="822960"/>
          </a:xfrm>
          <a:prstGeom prst="rect">
            <a:avLst/>
          </a:prstGeom>
          <a:noFill/>
          <a:ln/>
        </p:spPr>
        <p:txBody>
          <a:bodyPr wrap="square" lIns="0" tIns="0" rIns="0" bIns="0" rtlCol="0" anchor="t"/>
          <a:lstStyle/>
          <a:p>
            <a:pPr indent="0" marL="0">
              <a:buNone/>
            </a:pPr>
            <a:r>
              <a:rPr lang="en-US" sz="1800" dirty="0">
                <a:solidFill>
                  <a:schemeClr val="accent5"/>
                </a:solidFill>
              </a:rPr>
              <a:t>Objective 1  ·  Objective 2  ·  Objective 3  ·  Conclusion  ·  Recommendations  ·  Research Limitations and Future Work  ·  References</a:t>
            </a:r>
            <a:endParaRPr lang="en-US" sz="1800" dirty="0"/>
          </a:p>
        </p:txBody>
      </p:sp>
      <p:sp>
        <p:nvSpPr>
          <p:cNvPr id="4" name="Sun motif"/>
          <p:cNvSpPr/>
          <p:nvPr/>
        </p:nvSpPr>
        <p:spPr>
          <a:xfrm>
            <a:off x="9692640" y="-1097280"/>
            <a:ext cx="3840480" cy="3840480"/>
          </a:xfrm>
          <a:prstGeom prst="ellipse">
            <a:avLst/>
          </a:prstGeom>
          <a:solidFill>
            <a:schemeClr val="accent2">
              <a:alpha val="85000"/>
            </a:schemeClr>
          </a:solidFill>
          <a:ln w="12700">
            <a:solidFill>
              <a:schemeClr val="accent2">
                <a:alpha val="85000"/>
              </a:schemeClr>
            </a:solidFill>
            <a:prstDash val="solid"/>
          </a:ln>
        </p:spPr>
      </p:sp>
      <p:sp>
        <p:nvSpPr>
          <p:cNvPr id="5" name="Accent circle"/>
          <p:cNvSpPr/>
          <p:nvPr/>
        </p:nvSpPr>
        <p:spPr>
          <a:xfrm>
            <a:off x="10515600" y="5120640"/>
            <a:ext cx="2743200" cy="274320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SLIDE 1/6: RESULTS AND DISCUSSION-Objective 1</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Annual Electricity Consumption Trend</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Electricity demand entered a sustained higher-growth period after 2022.</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Future electricity procurement and electrical-infrastructure planning should account for the higher post-2022 demand level.</a:t>
            </a:r>
            <a:endParaRPr lang="en-US" sz="1300" dirty="0"/>
          </a:p>
        </p:txBody>
      </p:sp>
      <p:sp>
        <p:nvSpPr>
          <p:cNvPr id="14" name="Basis heading"/>
          <p:cNvSpPr txBox="1"/>
          <p:nvPr/>
        </p:nvSpPr>
        <p:spPr>
          <a:xfrm>
            <a:off x="841248" y="1965960"/>
            <a:ext cx="47365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120640" cy="853440"/>
          </a:xfrm>
          <a:prstGeom prst="roundRect">
            <a:avLst>
              <a:gd name="adj" fmla="val 8571"/>
            </a:avLst>
          </a:prstGeom>
          <a:solidFill>
            <a:schemeClr val="accent5"/>
          </a:solidFill>
          <a:ln w="12700">
            <a:solidFill>
              <a:schemeClr val="accent5"/>
            </a:solidFill>
            <a:prstDash val="solid"/>
          </a:ln>
        </p:spPr>
      </p:sp>
      <p:sp>
        <p:nvSpPr>
          <p:cNvPr id="18" name="Equations"/>
          <p:cNvSpPr txBox="1"/>
          <p:nvPr/>
        </p:nvSpPr>
        <p:spPr>
          <a:xfrm>
            <a:off x="640080" y="2350008"/>
            <a:ext cx="4754880" cy="85344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Annual change</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(E</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E</a:t>
            </a:r>
            <a:pPr indent="0" marL="0">
              <a:buNone/>
            </a:pPr>
            <a:r>
              <a:rPr lang="en-US" sz="1300" baseline="-40000" dirty="0">
                <a:solidFill>
                  <a:schemeClr val="tx2"/>
                </a:solidFill>
                <a:latin typeface="Cambria" pitchFamily="34" charset="0"/>
                <a:ea typeface="Cambria" pitchFamily="34" charset="-122"/>
                <a:cs typeface="Cambria" pitchFamily="34" charset="-120"/>
              </a:rPr>
              <a:t>t−1</a:t>
            </a:r>
            <a:pPr indent="0" marL="0">
              <a:buNone/>
            </a:pPr>
            <a:r>
              <a:rPr lang="en-US" sz="1300" dirty="0">
                <a:solidFill>
                  <a:schemeClr val="tx2"/>
                </a:solidFill>
                <a:latin typeface="Cambria" pitchFamily="34" charset="0"/>
                <a:ea typeface="Cambria" pitchFamily="34" charset="-122"/>
                <a:cs typeface="Cambria" pitchFamily="34" charset="-120"/>
              </a:rPr>
              <a:t>) / E</a:t>
            </a:r>
            <a:pPr indent="0" marL="0">
              <a:buNone/>
            </a:pPr>
            <a:r>
              <a:rPr lang="en-US" sz="1300" baseline="-40000" dirty="0">
                <a:solidFill>
                  <a:schemeClr val="tx2"/>
                </a:solidFill>
                <a:latin typeface="Cambria" pitchFamily="34" charset="0"/>
                <a:ea typeface="Cambria" pitchFamily="34" charset="-122"/>
                <a:cs typeface="Cambria" pitchFamily="34" charset="-120"/>
              </a:rPr>
              <a:t>t−1</a:t>
            </a:r>
            <a:pPr indent="0" marL="0">
              <a:buNone/>
            </a:pPr>
            <a:r>
              <a:rPr lang="en-US" sz="1300" dirty="0">
                <a:solidFill>
                  <a:schemeClr val="tx2"/>
                </a:solidFill>
                <a:latin typeface="Cambria" pitchFamily="34" charset="0"/>
                <a:ea typeface="Cambria" pitchFamily="34" charset="-122"/>
                <a:cs typeface="Cambria" pitchFamily="34" charset="-120"/>
              </a:rPr>
              <a:t> × 100%</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Compound Annual Growth Rate (CAGR) = [(E</a:t>
            </a:r>
            <a:pPr indent="0" marL="0">
              <a:buNone/>
            </a:pPr>
            <a:r>
              <a:rPr lang="en-US" sz="1300" baseline="-40000" dirty="0">
                <a:solidFill>
                  <a:schemeClr val="tx2"/>
                </a:solidFill>
                <a:latin typeface="Cambria" pitchFamily="34" charset="0"/>
                <a:ea typeface="Cambria" pitchFamily="34" charset="-122"/>
                <a:cs typeface="Cambria" pitchFamily="34" charset="-120"/>
              </a:rPr>
              <a:t>2025</a:t>
            </a:r>
            <a:pPr indent="0" marL="0">
              <a:buNone/>
            </a:pPr>
            <a:r>
              <a:rPr lang="en-US" sz="1300" dirty="0">
                <a:solidFill>
                  <a:schemeClr val="tx2"/>
                </a:solidFill>
                <a:latin typeface="Cambria" pitchFamily="34" charset="0"/>
                <a:ea typeface="Cambria" pitchFamily="34" charset="-122"/>
                <a:cs typeface="Cambria" pitchFamily="34" charset="-120"/>
              </a:rPr>
              <a:t> / E</a:t>
            </a:r>
            <a:pPr indent="0" marL="0">
              <a:buNone/>
            </a:pPr>
            <a:r>
              <a:rPr lang="en-US" sz="1300" baseline="-40000" dirty="0">
                <a:solidFill>
                  <a:schemeClr val="tx2"/>
                </a:solidFill>
                <a:latin typeface="Cambria" pitchFamily="34" charset="0"/>
                <a:ea typeface="Cambria" pitchFamily="34" charset="-122"/>
                <a:cs typeface="Cambria" pitchFamily="34" charset="-120"/>
              </a:rPr>
              <a:t>2015</a:t>
            </a:r>
            <a:pPr indent="0" marL="0">
              <a:buNone/>
            </a:pPr>
            <a:r>
              <a:rPr lang="en-US" sz="1300" dirty="0">
                <a:solidFill>
                  <a:schemeClr val="tx2"/>
                </a:solidFill>
                <a:latin typeface="Cambria" pitchFamily="34" charset="0"/>
                <a:ea typeface="Cambria" pitchFamily="34" charset="-122"/>
                <a:cs typeface="Cambria" pitchFamily="34" charset="-120"/>
              </a:rPr>
              <a:t>)</a:t>
            </a:r>
            <a:pPr indent="0" marL="0">
              <a:buNone/>
            </a:pPr>
            <a:r>
              <a:rPr lang="en-US" sz="1300" baseline="30000" dirty="0">
                <a:solidFill>
                  <a:schemeClr val="tx2"/>
                </a:solidFill>
                <a:latin typeface="Cambria" pitchFamily="34" charset="0"/>
                <a:ea typeface="Cambria" pitchFamily="34" charset="-122"/>
                <a:cs typeface="Cambria" pitchFamily="34" charset="-120"/>
              </a:rPr>
              <a:t>1/10</a:t>
            </a:r>
            <a:pPr indent="0" marL="0">
              <a:buNone/>
            </a:pPr>
            <a:r>
              <a:rPr lang="en-US" sz="1300" dirty="0">
                <a:solidFill>
                  <a:schemeClr val="tx2"/>
                </a:solidFill>
                <a:latin typeface="Cambria" pitchFamily="34" charset="0"/>
                <a:ea typeface="Cambria" pitchFamily="34" charset="-122"/>
                <a:cs typeface="Cambria" pitchFamily="34" charset="-120"/>
              </a:rPr>
              <a:t> − 1] × 100</a:t>
            </a:r>
            <a:endParaRPr lang="en-US" sz="1300" dirty="0"/>
          </a:p>
        </p:txBody>
      </p:sp>
      <p:pic>
        <p:nvPicPr>
          <p:cNvPr id="19" name="Figure image1.png" descr="Annual Electricity Consumption Trend figure">    </p:cNvPr>
          <p:cNvPicPr>
            <a:picLocks noChangeAspect="1"/>
          </p:cNvPicPr>
          <p:nvPr/>
        </p:nvPicPr>
        <p:blipFill>
          <a:blip r:embed="rId4"/>
          <a:stretch>
            <a:fillRect/>
          </a:stretch>
        </p:blipFill>
        <p:spPr>
          <a:xfrm>
            <a:off x="1176402" y="3340608"/>
            <a:ext cx="3682236" cy="2225040"/>
          </a:xfrm>
          <a:prstGeom prst="rect">
            <a:avLst/>
          </a:prstGeom>
        </p:spPr>
      </p:pic>
      <p:sp>
        <p:nvSpPr>
          <p:cNvPr id="20" name="Results card"/>
          <p:cNvSpPr/>
          <p:nvPr/>
        </p:nvSpPr>
        <p:spPr>
          <a:xfrm>
            <a:off x="5852160" y="1965960"/>
            <a:ext cx="5882335" cy="2185416"/>
          </a:xfrm>
          <a:prstGeom prst="roundRect">
            <a:avLst>
              <a:gd name="adj" fmla="val 3347"/>
            </a:avLst>
          </a:prstGeom>
          <a:solidFill>
            <a:schemeClr val="bg2"/>
          </a:solidFill>
          <a:ln w="12700">
            <a:solidFill>
              <a:schemeClr val="bg2"/>
            </a:solidFill>
            <a:prstDash val="solid"/>
          </a:ln>
        </p:spPr>
      </p:sp>
      <p:sp>
        <p:nvSpPr>
          <p:cNvPr id="21" name="results badge"/>
          <p:cNvSpPr/>
          <p:nvPr/>
        </p:nvSpPr>
        <p:spPr>
          <a:xfrm>
            <a:off x="60167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081126" y="2121774"/>
            <a:ext cx="163860" cy="163860"/>
          </a:xfrm>
          <a:prstGeom prst="rect">
            <a:avLst/>
          </a:prstGeom>
        </p:spPr>
      </p:pic>
      <p:sp>
        <p:nvSpPr>
          <p:cNvPr id="23" name="Results heading"/>
          <p:cNvSpPr txBox="1"/>
          <p:nvPr/>
        </p:nvSpPr>
        <p:spPr>
          <a:xfrm>
            <a:off x="64008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035040" y="2423160"/>
            <a:ext cx="5516575" cy="15849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Consumption increased from 10.641 GWh in 2015 to 15.085 GWh in 2025.</a:t>
            </a:r>
            <a:endParaRPr lang="en-US" sz="1300" dirty="0"/>
          </a:p>
          <a:p>
            <a:pPr marL="177800" indent="-177800">
              <a:spcAft>
                <a:spcPts val="400"/>
              </a:spcAft>
              <a:buSzPct val="100000"/>
              <a:buChar char="•"/>
            </a:pPr>
            <a:r>
              <a:rPr lang="en-US" sz="1300" dirty="0">
                <a:solidFill>
                  <a:schemeClr val="tx1"/>
                </a:solidFill>
              </a:rPr>
              <a:t>Overall increase: 41.8%.</a:t>
            </a:r>
            <a:endParaRPr lang="en-US" sz="1300" dirty="0"/>
          </a:p>
          <a:p>
            <a:pPr marL="177800" indent="-177800">
              <a:spcAft>
                <a:spcPts val="400"/>
              </a:spcAft>
              <a:buSzPct val="100000"/>
              <a:buChar char="•"/>
            </a:pPr>
            <a:r>
              <a:rPr lang="en-US" sz="1300" dirty="0">
                <a:solidFill>
                  <a:schemeClr val="tx1"/>
                </a:solidFill>
              </a:rPr>
              <a:t>CAGR: approximately 3.6%.</a:t>
            </a:r>
            <a:endParaRPr lang="en-US" sz="1300" dirty="0"/>
          </a:p>
          <a:p>
            <a:pPr marL="177800" indent="-177800">
              <a:spcAft>
                <a:spcPts val="400"/>
              </a:spcAft>
              <a:buSzPct val="100000"/>
              <a:buChar char="•"/>
            </a:pPr>
            <a:r>
              <a:rPr lang="en-US" sz="1300" dirty="0">
                <a:solidFill>
                  <a:schemeClr val="tx1"/>
                </a:solidFill>
              </a:rPr>
              <a:t>Largest decline: −20.00% in 2020.</a:t>
            </a:r>
            <a:endParaRPr lang="en-US" sz="1300" dirty="0"/>
          </a:p>
          <a:p>
            <a:pPr marL="177800" indent="-177800">
              <a:spcAft>
                <a:spcPts val="400"/>
              </a:spcAft>
              <a:buSzPct val="100000"/>
              <a:buChar char="•"/>
            </a:pPr>
            <a:r>
              <a:rPr lang="en-US" sz="1300" dirty="0">
                <a:solidFill>
                  <a:schemeClr val="tx1"/>
                </a:solidFill>
              </a:rPr>
              <a:t>Largest increase: 42.64% in 2023.</a:t>
            </a:r>
            <a:endParaRPr lang="en-US" sz="1300" dirty="0"/>
          </a:p>
          <a:p>
            <a:pPr marL="177800" indent="-177800">
              <a:spcAft>
                <a:spcPts val="400"/>
              </a:spcAft>
              <a:buSzPct val="100000"/>
              <a:buChar char="•"/>
            </a:pPr>
            <a:r>
              <a:rPr lang="en-US" sz="1300" dirty="0">
                <a:solidFill>
                  <a:schemeClr val="tx1"/>
                </a:solidFill>
              </a:rPr>
              <a:t>Consumption increased for three consecutive years from 2023 to 2025</a:t>
            </a:r>
            <a:endParaRPr lang="en-US" sz="1300" dirty="0"/>
          </a:p>
        </p:txBody>
      </p:sp>
      <p:sp>
        <p:nvSpPr>
          <p:cNvPr id="25" name="Discussion card"/>
          <p:cNvSpPr/>
          <p:nvPr/>
        </p:nvSpPr>
        <p:spPr>
          <a:xfrm>
            <a:off x="5852160" y="4288536"/>
            <a:ext cx="5882335" cy="1277112"/>
          </a:xfrm>
          <a:prstGeom prst="roundRect">
            <a:avLst>
              <a:gd name="adj" fmla="val 5728"/>
            </a:avLst>
          </a:prstGeom>
          <a:solidFill>
            <a:schemeClr val="accent6"/>
          </a:solidFill>
          <a:ln w="12700">
            <a:solidFill>
              <a:schemeClr val="accent6"/>
            </a:solidFill>
            <a:prstDash val="solid"/>
          </a:ln>
        </p:spPr>
      </p:sp>
      <p:sp>
        <p:nvSpPr>
          <p:cNvPr id="26" name="discussion badge"/>
          <p:cNvSpPr/>
          <p:nvPr/>
        </p:nvSpPr>
        <p:spPr>
          <a:xfrm>
            <a:off x="6016752" y="437997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081126" y="4444350"/>
            <a:ext cx="163860" cy="163860"/>
          </a:xfrm>
          <a:prstGeom prst="rect">
            <a:avLst/>
          </a:prstGeom>
        </p:spPr>
      </p:pic>
      <p:sp>
        <p:nvSpPr>
          <p:cNvPr id="28" name="Discussion heading"/>
          <p:cNvSpPr txBox="1"/>
          <p:nvPr/>
        </p:nvSpPr>
        <p:spPr>
          <a:xfrm>
            <a:off x="6400800" y="437997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035040" y="4745736"/>
            <a:ext cx="5516575" cy="746760"/>
          </a:xfrm>
          <a:prstGeom prst="rect">
            <a:avLst/>
          </a:prstGeom>
          <a:noFill/>
          <a:ln/>
        </p:spPr>
        <p:txBody>
          <a:bodyPr wrap="square" lIns="0" tIns="0" rIns="0" bIns="0" rtlCol="0" anchor="t"/>
          <a:lstStyle/>
          <a:p>
            <a:pPr indent="0" marL="0">
              <a:buNone/>
            </a:pPr>
            <a:r>
              <a:rPr lang="en-US" sz="1300" dirty="0">
                <a:solidFill>
                  <a:schemeClr val="tx1"/>
                </a:solidFill>
              </a:rPr>
              <a:t>Demand was relatively stable before 2020, declined during 2020–2022 and then recovered strongly. The consecutive increases after 2022 indicate a sustained shift to a higher electricity-demand leve.</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SLIDE 2/6: RESULTS AND DISCUSSION-Objective 1 contnd.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Monthly and Period Demand Characteristics</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Monthly observations confirm that the post-2022 recovery was sustained.</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Monthly observations were appropriate for examining temporal dependence and developing the forecasting models under Objective Two.</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807720"/>
          </a:xfrm>
          <a:prstGeom prst="roundRect">
            <a:avLst>
              <a:gd name="adj" fmla="val 9057"/>
            </a:avLst>
          </a:prstGeom>
          <a:solidFill>
            <a:schemeClr val="accent5"/>
          </a:solidFill>
          <a:ln w="12700">
            <a:solidFill>
              <a:schemeClr val="accent5"/>
            </a:solidFill>
            <a:prstDash val="solid"/>
          </a:ln>
        </p:spPr>
      </p:sp>
      <p:sp>
        <p:nvSpPr>
          <p:cNvPr id="18" name="Equations"/>
          <p:cNvSpPr txBox="1"/>
          <p:nvPr/>
        </p:nvSpPr>
        <p:spPr>
          <a:xfrm>
            <a:off x="640080" y="2350008"/>
            <a:ext cx="5440680" cy="8077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E</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 Σ</a:t>
            </a:r>
            <a:pPr indent="0" marL="0">
              <a:buNone/>
            </a:pPr>
            <a:r>
              <a:rPr lang="en-US" sz="1300" baseline="-40000" dirty="0">
                <a:solidFill>
                  <a:schemeClr val="tx2"/>
                </a:solidFill>
                <a:latin typeface="Cambria" pitchFamily="34" charset="0"/>
                <a:ea typeface="Cambria" pitchFamily="34" charset="-122"/>
                <a:cs typeface="Cambria" pitchFamily="34" charset="-120"/>
              </a:rPr>
              <a:t>m=1</a:t>
            </a:r>
            <a:pPr indent="0" marL="0">
              <a:buNone/>
            </a:pPr>
            <a:r>
              <a:rPr lang="en-US" sz="1300" baseline="30000" dirty="0">
                <a:solidFill>
                  <a:schemeClr val="tx2"/>
                </a:solidFill>
                <a:latin typeface="Cambria" pitchFamily="34" charset="0"/>
                <a:ea typeface="Cambria" pitchFamily="34" charset="-122"/>
                <a:cs typeface="Cambria" pitchFamily="34" charset="-120"/>
              </a:rPr>
              <a:t>12</a:t>
            </a:r>
            <a:pPr indent="0" marL="0">
              <a:buNone/>
            </a:pPr>
            <a:r>
              <a:rPr lang="en-US" sz="1300" dirty="0">
                <a:solidFill>
                  <a:schemeClr val="tx2"/>
                </a:solidFill>
                <a:latin typeface="Cambria" pitchFamily="34" charset="0"/>
                <a:ea typeface="Cambria" pitchFamily="34" charset="-122"/>
                <a:cs typeface="Cambria" pitchFamily="34" charset="-120"/>
              </a:rPr>
              <a:t> E</a:t>
            </a:r>
            <a:pPr indent="0" marL="0">
              <a:buNone/>
            </a:pPr>
            <a:r>
              <a:rPr lang="en-US" sz="1300" baseline="-40000" dirty="0">
                <a:solidFill>
                  <a:schemeClr val="tx2"/>
                </a:solidFill>
                <a:latin typeface="Cambria" pitchFamily="34" charset="0"/>
                <a:ea typeface="Cambria" pitchFamily="34" charset="-122"/>
                <a:cs typeface="Cambria" pitchFamily="34" charset="-120"/>
              </a:rPr>
              <a:t>y,m</a:t>
            </a:r>
            <a:pPr indent="0" marL="0">
              <a:buNone/>
            </a:pPr>
            <a:r>
              <a:rPr lang="en-US" sz="1300" dirty="0">
                <a:solidFill>
                  <a:schemeClr val="tx2"/>
                </a:solidFill>
                <a:latin typeface="Cambria" pitchFamily="34" charset="0"/>
                <a:ea typeface="Cambria" pitchFamily="34" charset="-122"/>
                <a:cs typeface="Cambria" pitchFamily="34" charset="-120"/>
              </a:rPr>
              <a:t>        I</a:t>
            </a:r>
            <a:pPr indent="0" marL="0">
              <a:buNone/>
            </a:pPr>
            <a:r>
              <a:rPr lang="en-US" sz="1300" baseline="-40000" dirty="0">
                <a:solidFill>
                  <a:schemeClr val="tx2"/>
                </a:solidFill>
                <a:latin typeface="Cambria" pitchFamily="34" charset="0"/>
                <a:ea typeface="Cambria" pitchFamily="34" charset="-122"/>
                <a:cs typeface="Cambria" pitchFamily="34" charset="-120"/>
              </a:rPr>
              <a:t>y,m</a:t>
            </a:r>
            <a:pPr indent="0" marL="0">
              <a:buNone/>
            </a:pPr>
            <a:r>
              <a:rPr lang="en-US" sz="1300" dirty="0">
                <a:solidFill>
                  <a:schemeClr val="tx2"/>
                </a:solidFill>
                <a:latin typeface="Cambria" pitchFamily="34" charset="0"/>
                <a:ea typeface="Cambria" pitchFamily="34" charset="-122"/>
                <a:cs typeface="Cambria" pitchFamily="34" charset="-120"/>
              </a:rPr>
              <a:t> = E</a:t>
            </a:r>
            <a:pPr indent="0" marL="0">
              <a:buNone/>
            </a:pPr>
            <a:r>
              <a:rPr lang="en-US" sz="1300" baseline="-40000" dirty="0">
                <a:solidFill>
                  <a:schemeClr val="tx2"/>
                </a:solidFill>
                <a:latin typeface="Cambria" pitchFamily="34" charset="0"/>
                <a:ea typeface="Cambria" pitchFamily="34" charset="-122"/>
                <a:cs typeface="Cambria" pitchFamily="34" charset="-120"/>
              </a:rPr>
              <a:t>y,m</a:t>
            </a:r>
            <a:pPr indent="0" marL="0">
              <a:buNone/>
            </a:pPr>
            <a:r>
              <a:rPr lang="en-US" sz="1300" dirty="0">
                <a:solidFill>
                  <a:schemeClr val="tx2"/>
                </a:solidFill>
                <a:latin typeface="Cambria" pitchFamily="34" charset="0"/>
                <a:ea typeface="Cambria" pitchFamily="34" charset="-122"/>
                <a:cs typeface="Cambria" pitchFamily="34" charset="-120"/>
              </a:rPr>
              <a:t> / Ē</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 100</a:t>
            </a:r>
            <a:endParaRPr lang="en-US" sz="1300" dirty="0"/>
          </a:p>
          <a:p>
            <a:pPr indent="0" marL="0">
              <a:spcAft>
                <a:spcPts val="300"/>
              </a:spcAft>
              <a:buNone/>
            </a:pPr>
            <a:r>
              <a:rPr lang="en-US" sz="1150" i="1" dirty="0">
                <a:solidFill>
                  <a:schemeClr val="accent4"/>
                </a:solidFill>
              </a:rPr>
              <a:t>Where E</a:t>
            </a:r>
            <a:pPr indent="0" marL="0">
              <a:buNone/>
            </a:pPr>
            <a:r>
              <a:rPr lang="en-US" sz="1150" i="1" baseline="-40000" dirty="0">
                <a:solidFill>
                  <a:schemeClr val="accent4"/>
                </a:solidFill>
              </a:rPr>
              <a:t>y,m</a:t>
            </a:r>
            <a:pPr indent="0" marL="0">
              <a:buNone/>
            </a:pPr>
            <a:r>
              <a:rPr lang="en-US" sz="1150" i="1" dirty="0">
                <a:solidFill>
                  <a:schemeClr val="accent4"/>
                </a:solidFill>
              </a:rPr>
              <a:t> is monthly electricity consumption and Ē</a:t>
            </a:r>
            <a:pPr indent="0" marL="0">
              <a:buNone/>
            </a:pPr>
            <a:r>
              <a:rPr lang="en-US" sz="1150" i="1" baseline="-40000" dirty="0">
                <a:solidFill>
                  <a:schemeClr val="accent4"/>
                </a:solidFill>
              </a:rPr>
              <a:t>y</a:t>
            </a:r>
            <a:pPr indent="0" marL="0">
              <a:buNone/>
            </a:pPr>
            <a:r>
              <a:rPr lang="en-US" sz="1150" i="1" dirty="0">
                <a:solidFill>
                  <a:schemeClr val="accent4"/>
                </a:solidFill>
              </a:rPr>
              <a:t> is the average monthly consumption in year (y).</a:t>
            </a:r>
            <a:endParaRPr lang="en-US" sz="1300" dirty="0"/>
          </a:p>
        </p:txBody>
      </p:sp>
      <p:pic>
        <p:nvPicPr>
          <p:cNvPr id="19" name="Figure image2.png" descr="Monthly and Period Demand Characteristics figure">    </p:cNvPr>
          <p:cNvPicPr>
            <a:picLocks noChangeAspect="1"/>
          </p:cNvPicPr>
          <p:nvPr/>
        </p:nvPicPr>
        <p:blipFill>
          <a:blip r:embed="rId4"/>
          <a:stretch>
            <a:fillRect/>
          </a:stretch>
        </p:blipFill>
        <p:spPr>
          <a:xfrm>
            <a:off x="1217952" y="3294888"/>
            <a:ext cx="4284937" cy="2270760"/>
          </a:xfrm>
          <a:prstGeom prst="rect">
            <a:avLst/>
          </a:prstGeom>
        </p:spPr>
      </p:pic>
      <p:sp>
        <p:nvSpPr>
          <p:cNvPr id="20" name="Results card"/>
          <p:cNvSpPr/>
          <p:nvPr/>
        </p:nvSpPr>
        <p:spPr>
          <a:xfrm>
            <a:off x="6537960" y="1965960"/>
            <a:ext cx="5196535" cy="2236216"/>
          </a:xfrm>
          <a:prstGeom prst="roundRect">
            <a:avLst>
              <a:gd name="adj" fmla="val 3271"/>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4" name="Results table 1"/>
          <p:cNvGraphicFramePr>
            <a:graphicFrameLocks noGrp="1"/>
          </p:cNvGraphicFramePr>
          <p:nvPr>
            <p:extLst>
              <p:ext uri="{D42A27DB-BD31-4B8C-83A1-F6EECF244321}">
                <p14:modId xmlns:p14="http://schemas.microsoft.com/office/powerpoint/2010/main" val="1579011935"/>
              </p:ext>
            </p:extLst>
          </p:nvPr>
        </p:nvGraphicFramePr>
        <p:xfrm>
          <a:off x="6720840" y="2423160"/>
          <a:ext cx="4830775" cy="914400"/>
        </p:xfrm>
        <a:graphic>
          <a:graphicData uri="http://schemas.openxmlformats.org/drawingml/2006/table">
            <a:tbl>
              <a:tblPr/>
              <a:tblGrid>
                <a:gridCol w="1413885"/>
                <a:gridCol w="3416890"/>
              </a:tblGrid>
              <a:tr h="0">
                <a:tc>
                  <a:txBody>
                    <a:bodyPr/>
                    <a:lstStyle/>
                    <a:p>
                      <a:pPr algn="l" indent="0" marL="0">
                        <a:buNone/>
                      </a:pPr>
                      <a:r>
                        <a:rPr lang="en-US" sz="1200" b="1" dirty="0">
                          <a:solidFill>
                            <a:schemeClr val="bg1"/>
                          </a:solidFill>
                        </a:rPr>
                        <a:t>Period</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Average annual consumption</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00" dirty="0">
                          <a:solidFill>
                            <a:schemeClr val="tx1"/>
                          </a:solidFill>
                        </a:rPr>
                        <a:t>2015–2019</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10.771 GWh/year</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2020–2022</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8.846 GWh/year</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200" dirty="0">
                          <a:solidFill>
                            <a:schemeClr val="tx1"/>
                          </a:solidFill>
                        </a:rPr>
                        <a:t>2023–2025</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13.462 GWh/year</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bl>
          </a:graphicData>
        </a:graphic>
      </p:graphicFrame>
      <p:sp>
        <p:nvSpPr>
          <p:cNvPr id="25" name="Results list 1"/>
          <p:cNvSpPr txBox="1"/>
          <p:nvPr/>
        </p:nvSpPr>
        <p:spPr>
          <a:xfrm>
            <a:off x="6720840" y="3520440"/>
            <a:ext cx="4830775" cy="589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The 2023–2025 average was the highest of the three periods.</a:t>
            </a:r>
            <a:endParaRPr lang="en-US" sz="1300" dirty="0"/>
          </a:p>
          <a:p>
            <a:pPr marL="177800" indent="-177800">
              <a:spcAft>
                <a:spcPts val="400"/>
              </a:spcAft>
              <a:buSzPct val="100000"/>
              <a:buChar char="•"/>
            </a:pPr>
            <a:r>
              <a:rPr lang="en-US" sz="1300" dirty="0">
                <a:solidFill>
                  <a:schemeClr val="tx1"/>
                </a:solidFill>
              </a:rPr>
              <a:t>Annual consumption increased continuously after 2022.</a:t>
            </a:r>
            <a:endParaRPr lang="en-US" sz="1300" dirty="0"/>
          </a:p>
        </p:txBody>
      </p:sp>
      <p:sp>
        <p:nvSpPr>
          <p:cNvPr id="26" name="Discussion card"/>
          <p:cNvSpPr/>
          <p:nvPr/>
        </p:nvSpPr>
        <p:spPr>
          <a:xfrm>
            <a:off x="6537960" y="4339336"/>
            <a:ext cx="5196535" cy="1226312"/>
          </a:xfrm>
          <a:prstGeom prst="roundRect">
            <a:avLst>
              <a:gd name="adj" fmla="val 5965"/>
            </a:avLst>
          </a:prstGeom>
          <a:solidFill>
            <a:schemeClr val="accent6"/>
          </a:solidFill>
          <a:ln w="12700">
            <a:solidFill>
              <a:schemeClr val="accent6"/>
            </a:solidFill>
            <a:prstDash val="solid"/>
          </a:ln>
        </p:spPr>
      </p:sp>
      <p:sp>
        <p:nvSpPr>
          <p:cNvPr id="27" name="discussion badge"/>
          <p:cNvSpPr/>
          <p:nvPr/>
        </p:nvSpPr>
        <p:spPr>
          <a:xfrm>
            <a:off x="6702552" y="4430776"/>
            <a:ext cx="292608" cy="292608"/>
          </a:xfrm>
          <a:prstGeom prst="ellipse">
            <a:avLst/>
          </a:prstGeom>
          <a:solidFill>
            <a:schemeClr val="accent2"/>
          </a:solidFill>
          <a:ln w="12700">
            <a:solidFill>
              <a:schemeClr val="accent2"/>
            </a:solidFill>
            <a:prstDash val="solid"/>
          </a:ln>
        </p:spPr>
      </p:sp>
      <p:pic>
        <p:nvPicPr>
          <p:cNvPr id="28" name="discussion icon" descr="preencoded.png">    </p:cNvPr>
          <p:cNvPicPr>
            <a:picLocks noChangeAspect="1"/>
          </p:cNvPicPr>
          <p:nvPr/>
        </p:nvPicPr>
        <p:blipFill>
          <a:blip r:embed="rId6"/>
          <a:stretch>
            <a:fillRect/>
          </a:stretch>
        </p:blipFill>
        <p:spPr>
          <a:xfrm>
            <a:off x="6766926" y="4495150"/>
            <a:ext cx="163860" cy="163860"/>
          </a:xfrm>
          <a:prstGeom prst="rect">
            <a:avLst/>
          </a:prstGeom>
        </p:spPr>
      </p:pic>
      <p:sp>
        <p:nvSpPr>
          <p:cNvPr id="29" name="Discussion heading"/>
          <p:cNvSpPr txBox="1"/>
          <p:nvPr/>
        </p:nvSpPr>
        <p:spPr>
          <a:xfrm>
            <a:off x="7086600" y="443077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30" name="Discussion text"/>
          <p:cNvSpPr txBox="1"/>
          <p:nvPr/>
        </p:nvSpPr>
        <p:spPr>
          <a:xfrm>
            <a:off x="6720840" y="4796536"/>
            <a:ext cx="4830775" cy="695960"/>
          </a:xfrm>
          <a:prstGeom prst="rect">
            <a:avLst/>
          </a:prstGeom>
          <a:noFill/>
          <a:ln/>
        </p:spPr>
        <p:txBody>
          <a:bodyPr wrap="square" lIns="0" tIns="0" rIns="0" bIns="0" rtlCol="0" anchor="t"/>
          <a:lstStyle/>
          <a:p>
            <a:pPr indent="0" marL="0">
              <a:buNone/>
            </a:pPr>
            <a:r>
              <a:rPr lang="en-US" sz="1300" dirty="0">
                <a:solidFill>
                  <a:schemeClr val="tx1"/>
                </a:solidFill>
              </a:rPr>
              <a:t>The increase after 2022 was reflected across several monthly observations rather than one isolated annual value, indicating a sustained change in the airport’s demand level.</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SLIDE 3/6: RESULTS AND DISCUSSION-Objective 1 contnd.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Historical Maximum-Demand Trend</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Maximum demand increased faster than annual electricity consumption.</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result has implications for transformer capacity, switchgear ratings, protection coordination and peak-demand management..</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655320"/>
          </a:xfrm>
          <a:prstGeom prst="roundRect">
            <a:avLst>
              <a:gd name="adj" fmla="val 11163"/>
            </a:avLst>
          </a:prstGeom>
          <a:solidFill>
            <a:schemeClr val="accent5"/>
          </a:solidFill>
          <a:ln w="12700">
            <a:solidFill>
              <a:schemeClr val="accent5"/>
            </a:solidFill>
            <a:prstDash val="solid"/>
          </a:ln>
        </p:spPr>
      </p:sp>
      <p:sp>
        <p:nvSpPr>
          <p:cNvPr id="18" name="Equations"/>
          <p:cNvSpPr txBox="1"/>
          <p:nvPr/>
        </p:nvSpPr>
        <p:spPr>
          <a:xfrm>
            <a:off x="640080" y="2350008"/>
            <a:ext cx="5440680" cy="6553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peak growth = (MD</a:t>
            </a:r>
            <a:pPr indent="0" marL="0">
              <a:buNone/>
            </a:pPr>
            <a:r>
              <a:rPr lang="en-US" sz="1300" baseline="-40000" dirty="0">
                <a:solidFill>
                  <a:schemeClr val="tx2"/>
                </a:solidFill>
                <a:latin typeface="Cambria" pitchFamily="34" charset="0"/>
                <a:ea typeface="Cambria" pitchFamily="34" charset="-122"/>
                <a:cs typeface="Cambria" pitchFamily="34" charset="-120"/>
              </a:rPr>
              <a:t>2025</a:t>
            </a:r>
            <a:pPr indent="0" marL="0">
              <a:buNone/>
            </a:pPr>
            <a:r>
              <a:rPr lang="en-US" sz="1300" dirty="0">
                <a:solidFill>
                  <a:schemeClr val="tx2"/>
                </a:solidFill>
                <a:latin typeface="Cambria" pitchFamily="34" charset="0"/>
                <a:ea typeface="Cambria" pitchFamily="34" charset="-122"/>
                <a:cs typeface="Cambria" pitchFamily="34" charset="-120"/>
              </a:rPr>
              <a:t> − MD</a:t>
            </a:r>
            <a:pPr indent="0" marL="0">
              <a:buNone/>
            </a:pPr>
            <a:r>
              <a:rPr lang="en-US" sz="1300" baseline="-40000" dirty="0">
                <a:solidFill>
                  <a:schemeClr val="tx2"/>
                </a:solidFill>
                <a:latin typeface="Cambria" pitchFamily="34" charset="0"/>
                <a:ea typeface="Cambria" pitchFamily="34" charset="-122"/>
                <a:cs typeface="Cambria" pitchFamily="34" charset="-120"/>
              </a:rPr>
              <a:t>2015</a:t>
            </a:r>
            <a:pPr indent="0" marL="0">
              <a:buNone/>
            </a:pPr>
            <a:r>
              <a:rPr lang="en-US" sz="1300" dirty="0">
                <a:solidFill>
                  <a:schemeClr val="tx2"/>
                </a:solidFill>
                <a:latin typeface="Cambria" pitchFamily="34" charset="0"/>
                <a:ea typeface="Cambria" pitchFamily="34" charset="-122"/>
                <a:cs typeface="Cambria" pitchFamily="34" charset="-120"/>
              </a:rPr>
              <a:t>) / MD</a:t>
            </a:r>
            <a:pPr indent="0" marL="0">
              <a:buNone/>
            </a:pPr>
            <a:r>
              <a:rPr lang="en-US" sz="1300" baseline="-40000" dirty="0">
                <a:solidFill>
                  <a:schemeClr val="tx2"/>
                </a:solidFill>
                <a:latin typeface="Cambria" pitchFamily="34" charset="0"/>
                <a:ea typeface="Cambria" pitchFamily="34" charset="-122"/>
                <a:cs typeface="Cambria" pitchFamily="34" charset="-120"/>
              </a:rPr>
              <a:t>2015</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Load factor (LF) = Annual Energy / (8760 × MD) × 100</a:t>
            </a:r>
            <a:endParaRPr lang="en-US" sz="1300" dirty="0"/>
          </a:p>
        </p:txBody>
      </p:sp>
      <p:pic>
        <p:nvPicPr>
          <p:cNvPr id="19" name="Figure image3.png" descr="Historical Maximum-Demand Trend figure">    </p:cNvPr>
          <p:cNvPicPr>
            <a:picLocks noChangeAspect="1"/>
          </p:cNvPicPr>
          <p:nvPr/>
        </p:nvPicPr>
        <p:blipFill>
          <a:blip r:embed="rId4"/>
          <a:stretch>
            <a:fillRect/>
          </a:stretch>
        </p:blipFill>
        <p:spPr>
          <a:xfrm>
            <a:off x="1076552" y="3142488"/>
            <a:ext cx="4567735" cy="2423160"/>
          </a:xfrm>
          <a:prstGeom prst="rect">
            <a:avLst/>
          </a:prstGeom>
        </p:spPr>
      </p:pic>
      <p:sp>
        <p:nvSpPr>
          <p:cNvPr id="20" name="Results card"/>
          <p:cNvSpPr/>
          <p:nvPr/>
        </p:nvSpPr>
        <p:spPr>
          <a:xfrm>
            <a:off x="6537960" y="1965960"/>
            <a:ext cx="5196535" cy="2182876"/>
          </a:xfrm>
          <a:prstGeom prst="roundRect">
            <a:avLst>
              <a:gd name="adj" fmla="val 3351"/>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1625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Maximum demand increased from 1,738 kW in 2015 to 2,937 kW in 2025.</a:t>
            </a:r>
            <a:endParaRPr lang="en-US" sz="1400" dirty="0"/>
          </a:p>
          <a:p>
            <a:pPr marL="177800" indent="-177800">
              <a:spcAft>
                <a:spcPts val="400"/>
              </a:spcAft>
              <a:buSzPct val="100000"/>
              <a:buChar char="•"/>
            </a:pPr>
            <a:r>
              <a:rPr lang="en-US" sz="1400" dirty="0">
                <a:solidFill>
                  <a:schemeClr val="tx1"/>
                </a:solidFill>
              </a:rPr>
              <a:t>Overall peak-demand increase: 69.0%.</a:t>
            </a:r>
            <a:endParaRPr lang="en-US" sz="1400" dirty="0"/>
          </a:p>
          <a:p>
            <a:pPr marL="177800" indent="-177800">
              <a:spcAft>
                <a:spcPts val="400"/>
              </a:spcAft>
              <a:buSzPct val="100000"/>
              <a:buChar char="•"/>
            </a:pPr>
            <a:r>
              <a:rPr lang="en-US" sz="1400" dirty="0">
                <a:solidFill>
                  <a:schemeClr val="tx1"/>
                </a:solidFill>
              </a:rPr>
              <a:t>Increase between 2024 and 2025: 37.2%.</a:t>
            </a:r>
            <a:endParaRPr lang="en-US" sz="1400" dirty="0"/>
          </a:p>
          <a:p>
            <a:pPr marL="177800" indent="-177800">
              <a:spcAft>
                <a:spcPts val="400"/>
              </a:spcAft>
              <a:buSzPct val="100000"/>
              <a:buChar char="•"/>
            </a:pPr>
            <a:r>
              <a:rPr lang="en-US" sz="1400" dirty="0">
                <a:solidFill>
                  <a:schemeClr val="tx1"/>
                </a:solidFill>
              </a:rPr>
              <a:t>Annual energy increased by 41.8% between 2015 and 2025.</a:t>
            </a:r>
            <a:endParaRPr lang="en-US" sz="1400" dirty="0"/>
          </a:p>
          <a:p>
            <a:pPr marL="177800" indent="-177800">
              <a:spcAft>
                <a:spcPts val="400"/>
              </a:spcAft>
              <a:buSzPct val="100000"/>
              <a:buChar char="•"/>
            </a:pPr>
            <a:r>
              <a:rPr lang="en-US" sz="1400" dirty="0">
                <a:solidFill>
                  <a:schemeClr val="tx1"/>
                </a:solidFill>
              </a:rPr>
              <a:t>Approximate load factor declined from 69.9% to 58.7%.</a:t>
            </a:r>
            <a:endParaRPr lang="en-US" sz="1400" dirty="0"/>
          </a:p>
        </p:txBody>
      </p:sp>
      <p:sp>
        <p:nvSpPr>
          <p:cNvPr id="25" name="Discussion card"/>
          <p:cNvSpPr/>
          <p:nvPr/>
        </p:nvSpPr>
        <p:spPr>
          <a:xfrm>
            <a:off x="6537960" y="4285996"/>
            <a:ext cx="5196535" cy="1279652"/>
          </a:xfrm>
          <a:prstGeom prst="roundRect">
            <a:avLst>
              <a:gd name="adj" fmla="val 5717"/>
            </a:avLst>
          </a:prstGeom>
          <a:solidFill>
            <a:schemeClr val="accent6"/>
          </a:solidFill>
          <a:ln w="12700">
            <a:solidFill>
              <a:schemeClr val="accent6"/>
            </a:solidFill>
            <a:prstDash val="solid"/>
          </a:ln>
        </p:spPr>
      </p:sp>
      <p:sp>
        <p:nvSpPr>
          <p:cNvPr id="26" name="discussion badge"/>
          <p:cNvSpPr/>
          <p:nvPr/>
        </p:nvSpPr>
        <p:spPr>
          <a:xfrm>
            <a:off x="6702552" y="437743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441810"/>
            <a:ext cx="163860" cy="163860"/>
          </a:xfrm>
          <a:prstGeom prst="rect">
            <a:avLst/>
          </a:prstGeom>
        </p:spPr>
      </p:pic>
      <p:sp>
        <p:nvSpPr>
          <p:cNvPr id="28" name="Discussion heading"/>
          <p:cNvSpPr txBox="1"/>
          <p:nvPr/>
        </p:nvSpPr>
        <p:spPr>
          <a:xfrm>
            <a:off x="7086600" y="437743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743196"/>
            <a:ext cx="4830775" cy="749300"/>
          </a:xfrm>
          <a:prstGeom prst="rect">
            <a:avLst/>
          </a:prstGeom>
          <a:noFill/>
          <a:ln/>
        </p:spPr>
        <p:txBody>
          <a:bodyPr wrap="square" lIns="0" tIns="0" rIns="0" bIns="0" rtlCol="0" anchor="t"/>
          <a:lstStyle/>
          <a:p>
            <a:pPr indent="0" marL="0">
              <a:buNone/>
            </a:pPr>
            <a:r>
              <a:rPr lang="en-US" sz="1400" dirty="0">
                <a:solidFill>
                  <a:schemeClr val="tx1"/>
                </a:solidFill>
              </a:rPr>
              <a:t>Maximum demand increased more strongly than annual energy, while load factor declined. This indicates increasingly pronounced peak loading relative to average demand.</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SLIDE 4/6: RESULTS AND DISCUSSION-Objective 1 contnd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Grid-Reliability Performance</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Grid reliability improved, but outages still required standby supply.</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Standby generators and UPS systems remained necessary for critical loads and operational continuity.</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655320"/>
          </a:xfrm>
          <a:prstGeom prst="roundRect">
            <a:avLst>
              <a:gd name="adj" fmla="val 11163"/>
            </a:avLst>
          </a:prstGeom>
          <a:solidFill>
            <a:schemeClr val="accent5"/>
          </a:solidFill>
          <a:ln w="12700">
            <a:solidFill>
              <a:schemeClr val="accent5"/>
            </a:solidFill>
            <a:prstDash val="solid"/>
          </a:ln>
        </p:spPr>
      </p:sp>
      <p:sp>
        <p:nvSpPr>
          <p:cNvPr id="18" name="Equations"/>
          <p:cNvSpPr txBox="1"/>
          <p:nvPr/>
        </p:nvSpPr>
        <p:spPr>
          <a:xfrm>
            <a:off x="640080" y="2350008"/>
            <a:ext cx="5440680" cy="6553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Grid availability</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(A</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 100(8760 − H</a:t>
            </a:r>
            <a:pPr indent="0" marL="0">
              <a:buNone/>
            </a:pPr>
            <a:r>
              <a:rPr lang="en-US" sz="1300" baseline="-40000" dirty="0">
                <a:solidFill>
                  <a:schemeClr val="tx2"/>
                </a:solidFill>
                <a:latin typeface="Cambria" pitchFamily="34" charset="0"/>
                <a:ea typeface="Cambria" pitchFamily="34" charset="-122"/>
                <a:cs typeface="Cambria" pitchFamily="34" charset="-120"/>
              </a:rPr>
              <a:t>Out,y</a:t>
            </a:r>
            <a:pPr indent="0" marL="0">
              <a:buNone/>
            </a:pPr>
            <a:r>
              <a:rPr lang="en-US" sz="1300" dirty="0">
                <a:solidFill>
                  <a:schemeClr val="tx2"/>
                </a:solidFill>
                <a:latin typeface="Cambria" pitchFamily="34" charset="0"/>
                <a:ea typeface="Cambria" pitchFamily="34" charset="-122"/>
                <a:cs typeface="Cambria" pitchFamily="34" charset="-120"/>
              </a:rPr>
              <a:t>) / 8760</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D̄</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 Average intruption duration index = H</a:t>
            </a:r>
            <a:pPr indent="0" marL="0">
              <a:buNone/>
            </a:pPr>
            <a:r>
              <a:rPr lang="en-US" sz="1300" baseline="-40000" dirty="0">
                <a:solidFill>
                  <a:schemeClr val="tx2"/>
                </a:solidFill>
                <a:latin typeface="Cambria" pitchFamily="34" charset="0"/>
                <a:ea typeface="Cambria" pitchFamily="34" charset="-122"/>
                <a:cs typeface="Cambria" pitchFamily="34" charset="-120"/>
              </a:rPr>
              <a:t>out,y</a:t>
            </a:r>
            <a:pPr indent="0" marL="0">
              <a:buNone/>
            </a:pPr>
            <a:r>
              <a:rPr lang="en-US" sz="1300" dirty="0">
                <a:solidFill>
                  <a:schemeClr val="tx2"/>
                </a:solidFill>
                <a:latin typeface="Cambria" pitchFamily="34" charset="0"/>
                <a:ea typeface="Cambria" pitchFamily="34" charset="-122"/>
                <a:cs typeface="Cambria" pitchFamily="34" charset="-120"/>
              </a:rPr>
              <a:t> / N</a:t>
            </a:r>
            <a:pPr indent="0" marL="0">
              <a:buNone/>
            </a:pPr>
            <a:r>
              <a:rPr lang="en-US" sz="1300" baseline="-40000" dirty="0">
                <a:solidFill>
                  <a:schemeClr val="tx2"/>
                </a:solidFill>
                <a:latin typeface="Cambria" pitchFamily="34" charset="0"/>
                <a:ea typeface="Cambria" pitchFamily="34" charset="-122"/>
                <a:cs typeface="Cambria" pitchFamily="34" charset="-120"/>
              </a:rPr>
              <a:t>out,y</a:t>
            </a:r>
            <a:pPr indent="0" marL="0">
              <a:buNone/>
            </a:pPr>
            <a:r>
              <a:rPr lang="en-US" sz="1300" dirty="0">
                <a:solidFill>
                  <a:schemeClr val="tx2"/>
                </a:solidFill>
                <a:latin typeface="Cambria" pitchFamily="34" charset="0"/>
                <a:ea typeface="Cambria" pitchFamily="34" charset="-122"/>
                <a:cs typeface="Cambria" pitchFamily="34" charset="-120"/>
              </a:rPr>
              <a:t> × 100</a:t>
            </a:r>
            <a:endParaRPr lang="en-US" sz="1300" dirty="0"/>
          </a:p>
        </p:txBody>
      </p:sp>
      <p:pic>
        <p:nvPicPr>
          <p:cNvPr id="19" name="Figure image4.png" descr="Grid-Reliability Performance figure">    </p:cNvPr>
          <p:cNvPicPr>
            <a:picLocks noChangeAspect="1"/>
          </p:cNvPicPr>
          <p:nvPr/>
        </p:nvPicPr>
        <p:blipFill>
          <a:blip r:embed="rId4"/>
          <a:stretch>
            <a:fillRect/>
          </a:stretch>
        </p:blipFill>
        <p:spPr>
          <a:xfrm>
            <a:off x="1011364" y="3142488"/>
            <a:ext cx="4698111" cy="2490216"/>
          </a:xfrm>
          <a:prstGeom prst="rect">
            <a:avLst/>
          </a:prstGeom>
        </p:spPr>
      </p:pic>
      <p:sp>
        <p:nvSpPr>
          <p:cNvPr id="20" name="Results card"/>
          <p:cNvSpPr/>
          <p:nvPr/>
        </p:nvSpPr>
        <p:spPr>
          <a:xfrm>
            <a:off x="6537960" y="1965960"/>
            <a:ext cx="5196535" cy="2159508"/>
          </a:xfrm>
          <a:prstGeom prst="roundRect">
            <a:avLst>
              <a:gd name="adj" fmla="val 3387"/>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6" name="Results table 1"/>
          <p:cNvGraphicFramePr>
            <a:graphicFrameLocks noGrp="1"/>
          </p:cNvGraphicFramePr>
          <p:nvPr>
            <p:extLst>
              <p:ext uri="{D42A27DB-BD31-4B8C-83A1-F6EECF244321}">
                <p14:modId xmlns:p14="http://schemas.microsoft.com/office/powerpoint/2010/main" val="1579011935"/>
              </p:ext>
            </p:extLst>
          </p:nvPr>
        </p:nvGraphicFramePr>
        <p:xfrm>
          <a:off x="6720840" y="2423160"/>
          <a:ext cx="4830775" cy="914400"/>
        </p:xfrm>
        <a:graphic>
          <a:graphicData uri="http://schemas.openxmlformats.org/drawingml/2006/table">
            <a:tbl>
              <a:tblPr/>
              <a:tblGrid>
                <a:gridCol w="1668813"/>
                <a:gridCol w="1844478"/>
                <a:gridCol w="1317484"/>
              </a:tblGrid>
              <a:tr h="0">
                <a:tc>
                  <a:txBody>
                    <a:bodyPr/>
                    <a:lstStyle/>
                    <a:p>
                      <a:pPr algn="l" indent="0" marL="0">
                        <a:buNone/>
                      </a:pPr>
                      <a:r>
                        <a:rPr lang="en-US" sz="1300" b="1" dirty="0">
                          <a:solidFill>
                            <a:schemeClr val="bg1"/>
                          </a:solidFill>
                        </a:rPr>
                        <a:t>Indicator</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2016: weakest year</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2025</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300" dirty="0">
                          <a:solidFill>
                            <a:schemeClr val="tx1"/>
                          </a:solidFill>
                        </a:rPr>
                        <a:t>Interruptions</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152</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86</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rPr>
                        <a:t>Outage duration</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661.2 h</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387.0 h</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300" dirty="0">
                          <a:solidFill>
                            <a:schemeClr val="tx1"/>
                          </a:solidFill>
                        </a:rPr>
                        <a:t>Availability</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92.45%</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95.58%</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rPr>
                        <a:t>Average duration</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4.35 h/event</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4.50 h/event</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5" name="Discussion card"/>
          <p:cNvSpPr/>
          <p:nvPr/>
        </p:nvSpPr>
        <p:spPr>
          <a:xfrm>
            <a:off x="6537960" y="4262628"/>
            <a:ext cx="5196535" cy="1370076"/>
          </a:xfrm>
          <a:prstGeom prst="roundRect">
            <a:avLst>
              <a:gd name="adj" fmla="val 5339"/>
            </a:avLst>
          </a:prstGeom>
          <a:solidFill>
            <a:schemeClr val="accent6"/>
          </a:solidFill>
          <a:ln w="12700">
            <a:solidFill>
              <a:schemeClr val="accent6"/>
            </a:solidFill>
            <a:prstDash val="solid"/>
          </a:ln>
        </p:spPr>
      </p:sp>
      <p:sp>
        <p:nvSpPr>
          <p:cNvPr id="26" name="discussion badge"/>
          <p:cNvSpPr/>
          <p:nvPr/>
        </p:nvSpPr>
        <p:spPr>
          <a:xfrm>
            <a:off x="6702552" y="4354068"/>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418442"/>
            <a:ext cx="163860" cy="163860"/>
          </a:xfrm>
          <a:prstGeom prst="rect">
            <a:avLst/>
          </a:prstGeom>
        </p:spPr>
      </p:pic>
      <p:sp>
        <p:nvSpPr>
          <p:cNvPr id="28" name="Discussion heading"/>
          <p:cNvSpPr txBox="1"/>
          <p:nvPr/>
        </p:nvSpPr>
        <p:spPr>
          <a:xfrm>
            <a:off x="7086600" y="4354068"/>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719828"/>
            <a:ext cx="4830775" cy="839724"/>
          </a:xfrm>
          <a:prstGeom prst="rect">
            <a:avLst/>
          </a:prstGeom>
          <a:noFill/>
          <a:ln/>
        </p:spPr>
        <p:txBody>
          <a:bodyPr wrap="square" lIns="0" tIns="0" rIns="0" bIns="0" rtlCol="0" anchor="t"/>
          <a:lstStyle/>
          <a:p>
            <a:pPr indent="0" marL="0">
              <a:buNone/>
            </a:pPr>
            <a:r>
              <a:rPr lang="en-US" sz="1400" dirty="0">
                <a:solidFill>
                  <a:schemeClr val="tx1"/>
                </a:solidFill>
              </a:rPr>
              <a:t>Grid availability improved after 2016, but 387 outage hours in 2025 remained operationally significant for an airport.</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SLIDE 5/6 RESULTS AND DISCUSSION-Objective 1 contnd.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Standby-Generator Utilisation</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Generator runtime and diesel consumption remained operationally significant.</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Standby generation remained essential but continued to impose fuel and maintenance costs.</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807720"/>
          </a:xfrm>
          <a:prstGeom prst="roundRect">
            <a:avLst>
              <a:gd name="adj" fmla="val 9057"/>
            </a:avLst>
          </a:prstGeom>
          <a:solidFill>
            <a:schemeClr val="accent5"/>
          </a:solidFill>
          <a:ln w="12700">
            <a:solidFill>
              <a:schemeClr val="accent5"/>
            </a:solidFill>
            <a:prstDash val="solid"/>
          </a:ln>
        </p:spPr>
      </p:sp>
      <p:sp>
        <p:nvSpPr>
          <p:cNvPr id="18" name="Equations"/>
          <p:cNvSpPr txBox="1"/>
          <p:nvPr/>
        </p:nvSpPr>
        <p:spPr>
          <a:xfrm>
            <a:off x="640080" y="2350008"/>
            <a:ext cx="5440680" cy="8077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fuel intensity</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(F̄</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 D</a:t>
            </a:r>
            <a:pPr indent="0" marL="0">
              <a:buNone/>
            </a:pPr>
            <a:r>
              <a:rPr lang="en-US" sz="1300" baseline="-40000" dirty="0">
                <a:solidFill>
                  <a:schemeClr val="tx2"/>
                </a:solidFill>
                <a:latin typeface="Cambria" pitchFamily="34" charset="0"/>
                <a:ea typeface="Cambria" pitchFamily="34" charset="-122"/>
                <a:cs typeface="Cambria" pitchFamily="34" charset="-120"/>
              </a:rPr>
              <a:t>y</a:t>
            </a:r>
            <a:pPr indent="0" marL="0">
              <a:buNone/>
            </a:pPr>
            <a:r>
              <a:rPr lang="en-US" sz="1300" dirty="0">
                <a:solidFill>
                  <a:schemeClr val="tx2"/>
                </a:solidFill>
                <a:latin typeface="Cambria" pitchFamily="34" charset="0"/>
                <a:ea typeface="Cambria" pitchFamily="34" charset="-122"/>
                <a:cs typeface="Cambria" pitchFamily="34" charset="-120"/>
              </a:rPr>
              <a:t> / R</a:t>
            </a:r>
            <a:pPr indent="0" marL="0">
              <a:buNone/>
            </a:pPr>
            <a:r>
              <a:rPr lang="en-US" sz="1300" baseline="-40000" dirty="0">
                <a:solidFill>
                  <a:schemeClr val="tx2"/>
                </a:solidFill>
                <a:latin typeface="Cambria" pitchFamily="34" charset="0"/>
                <a:ea typeface="Cambria" pitchFamily="34" charset="-122"/>
                <a:cs typeface="Cambria" pitchFamily="34" charset="-120"/>
              </a:rPr>
              <a:t>y</a:t>
            </a:r>
            <a:endParaRPr lang="en-US" sz="1300" dirty="0"/>
          </a:p>
          <a:p>
            <a:pPr indent="0" marL="0">
              <a:spcAft>
                <a:spcPts val="300"/>
              </a:spcAft>
              <a:buNone/>
            </a:pPr>
            <a:r>
              <a:rPr lang="en-US" sz="1150" i="1" dirty="0">
                <a:solidFill>
                  <a:schemeClr val="accent4"/>
                </a:solidFill>
              </a:rPr>
              <a:t>Where (Dy) is diesel consumption in liters and (Ry) is generator runtime in hours</a:t>
            </a:r>
            <a:endParaRPr lang="en-US" sz="1300" dirty="0"/>
          </a:p>
        </p:txBody>
      </p:sp>
      <p:pic>
        <p:nvPicPr>
          <p:cNvPr id="19" name="Figure image5.png" descr="Standby-Generator Utilisation figure">    </p:cNvPr>
          <p:cNvPicPr>
            <a:picLocks noChangeAspect="1"/>
          </p:cNvPicPr>
          <p:nvPr/>
        </p:nvPicPr>
        <p:blipFill>
          <a:blip r:embed="rId4"/>
          <a:stretch>
            <a:fillRect/>
          </a:stretch>
        </p:blipFill>
        <p:spPr>
          <a:xfrm>
            <a:off x="1050502" y="3294888"/>
            <a:ext cx="4619837" cy="2337816"/>
          </a:xfrm>
          <a:prstGeom prst="rect">
            <a:avLst/>
          </a:prstGeom>
        </p:spPr>
      </p:pic>
      <p:sp>
        <p:nvSpPr>
          <p:cNvPr id="20" name="Results card"/>
          <p:cNvSpPr/>
          <p:nvPr/>
        </p:nvSpPr>
        <p:spPr>
          <a:xfrm>
            <a:off x="6537960" y="1965960"/>
            <a:ext cx="5196535" cy="1921764"/>
          </a:xfrm>
          <a:prstGeom prst="roundRect">
            <a:avLst>
              <a:gd name="adj" fmla="val 3807"/>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7" name="Results table 1"/>
          <p:cNvGraphicFramePr>
            <a:graphicFrameLocks noGrp="1"/>
          </p:cNvGraphicFramePr>
          <p:nvPr>
            <p:extLst>
              <p:ext uri="{D42A27DB-BD31-4B8C-83A1-F6EECF244321}">
                <p14:modId xmlns:p14="http://schemas.microsoft.com/office/powerpoint/2010/main" val="1579011935"/>
              </p:ext>
            </p:extLst>
          </p:nvPr>
        </p:nvGraphicFramePr>
        <p:xfrm>
          <a:off x="6720840" y="2423160"/>
          <a:ext cx="4830775" cy="914400"/>
        </p:xfrm>
        <a:graphic>
          <a:graphicData uri="http://schemas.openxmlformats.org/drawingml/2006/table">
            <a:tbl>
              <a:tblPr/>
              <a:tblGrid>
                <a:gridCol w="2210694"/>
                <a:gridCol w="1637551"/>
                <a:gridCol w="982531"/>
              </a:tblGrid>
              <a:tr h="0">
                <a:tc>
                  <a:txBody>
                    <a:bodyPr/>
                    <a:lstStyle/>
                    <a:p>
                      <a:pPr algn="l" indent="0" marL="0">
                        <a:buNone/>
                      </a:pPr>
                      <a:r>
                        <a:rPr lang="en-US" sz="1300" b="1" dirty="0">
                          <a:solidFill>
                            <a:schemeClr val="bg1"/>
                          </a:solidFill>
                        </a:rPr>
                        <a:t>Indicator</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2021: highest use</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2025</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300" dirty="0">
                          <a:solidFill>
                            <a:schemeClr val="tx1"/>
                          </a:solidFill>
                        </a:rPr>
                        <a:t>Runtime</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1,247.2 h</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706.4 h</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rPr>
                        <a:t>Diesel consumption</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189,868 L</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95,299 L</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300" dirty="0">
                          <a:solidFill>
                            <a:schemeClr val="tx1"/>
                          </a:solidFill>
                        </a:rPr>
                        <a:t>Average consumption rate</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152.2 L/h</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134.9 L/h</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bl>
          </a:graphicData>
        </a:graphic>
      </p:graphicFrame>
      <p:sp>
        <p:nvSpPr>
          <p:cNvPr id="25" name="Discussion card"/>
          <p:cNvSpPr/>
          <p:nvPr/>
        </p:nvSpPr>
        <p:spPr>
          <a:xfrm>
            <a:off x="6537960" y="4024884"/>
            <a:ext cx="5196535" cy="1607820"/>
          </a:xfrm>
          <a:prstGeom prst="roundRect">
            <a:avLst>
              <a:gd name="adj" fmla="val 4550"/>
            </a:avLst>
          </a:prstGeom>
          <a:solidFill>
            <a:schemeClr val="accent6"/>
          </a:solidFill>
          <a:ln w="12700">
            <a:solidFill>
              <a:schemeClr val="accent6"/>
            </a:solidFill>
            <a:prstDash val="solid"/>
          </a:ln>
        </p:spPr>
      </p:sp>
      <p:sp>
        <p:nvSpPr>
          <p:cNvPr id="26" name="discussion badge"/>
          <p:cNvSpPr/>
          <p:nvPr/>
        </p:nvSpPr>
        <p:spPr>
          <a:xfrm>
            <a:off x="6702552" y="4116324"/>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180698"/>
            <a:ext cx="163860" cy="163860"/>
          </a:xfrm>
          <a:prstGeom prst="rect">
            <a:avLst/>
          </a:prstGeom>
        </p:spPr>
      </p:pic>
      <p:sp>
        <p:nvSpPr>
          <p:cNvPr id="28" name="Discussion heading"/>
          <p:cNvSpPr txBox="1"/>
          <p:nvPr/>
        </p:nvSpPr>
        <p:spPr>
          <a:xfrm>
            <a:off x="7086600" y="4116324"/>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482084"/>
            <a:ext cx="4830775" cy="1077468"/>
          </a:xfrm>
          <a:prstGeom prst="rect">
            <a:avLst/>
          </a:prstGeom>
          <a:noFill/>
          <a:ln/>
        </p:spPr>
        <p:txBody>
          <a:bodyPr wrap="square" lIns="0" tIns="0" rIns="0" bIns="0" rtlCol="0" anchor="t"/>
          <a:lstStyle/>
          <a:p>
            <a:pPr indent="0" marL="0">
              <a:buNone/>
            </a:pPr>
            <a:r>
              <a:rPr lang="en-US" sz="1400" dirty="0">
                <a:solidFill>
                  <a:schemeClr val="tx1"/>
                </a:solidFill>
              </a:rPr>
              <a:t>Generator runtime and diesel consumption generally moved together. However, runtime may also have been affected by testing, outage timing, load level and other operational requirements..</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SLIDE 6/6 RESULTS AND DISCUSSION-Objective 1 contnd.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Historical Energy Expenditure</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Total energy expenditure reached its highest level in 2025</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historical expenditure provides the economic baseline for evaluating potential grid-cost savings from the proposed solar PV system.</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655320"/>
          </a:xfrm>
          <a:prstGeom prst="roundRect">
            <a:avLst>
              <a:gd name="adj" fmla="val 11163"/>
            </a:avLst>
          </a:prstGeom>
          <a:solidFill>
            <a:schemeClr val="accent5"/>
          </a:solidFill>
          <a:ln w="12700">
            <a:solidFill>
              <a:schemeClr val="accent5"/>
            </a:solidFill>
            <a:prstDash val="solid"/>
          </a:ln>
        </p:spPr>
      </p:sp>
      <p:sp>
        <p:nvSpPr>
          <p:cNvPr id="18" name="Equations"/>
          <p:cNvSpPr txBox="1"/>
          <p:nvPr/>
        </p:nvSpPr>
        <p:spPr>
          <a:xfrm>
            <a:off x="640080" y="2350008"/>
            <a:ext cx="5440680" cy="6553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Total energy costᵧ = Grid electricity costᵧ + Diesel costᵧ</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Cost change = (C₂₀₂₅ − C₂₀₁₅) / C₂₀₁₅ × 100</a:t>
            </a:r>
            <a:endParaRPr lang="en-US" sz="1300" dirty="0"/>
          </a:p>
        </p:txBody>
      </p:sp>
      <p:pic>
        <p:nvPicPr>
          <p:cNvPr id="19" name="Figure image6.png" descr="Historical Energy Expenditure figure">    </p:cNvPr>
          <p:cNvPicPr>
            <a:picLocks noChangeAspect="1"/>
          </p:cNvPicPr>
          <p:nvPr/>
        </p:nvPicPr>
        <p:blipFill>
          <a:blip r:embed="rId4"/>
          <a:stretch>
            <a:fillRect/>
          </a:stretch>
        </p:blipFill>
        <p:spPr>
          <a:xfrm>
            <a:off x="915843" y="3142488"/>
            <a:ext cx="4889154" cy="2423160"/>
          </a:xfrm>
          <a:prstGeom prst="rect">
            <a:avLst/>
          </a:prstGeom>
        </p:spPr>
      </p:pic>
      <p:sp>
        <p:nvSpPr>
          <p:cNvPr id="20" name="Results card"/>
          <p:cNvSpPr/>
          <p:nvPr/>
        </p:nvSpPr>
        <p:spPr>
          <a:xfrm>
            <a:off x="6537960" y="1965960"/>
            <a:ext cx="5196535" cy="1944116"/>
          </a:xfrm>
          <a:prstGeom prst="roundRect">
            <a:avLst>
              <a:gd name="adj" fmla="val 3763"/>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1148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Total energy cost in 2025: UGX 6.999 billion.</a:t>
            </a:r>
            <a:endParaRPr lang="en-US" sz="1400" dirty="0"/>
          </a:p>
          <a:p>
            <a:pPr marL="177800" indent="-177800">
              <a:spcAft>
                <a:spcPts val="400"/>
              </a:spcAft>
              <a:buSzPct val="100000"/>
              <a:buChar char="•"/>
            </a:pPr>
            <a:r>
              <a:rPr lang="en-US" sz="1400" dirty="0">
                <a:solidFill>
                  <a:schemeClr val="tx1"/>
                </a:solidFill>
              </a:rPr>
              <a:t>Increase from 2015: 42.8%.</a:t>
            </a:r>
            <a:endParaRPr lang="en-US" sz="1400" dirty="0"/>
          </a:p>
          <a:p>
            <a:pPr marL="177800" indent="-177800">
              <a:spcAft>
                <a:spcPts val="400"/>
              </a:spcAft>
              <a:buSzPct val="100000"/>
              <a:buChar char="•"/>
            </a:pPr>
            <a:r>
              <a:rPr lang="en-US" sz="1400" dirty="0">
                <a:solidFill>
                  <a:schemeClr val="tx1"/>
                </a:solidFill>
              </a:rPr>
              <a:t>Grid electricity remained the largest cost component.</a:t>
            </a:r>
            <a:endParaRPr lang="en-US" sz="1400" dirty="0"/>
          </a:p>
          <a:p>
            <a:pPr marL="177800" indent="-177800">
              <a:spcAft>
                <a:spcPts val="400"/>
              </a:spcAft>
              <a:buSzPct val="100000"/>
              <a:buChar char="•"/>
            </a:pPr>
            <a:r>
              <a:rPr lang="en-US" sz="1400" dirty="0">
                <a:solidFill>
                  <a:schemeClr val="tx1"/>
                </a:solidFill>
              </a:rPr>
              <a:t>Highest diesel cost: UGX 705.929 million in 2021.</a:t>
            </a:r>
            <a:endParaRPr lang="en-US" sz="1400" dirty="0"/>
          </a:p>
        </p:txBody>
      </p:sp>
      <p:sp>
        <p:nvSpPr>
          <p:cNvPr id="25" name="Discussion card"/>
          <p:cNvSpPr/>
          <p:nvPr/>
        </p:nvSpPr>
        <p:spPr>
          <a:xfrm>
            <a:off x="6537960" y="4047236"/>
            <a:ext cx="5196535" cy="1518412"/>
          </a:xfrm>
          <a:prstGeom prst="roundRect">
            <a:avLst>
              <a:gd name="adj" fmla="val 4818"/>
            </a:avLst>
          </a:prstGeom>
          <a:solidFill>
            <a:schemeClr val="accent6"/>
          </a:solidFill>
          <a:ln w="12700">
            <a:solidFill>
              <a:schemeClr val="accent6"/>
            </a:solidFill>
            <a:prstDash val="solid"/>
          </a:ln>
        </p:spPr>
      </p:sp>
      <p:sp>
        <p:nvSpPr>
          <p:cNvPr id="26" name="discussion badge"/>
          <p:cNvSpPr/>
          <p:nvPr/>
        </p:nvSpPr>
        <p:spPr>
          <a:xfrm>
            <a:off x="6702552" y="413867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203050"/>
            <a:ext cx="163860" cy="163860"/>
          </a:xfrm>
          <a:prstGeom prst="rect">
            <a:avLst/>
          </a:prstGeom>
        </p:spPr>
      </p:pic>
      <p:sp>
        <p:nvSpPr>
          <p:cNvPr id="28" name="Discussion heading"/>
          <p:cNvSpPr txBox="1"/>
          <p:nvPr/>
        </p:nvSpPr>
        <p:spPr>
          <a:xfrm>
            <a:off x="7086600" y="413867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504436"/>
            <a:ext cx="4830775" cy="988060"/>
          </a:xfrm>
          <a:prstGeom prst="rect">
            <a:avLst/>
          </a:prstGeom>
          <a:noFill/>
          <a:ln/>
        </p:spPr>
        <p:txBody>
          <a:bodyPr wrap="square" lIns="0" tIns="0" rIns="0" bIns="0" rtlCol="0" anchor="t"/>
          <a:lstStyle/>
          <a:p>
            <a:pPr indent="0" marL="0">
              <a:buNone/>
            </a:pPr>
            <a:r>
              <a:rPr lang="en-US" sz="1400" dirty="0">
                <a:solidFill>
                  <a:schemeClr val="tx1"/>
                </a:solidFill>
              </a:rPr>
              <a:t>Increasing electricity consumption raised grid expenditure, while generator operation added a variable cost for maintaining supply continuity.</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Dataset and Explanatory Variables</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Electricity demand was primarily associated with maximum demand and passenger activity</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The variables were evaluated as external predictors in the SARIMAX model..</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Analysis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419100"/>
          </a:xfrm>
          <a:prstGeom prst="roundRect">
            <a:avLst>
              <a:gd name="adj" fmla="val 17455"/>
            </a:avLst>
          </a:prstGeom>
          <a:solidFill>
            <a:schemeClr val="accent5"/>
          </a:solidFill>
          <a:ln w="12700">
            <a:solidFill>
              <a:schemeClr val="accent5"/>
            </a:solidFill>
            <a:prstDash val="solid"/>
          </a:ln>
        </p:spPr>
      </p:sp>
      <p:sp>
        <p:nvSpPr>
          <p:cNvPr id="18" name="Equations"/>
          <p:cNvSpPr txBox="1"/>
          <p:nvPr/>
        </p:nvSpPr>
        <p:spPr>
          <a:xfrm>
            <a:off x="640080" y="2350008"/>
            <a:ext cx="5440680" cy="41910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E</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β</a:t>
            </a:r>
            <a:pPr indent="0" marL="0">
              <a:buNone/>
            </a:pPr>
            <a:r>
              <a:rPr lang="en-US" sz="1300" baseline="-40000" dirty="0">
                <a:solidFill>
                  <a:schemeClr val="tx2"/>
                </a:solidFill>
                <a:latin typeface="Cambria" pitchFamily="34" charset="0"/>
                <a:ea typeface="Cambria" pitchFamily="34" charset="-122"/>
                <a:cs typeface="Cambria" pitchFamily="34" charset="-120"/>
              </a:rPr>
              <a:t>0</a:t>
            </a:r>
            <a:pPr indent="0" marL="0">
              <a:buNone/>
            </a:pPr>
            <a:r>
              <a:rPr lang="en-US" sz="1300" dirty="0">
                <a:solidFill>
                  <a:schemeClr val="tx2"/>
                </a:solidFill>
                <a:latin typeface="Cambria" pitchFamily="34" charset="0"/>
                <a:ea typeface="Cambria" pitchFamily="34" charset="-122"/>
                <a:cs typeface="Cambria" pitchFamily="34" charset="-120"/>
              </a:rPr>
              <a:t> + β</a:t>
            </a:r>
            <a:pPr indent="0" marL="0">
              <a:buNone/>
            </a:pPr>
            <a:r>
              <a:rPr lang="en-US" sz="1300" baseline="-40000" dirty="0">
                <a:solidFill>
                  <a:schemeClr val="tx2"/>
                </a:solidFill>
                <a:latin typeface="Cambria" pitchFamily="34" charset="0"/>
                <a:ea typeface="Cambria" pitchFamily="34" charset="-122"/>
                <a:cs typeface="Cambria" pitchFamily="34" charset="-120"/>
              </a:rPr>
              <a:t>1</a:t>
            </a:r>
            <a:pPr indent="0" marL="0">
              <a:buNone/>
            </a:pPr>
            <a:r>
              <a:rPr lang="en-US" sz="1300" dirty="0">
                <a:solidFill>
                  <a:schemeClr val="tx2"/>
                </a:solidFill>
                <a:latin typeface="Cambria" pitchFamily="34" charset="0"/>
                <a:ea typeface="Cambria" pitchFamily="34" charset="-122"/>
                <a:cs typeface="Cambria" pitchFamily="34" charset="-120"/>
              </a:rPr>
              <a:t>MD</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β</a:t>
            </a:r>
            <a:pPr indent="0" marL="0">
              <a:buNone/>
            </a:pPr>
            <a:r>
              <a:rPr lang="en-US" sz="1300" baseline="-40000" dirty="0">
                <a:solidFill>
                  <a:schemeClr val="tx2"/>
                </a:solidFill>
                <a:latin typeface="Cambria" pitchFamily="34" charset="0"/>
                <a:ea typeface="Cambria" pitchFamily="34" charset="-122"/>
                <a:cs typeface="Cambria" pitchFamily="34" charset="-120"/>
              </a:rPr>
              <a:t>2</a:t>
            </a:r>
            <a:pPr indent="0" marL="0">
              <a:buNone/>
            </a:pPr>
            <a:r>
              <a:rPr lang="en-US" sz="1300" dirty="0">
                <a:solidFill>
                  <a:schemeClr val="tx2"/>
                </a:solidFill>
                <a:latin typeface="Cambria" pitchFamily="34" charset="0"/>
                <a:ea typeface="Cambria" pitchFamily="34" charset="-122"/>
                <a:cs typeface="Cambria" pitchFamily="34" charset="-120"/>
              </a:rPr>
              <a:t>P</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β</a:t>
            </a:r>
            <a:pPr indent="0" marL="0">
              <a:buNone/>
            </a:pPr>
            <a:r>
              <a:rPr lang="en-US" sz="1300" baseline="-40000" dirty="0">
                <a:solidFill>
                  <a:schemeClr val="tx2"/>
                </a:solidFill>
                <a:latin typeface="Cambria" pitchFamily="34" charset="0"/>
                <a:ea typeface="Cambria" pitchFamily="34" charset="-122"/>
                <a:cs typeface="Cambria" pitchFamily="34" charset="-120"/>
              </a:rPr>
              <a:t>3</a:t>
            </a:r>
            <a:pPr indent="0" marL="0">
              <a:buNone/>
            </a:pPr>
            <a:r>
              <a:rPr lang="en-US" sz="1300" dirty="0">
                <a:solidFill>
                  <a:schemeClr val="tx2"/>
                </a:solidFill>
                <a:latin typeface="Cambria" pitchFamily="34" charset="0"/>
                <a:ea typeface="Cambria" pitchFamily="34" charset="-122"/>
                <a:cs typeface="Cambria" pitchFamily="34" charset="-120"/>
              </a:rPr>
              <a:t>T</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ε</a:t>
            </a:r>
            <a:pPr indent="0" marL="0">
              <a:buNone/>
            </a:pPr>
            <a:r>
              <a:rPr lang="en-US" sz="1300" baseline="-40000" dirty="0">
                <a:solidFill>
                  <a:schemeClr val="tx2"/>
                </a:solidFill>
                <a:latin typeface="Cambria" pitchFamily="34" charset="0"/>
                <a:ea typeface="Cambria" pitchFamily="34" charset="-122"/>
                <a:cs typeface="Cambria" pitchFamily="34" charset="-120"/>
              </a:rPr>
              <a:t>t</a:t>
            </a:r>
            <a:endParaRPr lang="en-US" sz="1300" dirty="0"/>
          </a:p>
        </p:txBody>
      </p:sp>
      <p:graphicFrame>
        <p:nvGraphicFramePr>
          <p:cNvPr id="9" name="Basis table 1"/>
          <p:cNvGraphicFramePr>
            <a:graphicFrameLocks noGrp="1"/>
          </p:cNvGraphicFramePr>
          <p:nvPr>
            <p:extLst>
              <p:ext uri="{D42A27DB-BD31-4B8C-83A1-F6EECF244321}">
                <p14:modId xmlns:p14="http://schemas.microsoft.com/office/powerpoint/2010/main" val="1579011935"/>
              </p:ext>
            </p:extLst>
          </p:nvPr>
        </p:nvGraphicFramePr>
        <p:xfrm>
          <a:off x="457200" y="2906268"/>
          <a:ext cx="5806440" cy="914400"/>
        </p:xfrm>
        <a:graphic>
          <a:graphicData uri="http://schemas.openxmlformats.org/drawingml/2006/table">
            <a:tbl>
              <a:tblPr/>
              <a:tblGrid>
                <a:gridCol w="2298382"/>
                <a:gridCol w="1451610"/>
                <a:gridCol w="1088707"/>
                <a:gridCol w="967740"/>
              </a:tblGrid>
              <a:tr h="0">
                <a:tc gridSpan="4">
                  <a:txBody>
                    <a:bodyPr/>
                    <a:lstStyle/>
                    <a:p>
                      <a:pPr algn="ctr" indent="0" marL="0">
                        <a:buNone/>
                      </a:pPr>
                      <a:r>
                        <a:rPr lang="en-US" sz="1200" b="1" dirty="0">
                          <a:solidFill>
                            <a:schemeClr val="bg1"/>
                          </a:solidFill>
                        </a:rPr>
                        <a:t>Dataset partition</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tx2"/>
                    </a:solidFill>
                  </a:tcPr>
                </a:tc>
                <a:tc hMerge="1">
                  <a:tcPr/>
                </a:tc>
                <a:tc hMerge="1">
                  <a:tcPr/>
                </a:tc>
                <a:tc hMerge="1">
                  <a:tcPr/>
                </a:tc>
              </a:tr>
              <a:tr h="0">
                <a:tc>
                  <a:txBody>
                    <a:bodyPr/>
                    <a:lstStyle/>
                    <a:p>
                      <a:pPr algn="l" indent="0" marL="0">
                        <a:buNone/>
                      </a:pPr>
                      <a:r>
                        <a:rPr lang="en-US" sz="1200" b="1" dirty="0">
                          <a:solidFill>
                            <a:schemeClr val="bg1"/>
                          </a:solidFill>
                        </a:rPr>
                        <a:t>Dataset</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Period</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Months</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Share</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00" dirty="0">
                          <a:solidFill>
                            <a:schemeClr val="tx1"/>
                          </a:solidFill>
                        </a:rPr>
                        <a:t>Training</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2015–2021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84</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63.6%</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Validation</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2022–2023</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24</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18.2%</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200" dirty="0">
                          <a:solidFill>
                            <a:schemeClr val="tx1"/>
                          </a:solidFill>
                        </a:rPr>
                        <a:t>Independent test</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2024–2025</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24</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18.2%</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bl>
          </a:graphicData>
        </a:graphic>
      </p:graphicFrame>
      <p:pic>
        <p:nvPicPr>
          <p:cNvPr id="20" name="Figure image7.png" descr="Dataset and Explanatory Variables figure">    </p:cNvPr>
          <p:cNvPicPr>
            <a:picLocks noChangeAspect="1"/>
          </p:cNvPicPr>
          <p:nvPr/>
        </p:nvPicPr>
        <p:blipFill>
          <a:blip r:embed="rId4"/>
          <a:stretch>
            <a:fillRect/>
          </a:stretch>
        </p:blipFill>
        <p:spPr>
          <a:xfrm>
            <a:off x="1911498" y="4277868"/>
            <a:ext cx="2897844" cy="1354836"/>
          </a:xfrm>
          <a:prstGeom prst="rect">
            <a:avLst/>
          </a:prstGeom>
        </p:spPr>
      </p:pic>
      <p:sp>
        <p:nvSpPr>
          <p:cNvPr id="21" name="Results card"/>
          <p:cNvSpPr/>
          <p:nvPr/>
        </p:nvSpPr>
        <p:spPr>
          <a:xfrm>
            <a:off x="6537960" y="1965960"/>
            <a:ext cx="5196535" cy="1870964"/>
          </a:xfrm>
          <a:prstGeom prst="roundRect">
            <a:avLst>
              <a:gd name="adj" fmla="val 3910"/>
            </a:avLst>
          </a:prstGeom>
          <a:solidFill>
            <a:schemeClr val="bg2"/>
          </a:solidFill>
          <a:ln w="12700">
            <a:solidFill>
              <a:schemeClr val="bg2"/>
            </a:solidFill>
            <a:prstDash val="solid"/>
          </a:ln>
        </p:spPr>
      </p:sp>
      <p:sp>
        <p:nvSpPr>
          <p:cNvPr id="22"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3"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4"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5" name="Results list 1"/>
          <p:cNvSpPr txBox="1"/>
          <p:nvPr/>
        </p:nvSpPr>
        <p:spPr>
          <a:xfrm>
            <a:off x="6720840" y="2423160"/>
            <a:ext cx="4830775" cy="1148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Maximum demand: (r=0.6688,p&lt;0.001)</a:t>
            </a:r>
            <a:endParaRPr lang="en-US" sz="1400" dirty="0"/>
          </a:p>
          <a:p>
            <a:pPr marL="177800" indent="-177800">
              <a:spcAft>
                <a:spcPts val="400"/>
              </a:spcAft>
              <a:buSzPct val="100000"/>
              <a:buChar char="•"/>
            </a:pPr>
            <a:r>
              <a:rPr lang="en-US" sz="1400" dirty="0">
                <a:solidFill>
                  <a:schemeClr val="tx1"/>
                </a:solidFill>
              </a:rPr>
              <a:t>Passenger traffic :( r=0.6061, p&lt;0.001).</a:t>
            </a:r>
            <a:endParaRPr lang="en-US" sz="1400" dirty="0"/>
          </a:p>
          <a:p>
            <a:pPr marL="177800" indent="-177800">
              <a:spcAft>
                <a:spcPts val="400"/>
              </a:spcAft>
              <a:buSzPct val="100000"/>
              <a:buChar char="•"/>
            </a:pPr>
            <a:r>
              <a:rPr lang="en-US" sz="1400" dirty="0">
                <a:solidFill>
                  <a:schemeClr val="tx1"/>
                </a:solidFill>
              </a:rPr>
              <a:t>Temperature: (r = -0.0376, p = 0.7339).</a:t>
            </a:r>
            <a:endParaRPr lang="en-US" sz="1400" dirty="0"/>
          </a:p>
          <a:p>
            <a:pPr marL="177800" indent="-177800">
              <a:spcAft>
                <a:spcPts val="400"/>
              </a:spcAft>
              <a:buSzPct val="100000"/>
              <a:buChar char="•"/>
            </a:pPr>
            <a:r>
              <a:rPr lang="en-US" sz="1400" dirty="0">
                <a:solidFill>
                  <a:schemeClr val="tx1"/>
                </a:solidFill>
              </a:rPr>
              <a:t>Combined ( R² =0.5664).</a:t>
            </a:r>
            <a:endParaRPr lang="en-US" sz="1400" dirty="0"/>
          </a:p>
        </p:txBody>
      </p:sp>
      <p:sp>
        <p:nvSpPr>
          <p:cNvPr id="26" name="Discussion card"/>
          <p:cNvSpPr/>
          <p:nvPr/>
        </p:nvSpPr>
        <p:spPr>
          <a:xfrm>
            <a:off x="6537960" y="3974084"/>
            <a:ext cx="5196535" cy="1658620"/>
          </a:xfrm>
          <a:prstGeom prst="roundRect">
            <a:avLst>
              <a:gd name="adj" fmla="val 4410"/>
            </a:avLst>
          </a:prstGeom>
          <a:solidFill>
            <a:schemeClr val="accent6"/>
          </a:solidFill>
          <a:ln w="12700">
            <a:solidFill>
              <a:schemeClr val="accent6"/>
            </a:solidFill>
            <a:prstDash val="solid"/>
          </a:ln>
        </p:spPr>
      </p:sp>
      <p:sp>
        <p:nvSpPr>
          <p:cNvPr id="27" name="discussion badge"/>
          <p:cNvSpPr/>
          <p:nvPr/>
        </p:nvSpPr>
        <p:spPr>
          <a:xfrm>
            <a:off x="6702552" y="4065524"/>
            <a:ext cx="292608" cy="292608"/>
          </a:xfrm>
          <a:prstGeom prst="ellipse">
            <a:avLst/>
          </a:prstGeom>
          <a:solidFill>
            <a:schemeClr val="accent2"/>
          </a:solidFill>
          <a:ln w="12700">
            <a:solidFill>
              <a:schemeClr val="accent2"/>
            </a:solidFill>
            <a:prstDash val="solid"/>
          </a:ln>
        </p:spPr>
      </p:sp>
      <p:pic>
        <p:nvPicPr>
          <p:cNvPr id="28" name="discussion icon" descr="preencoded.png">    </p:cNvPr>
          <p:cNvPicPr>
            <a:picLocks noChangeAspect="1"/>
          </p:cNvPicPr>
          <p:nvPr/>
        </p:nvPicPr>
        <p:blipFill>
          <a:blip r:embed="rId6"/>
          <a:stretch>
            <a:fillRect/>
          </a:stretch>
        </p:blipFill>
        <p:spPr>
          <a:xfrm>
            <a:off x="6766926" y="4129898"/>
            <a:ext cx="163860" cy="163860"/>
          </a:xfrm>
          <a:prstGeom prst="rect">
            <a:avLst/>
          </a:prstGeom>
        </p:spPr>
      </p:pic>
      <p:sp>
        <p:nvSpPr>
          <p:cNvPr id="29" name="Discussion heading"/>
          <p:cNvSpPr txBox="1"/>
          <p:nvPr/>
        </p:nvSpPr>
        <p:spPr>
          <a:xfrm>
            <a:off x="7086600" y="4065524"/>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30" name="Discussion text"/>
          <p:cNvSpPr txBox="1"/>
          <p:nvPr/>
        </p:nvSpPr>
        <p:spPr>
          <a:xfrm>
            <a:off x="6720840" y="4431284"/>
            <a:ext cx="4830775" cy="1128268"/>
          </a:xfrm>
          <a:prstGeom prst="rect">
            <a:avLst/>
          </a:prstGeom>
          <a:noFill/>
          <a:ln/>
        </p:spPr>
        <p:txBody>
          <a:bodyPr wrap="square" lIns="0" tIns="0" rIns="0" bIns="0" rtlCol="0" anchor="t"/>
          <a:lstStyle/>
          <a:p>
            <a:pPr indent="0" marL="0">
              <a:buNone/>
            </a:pPr>
            <a:r>
              <a:rPr lang="en-US" sz="1400" dirty="0">
                <a:solidFill>
                  <a:schemeClr val="tx1"/>
                </a:solidFill>
              </a:rPr>
              <a:t>Maximum demand and passenger traffic were significantly associated with monthly electricity consumption. Temperature showed little independent statistical contribution</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 continued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Stationarity and Lag Structurel</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First differencing produced a stationary electricity-demand series</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Seasonal AR and MA terms were still evaluated to determine whether annual seasonal dependence improved model fit.</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Analysis Basics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419100"/>
          </a:xfrm>
          <a:prstGeom prst="roundRect">
            <a:avLst>
              <a:gd name="adj" fmla="val 17455"/>
            </a:avLst>
          </a:prstGeom>
          <a:solidFill>
            <a:schemeClr val="accent5"/>
          </a:solidFill>
          <a:ln w="12700">
            <a:solidFill>
              <a:schemeClr val="accent5"/>
            </a:solidFill>
            <a:prstDash val="solid"/>
          </a:ln>
        </p:spPr>
      </p:sp>
      <p:sp>
        <p:nvSpPr>
          <p:cNvPr id="18" name="Equations"/>
          <p:cNvSpPr txBox="1"/>
          <p:nvPr/>
        </p:nvSpPr>
        <p:spPr>
          <a:xfrm>
            <a:off x="640080" y="2350008"/>
            <a:ext cx="5440680" cy="41910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ΔE</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E</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E</a:t>
            </a:r>
            <a:pPr indent="0" marL="0">
              <a:buNone/>
            </a:pPr>
            <a:r>
              <a:rPr lang="en-US" sz="1300" baseline="-40000" dirty="0">
                <a:solidFill>
                  <a:schemeClr val="tx2"/>
                </a:solidFill>
                <a:latin typeface="Cambria" pitchFamily="34" charset="0"/>
                <a:ea typeface="Cambria" pitchFamily="34" charset="-122"/>
                <a:cs typeface="Cambria" pitchFamily="34" charset="-120"/>
              </a:rPr>
              <a:t>t−1</a:t>
            </a:r>
            <a:pPr indent="0" marL="0">
              <a:buNone/>
            </a:pPr>
            <a:r>
              <a:rPr lang="en-US" sz="1300" dirty="0">
                <a:solidFill>
                  <a:schemeClr val="tx2"/>
                </a:solidFill>
                <a:latin typeface="Cambria" pitchFamily="34" charset="0"/>
                <a:ea typeface="Cambria" pitchFamily="34" charset="-122"/>
                <a:cs typeface="Cambria" pitchFamily="34" charset="-120"/>
              </a:rPr>
              <a:t>        H</a:t>
            </a:r>
            <a:pPr indent="0" marL="0">
              <a:buNone/>
            </a:pPr>
            <a:r>
              <a:rPr lang="en-US" sz="1300" baseline="-40000" dirty="0">
                <a:solidFill>
                  <a:schemeClr val="tx2"/>
                </a:solidFill>
                <a:latin typeface="Cambria" pitchFamily="34" charset="0"/>
                <a:ea typeface="Cambria" pitchFamily="34" charset="-122"/>
                <a:cs typeface="Cambria" pitchFamily="34" charset="-120"/>
              </a:rPr>
              <a:t>0</a:t>
            </a:r>
            <a:pPr indent="0" marL="0">
              <a:buNone/>
            </a:pPr>
            <a:r>
              <a:rPr lang="en-US" sz="1300" dirty="0">
                <a:solidFill>
                  <a:schemeClr val="tx2"/>
                </a:solidFill>
                <a:latin typeface="Cambria" pitchFamily="34" charset="0"/>
                <a:ea typeface="Cambria" pitchFamily="34" charset="-122"/>
                <a:cs typeface="Cambria" pitchFamily="34" charset="-120"/>
              </a:rPr>
              <a:t>: the series contains a unit root</a:t>
            </a:r>
            <a:endParaRPr lang="en-US" sz="1300" dirty="0"/>
          </a:p>
        </p:txBody>
      </p:sp>
      <p:graphicFrame>
        <p:nvGraphicFramePr>
          <p:cNvPr id="10" name="Basis table 1"/>
          <p:cNvGraphicFramePr>
            <a:graphicFrameLocks noGrp="1"/>
          </p:cNvGraphicFramePr>
          <p:nvPr>
            <p:extLst>
              <p:ext uri="{D42A27DB-BD31-4B8C-83A1-F6EECF244321}">
                <p14:modId xmlns:p14="http://schemas.microsoft.com/office/powerpoint/2010/main" val="1579011935"/>
              </p:ext>
            </p:extLst>
          </p:nvPr>
        </p:nvGraphicFramePr>
        <p:xfrm>
          <a:off x="457200" y="2906268"/>
          <a:ext cx="5806440" cy="914400"/>
        </p:xfrm>
        <a:graphic>
          <a:graphicData uri="http://schemas.openxmlformats.org/drawingml/2006/table">
            <a:tbl>
              <a:tblPr/>
              <a:tblGrid>
                <a:gridCol w="1779393"/>
                <a:gridCol w="1498436"/>
                <a:gridCol w="936523"/>
                <a:gridCol w="1592088"/>
              </a:tblGrid>
              <a:tr h="0">
                <a:tc>
                  <a:txBody>
                    <a:bodyPr/>
                    <a:lstStyle/>
                    <a:p>
                      <a:pPr algn="l" indent="0" marL="0">
                        <a:buNone/>
                      </a:pPr>
                      <a:r>
                        <a:rPr lang="en-US" sz="1200" b="1" dirty="0">
                          <a:solidFill>
                            <a:schemeClr val="bg1"/>
                          </a:solidFill>
                        </a:rPr>
                        <a:t>Series</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ADF statistic</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p-value</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Decision</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00" dirty="0">
                          <a:solidFill>
                            <a:schemeClr val="tx1"/>
                          </a:solidFill>
                        </a:rPr>
                        <a:t>Original</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−2.9837</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0.1724</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Non-stationary</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First difference</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−5.8071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&lt;0.01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Stationary</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0" name="Results card"/>
          <p:cNvSpPr/>
          <p:nvPr/>
        </p:nvSpPr>
        <p:spPr>
          <a:xfrm>
            <a:off x="6537960" y="1965960"/>
            <a:ext cx="5196535" cy="1820164"/>
          </a:xfrm>
          <a:prstGeom prst="roundRect">
            <a:avLst>
              <a:gd name="adj" fmla="val 4019"/>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4"/>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10464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Strongest ACF/PACF response: lag 1, approximately −0.5055.</a:t>
            </a:r>
            <a:endParaRPr lang="en-US" sz="1400" dirty="0"/>
          </a:p>
          <a:p>
            <a:pPr marL="177800" indent="-177800">
              <a:spcAft>
                <a:spcPts val="400"/>
              </a:spcAft>
              <a:buSzPct val="100000"/>
              <a:buChar char="•"/>
            </a:pPr>
            <a:r>
              <a:rPr lang="en-US" sz="1400" dirty="0">
                <a:solidFill>
                  <a:schemeClr val="tx1"/>
                </a:solidFill>
              </a:rPr>
              <a:t>Seasonal lags 12, 24 and 36 remained within approximately ± 0.2151</a:t>
            </a:r>
            <a:endParaRPr lang="en-US" sz="1400" dirty="0"/>
          </a:p>
        </p:txBody>
      </p:sp>
      <p:sp>
        <p:nvSpPr>
          <p:cNvPr id="25" name="Discussion card"/>
          <p:cNvSpPr/>
          <p:nvPr/>
        </p:nvSpPr>
        <p:spPr>
          <a:xfrm>
            <a:off x="6537960" y="3923284"/>
            <a:ext cx="5196535" cy="1709420"/>
          </a:xfrm>
          <a:prstGeom prst="roundRect">
            <a:avLst>
              <a:gd name="adj" fmla="val 4279"/>
            </a:avLst>
          </a:prstGeom>
          <a:solidFill>
            <a:schemeClr val="accent6"/>
          </a:solidFill>
          <a:ln w="12700">
            <a:solidFill>
              <a:schemeClr val="accent6"/>
            </a:solidFill>
            <a:prstDash val="solid"/>
          </a:ln>
        </p:spPr>
      </p:sp>
      <p:sp>
        <p:nvSpPr>
          <p:cNvPr id="26" name="discussion badge"/>
          <p:cNvSpPr/>
          <p:nvPr/>
        </p:nvSpPr>
        <p:spPr>
          <a:xfrm>
            <a:off x="6702552" y="4014724"/>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5"/>
          <a:stretch>
            <a:fillRect/>
          </a:stretch>
        </p:blipFill>
        <p:spPr>
          <a:xfrm>
            <a:off x="6766926" y="4079098"/>
            <a:ext cx="163860" cy="163860"/>
          </a:xfrm>
          <a:prstGeom prst="rect">
            <a:avLst/>
          </a:prstGeom>
        </p:spPr>
      </p:pic>
      <p:sp>
        <p:nvSpPr>
          <p:cNvPr id="28" name="Discussion heading"/>
          <p:cNvSpPr txBox="1"/>
          <p:nvPr/>
        </p:nvSpPr>
        <p:spPr>
          <a:xfrm>
            <a:off x="7086600" y="4014724"/>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380484"/>
            <a:ext cx="4830775" cy="1179068"/>
          </a:xfrm>
          <a:prstGeom prst="rect">
            <a:avLst/>
          </a:prstGeom>
          <a:noFill/>
          <a:ln/>
        </p:spPr>
        <p:txBody>
          <a:bodyPr wrap="square" lIns="0" tIns="0" rIns="0" bIns="0" rtlCol="0" anchor="t"/>
          <a:lstStyle/>
          <a:p>
            <a:pPr indent="0" marL="0">
              <a:buNone/>
            </a:pPr>
            <a:r>
              <a:rPr lang="en-US" sz="1400" dirty="0">
                <a:solidFill>
                  <a:schemeClr val="tx1"/>
                </a:solidFill>
              </a:rPr>
              <a:t>First differencing removed the non-stationary component, giving (d=1). Dependence remained mainly at short lags, while seasonal differencing was not supported, giving (D=0).</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 continued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ARIMA and SARIMA Selectionl</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Seasonal modelling produced a small but statistically supported improvement</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Model selection was based on AIC, coefficient significance and residual diagnostics rather than AIC alone</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Analysis Basics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350008"/>
            <a:ext cx="5440680" cy="6172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ARIMA(p,1,q)      SARIMA(p,1,q)(P,0,Q)</a:t>
            </a:r>
            <a:pPr indent="0" marL="0">
              <a:buNone/>
            </a:pPr>
            <a:r>
              <a:rPr lang="en-US" sz="1300" baseline="-40000" dirty="0">
                <a:solidFill>
                  <a:schemeClr val="tx2"/>
                </a:solidFill>
                <a:latin typeface="Cambria" pitchFamily="34" charset="0"/>
                <a:ea typeface="Cambria" pitchFamily="34" charset="-122"/>
                <a:cs typeface="Cambria" pitchFamily="34" charset="-120"/>
              </a:rPr>
              <a:t>12</a:t>
            </a:r>
            <a:pPr indent="0" marL="0">
              <a:buNone/>
            </a:pPr>
            <a:r>
              <a:rPr lang="en-US" sz="1300" dirty="0">
                <a:solidFill>
                  <a:schemeClr val="tx2"/>
                </a:solidFill>
                <a:latin typeface="Cambria" pitchFamily="34" charset="0"/>
                <a:ea typeface="Cambria" pitchFamily="34" charset="-122"/>
                <a:cs typeface="Cambria" pitchFamily="34" charset="-120"/>
              </a:rPr>
              <a:t>      Lower AIC indicates better relative fit</a:t>
            </a:r>
            <a:endParaRPr lang="en-US" sz="1300" dirty="0"/>
          </a:p>
        </p:txBody>
      </p:sp>
      <p:pic>
        <p:nvPicPr>
          <p:cNvPr id="19" name="Figure image8.png" descr="ARIMA and SARIMA Selectionl figure">    </p:cNvPr>
          <p:cNvPicPr>
            <a:picLocks noChangeAspect="1"/>
          </p:cNvPicPr>
          <p:nvPr/>
        </p:nvPicPr>
        <p:blipFill>
          <a:blip r:embed="rId4"/>
          <a:stretch>
            <a:fillRect/>
          </a:stretch>
        </p:blipFill>
        <p:spPr>
          <a:xfrm>
            <a:off x="974947" y="3104388"/>
            <a:ext cx="4770947" cy="2528316"/>
          </a:xfrm>
          <a:prstGeom prst="rect">
            <a:avLst/>
          </a:prstGeom>
        </p:spPr>
      </p:pic>
      <p:sp>
        <p:nvSpPr>
          <p:cNvPr id="20" name="Results card"/>
          <p:cNvSpPr/>
          <p:nvPr/>
        </p:nvSpPr>
        <p:spPr>
          <a:xfrm>
            <a:off x="6537960" y="1965960"/>
            <a:ext cx="5196535" cy="1996440"/>
          </a:xfrm>
          <a:prstGeom prst="roundRect">
            <a:avLst>
              <a:gd name="adj" fmla="val 3664"/>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11" name="Results table 1"/>
          <p:cNvGraphicFramePr>
            <a:graphicFrameLocks noGrp="1"/>
          </p:cNvGraphicFramePr>
          <p:nvPr>
            <p:extLst>
              <p:ext uri="{D42A27DB-BD31-4B8C-83A1-F6EECF244321}">
                <p14:modId xmlns:p14="http://schemas.microsoft.com/office/powerpoint/2010/main" val="1579011935"/>
              </p:ext>
            </p:extLst>
          </p:nvPr>
        </p:nvGraphicFramePr>
        <p:xfrm>
          <a:off x="6720840" y="2423160"/>
          <a:ext cx="4830775" cy="914400"/>
        </p:xfrm>
        <a:graphic>
          <a:graphicData uri="http://schemas.openxmlformats.org/drawingml/2006/table">
            <a:tbl>
              <a:tblPr/>
              <a:tblGrid>
                <a:gridCol w="1947893"/>
                <a:gridCol w="857073"/>
                <a:gridCol w="2025809"/>
              </a:tblGrid>
              <a:tr h="0">
                <a:tc>
                  <a:txBody>
                    <a:bodyPr/>
                    <a:lstStyle/>
                    <a:p>
                      <a:pPr algn="l" indent="0" marL="0">
                        <a:buNone/>
                      </a:pPr>
                      <a:r>
                        <a:rPr lang="en-US" sz="1300" b="1" dirty="0">
                          <a:solidFill>
                            <a:schemeClr val="bg1"/>
                          </a:solidFill>
                        </a:rPr>
                        <a:t>Model</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AIC</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Key diagnostic</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300" dirty="0">
                          <a:solidFill>
                            <a:schemeClr val="tx1"/>
                          </a:solidFill>
                        </a:rPr>
                        <a:t>ARIMA(2,1,1)</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2158.983</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Ljung–Box (p=0.08464)</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rPr>
                        <a:t>SARIMA(3,1,3)(1,0,0)12</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2157.738</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Seasonal AR (p=0.03281)</a:t>
                      </a:r>
                      <a:endParaRPr lang="en-US" sz="1300" dirty="0"/>
                    </a:p>
                    <a:p>
                      <a:pPr algn="l" indent="0" marL="0">
                        <a:buNone/>
                      </a:pPr>
                      <a:r>
                        <a:rPr lang="en-US" sz="1300" dirty="0">
                          <a:solidFill>
                            <a:schemeClr val="tx1"/>
                          </a:solidFill>
                        </a:rPr>
                        <a:t>Ljung–Box (p=0.91382)</a:t>
                      </a:r>
                      <a:endParaRPr lang="en-US" sz="13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5" name="Discussion card"/>
          <p:cNvSpPr/>
          <p:nvPr/>
        </p:nvSpPr>
        <p:spPr>
          <a:xfrm>
            <a:off x="6537960" y="4099560"/>
            <a:ext cx="5196535" cy="1533144"/>
          </a:xfrm>
          <a:prstGeom prst="roundRect">
            <a:avLst>
              <a:gd name="adj" fmla="val 4771"/>
            </a:avLst>
          </a:prstGeom>
          <a:solidFill>
            <a:schemeClr val="accent6"/>
          </a:solidFill>
          <a:ln w="12700">
            <a:solidFill>
              <a:schemeClr val="accent6"/>
            </a:solidFill>
            <a:prstDash val="solid"/>
          </a:ln>
        </p:spPr>
      </p:sp>
      <p:sp>
        <p:nvSpPr>
          <p:cNvPr id="26" name="discussion badge"/>
          <p:cNvSpPr/>
          <p:nvPr/>
        </p:nvSpPr>
        <p:spPr>
          <a:xfrm>
            <a:off x="6702552" y="4191000"/>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255374"/>
            <a:ext cx="163860" cy="163860"/>
          </a:xfrm>
          <a:prstGeom prst="rect">
            <a:avLst/>
          </a:prstGeom>
        </p:spPr>
      </p:pic>
      <p:sp>
        <p:nvSpPr>
          <p:cNvPr id="28" name="Discussion heading"/>
          <p:cNvSpPr txBox="1"/>
          <p:nvPr/>
        </p:nvSpPr>
        <p:spPr>
          <a:xfrm>
            <a:off x="7086600" y="4191000"/>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556760"/>
            <a:ext cx="4830775" cy="1002792"/>
          </a:xfrm>
          <a:prstGeom prst="rect">
            <a:avLst/>
          </a:prstGeom>
          <a:noFill/>
          <a:ln/>
        </p:spPr>
        <p:txBody>
          <a:bodyPr wrap="square" lIns="0" tIns="0" rIns="0" bIns="0" rtlCol="0" anchor="t"/>
          <a:lstStyle/>
          <a:p>
            <a:pPr indent="0" marL="0">
              <a:buNone/>
            </a:pPr>
            <a:r>
              <a:rPr lang="en-US" sz="1400" dirty="0">
                <a:solidFill>
                  <a:schemeClr val="tx1"/>
                </a:solidFill>
              </a:rPr>
              <a:t>SARIMA reduced AIC by only 1.245. However, the significant seasonal AR coefficient supported retaining an annual seasonal component.</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 continued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SARIMAX Model</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Airport explanatory variables produced the largest improvement in model fit.</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Airport loading and operational activity improved the representation of electricity demand more than ambient temperature.</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Analysis Basics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350008"/>
            <a:ext cx="5440680" cy="6172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Energy</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339.397MD</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+ 1.101P</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− 16,748.92T</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N</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N</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SARIMA(0,1,1)(0,0,1)12</a:t>
            </a:r>
            <a:endParaRPr lang="en-US" sz="1300" dirty="0"/>
          </a:p>
        </p:txBody>
      </p:sp>
      <p:pic>
        <p:nvPicPr>
          <p:cNvPr id="19" name="Figure image9.png" descr="SARIMAX Model figure">    </p:cNvPr>
          <p:cNvPicPr>
            <a:picLocks noChangeAspect="1"/>
          </p:cNvPicPr>
          <p:nvPr/>
        </p:nvPicPr>
        <p:blipFill>
          <a:blip r:embed="rId4"/>
          <a:stretch>
            <a:fillRect/>
          </a:stretch>
        </p:blipFill>
        <p:spPr>
          <a:xfrm>
            <a:off x="1038214" y="3104388"/>
            <a:ext cx="4644412" cy="2461260"/>
          </a:xfrm>
          <a:prstGeom prst="rect">
            <a:avLst/>
          </a:prstGeom>
        </p:spPr>
      </p:pic>
      <p:sp>
        <p:nvSpPr>
          <p:cNvPr id="20" name="Results card"/>
          <p:cNvSpPr/>
          <p:nvPr/>
        </p:nvSpPr>
        <p:spPr>
          <a:xfrm>
            <a:off x="6537960" y="1965960"/>
            <a:ext cx="5196535" cy="2309876"/>
          </a:xfrm>
          <a:prstGeom prst="roundRect">
            <a:avLst>
              <a:gd name="adj" fmla="val 3167"/>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1833880"/>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Selected model: SARIMAX(0,1,1)(0,0,1)12</a:t>
            </a:r>
            <a:endParaRPr lang="en-US" sz="1300" dirty="0"/>
          </a:p>
          <a:p>
            <a:pPr marL="177800" indent="-177800">
              <a:spcAft>
                <a:spcPts val="400"/>
              </a:spcAft>
              <a:buSzPct val="100000"/>
              <a:buChar char="•"/>
            </a:pPr>
            <a:r>
              <a:rPr lang="en-US" sz="1300" dirty="0">
                <a:solidFill>
                  <a:schemeClr val="tx1"/>
                </a:solidFill>
              </a:rPr>
              <a:t>AIC: 2121.549.</a:t>
            </a:r>
            <a:endParaRPr lang="en-US" sz="1300" dirty="0"/>
          </a:p>
          <a:p>
            <a:pPr marL="177800" indent="-177800">
              <a:spcAft>
                <a:spcPts val="400"/>
              </a:spcAft>
              <a:buSzPct val="100000"/>
              <a:buChar char="•"/>
            </a:pPr>
            <a:r>
              <a:rPr lang="en-US" sz="1300" dirty="0">
                <a:solidFill>
                  <a:schemeClr val="tx1"/>
                </a:solidFill>
              </a:rPr>
              <a:t>AICc: 2122.654.</a:t>
            </a:r>
            <a:endParaRPr lang="en-US" sz="1300" dirty="0"/>
          </a:p>
          <a:p>
            <a:pPr marL="177800" indent="-177800">
              <a:spcAft>
                <a:spcPts val="400"/>
              </a:spcAft>
              <a:buSzPct val="100000"/>
              <a:buChar char="•"/>
            </a:pPr>
            <a:r>
              <a:rPr lang="en-US" sz="1300" dirty="0">
                <a:solidFill>
                  <a:schemeClr val="tx1"/>
                </a:solidFill>
              </a:rPr>
              <a:t>Maximum demand: (p &lt;0.001).</a:t>
            </a:r>
            <a:endParaRPr lang="en-US" sz="1300" dirty="0"/>
          </a:p>
          <a:p>
            <a:pPr marL="177800" indent="-177800">
              <a:spcAft>
                <a:spcPts val="400"/>
              </a:spcAft>
              <a:buSzPct val="100000"/>
              <a:buChar char="•"/>
            </a:pPr>
            <a:r>
              <a:rPr lang="en-US" sz="1300" dirty="0">
                <a:solidFill>
                  <a:schemeClr val="tx1"/>
                </a:solidFill>
              </a:rPr>
              <a:t>Passenger traffic: (p &lt;0.001).</a:t>
            </a:r>
            <a:endParaRPr lang="en-US" sz="1300" dirty="0"/>
          </a:p>
          <a:p>
            <a:pPr marL="177800" indent="-177800">
              <a:spcAft>
                <a:spcPts val="400"/>
              </a:spcAft>
              <a:buSzPct val="100000"/>
              <a:buChar char="•"/>
            </a:pPr>
            <a:r>
              <a:rPr lang="en-US" sz="1300" dirty="0">
                <a:solidFill>
                  <a:schemeClr val="tx1"/>
                </a:solidFill>
              </a:rPr>
              <a:t>Temperature: (p =0.09437).</a:t>
            </a:r>
            <a:endParaRPr lang="en-US" sz="1300" dirty="0"/>
          </a:p>
          <a:p>
            <a:pPr marL="177800" indent="-177800">
              <a:spcAft>
                <a:spcPts val="400"/>
              </a:spcAft>
              <a:buSzPct val="100000"/>
              <a:buChar char="•"/>
            </a:pPr>
            <a:r>
              <a:rPr lang="en-US" sz="1300" dirty="0">
                <a:solidFill>
                  <a:schemeClr val="tx1"/>
                </a:solidFill>
              </a:rPr>
              <a:t>Ljung–Box: (p =0.84546).</a:t>
            </a:r>
            <a:endParaRPr lang="en-US" sz="1300" dirty="0"/>
          </a:p>
        </p:txBody>
      </p:sp>
      <p:sp>
        <p:nvSpPr>
          <p:cNvPr id="25" name="Discussion card"/>
          <p:cNvSpPr/>
          <p:nvPr/>
        </p:nvSpPr>
        <p:spPr>
          <a:xfrm>
            <a:off x="6537960" y="4412996"/>
            <a:ext cx="5196535" cy="1152652"/>
          </a:xfrm>
          <a:prstGeom prst="roundRect">
            <a:avLst>
              <a:gd name="adj" fmla="val 6346"/>
            </a:avLst>
          </a:prstGeom>
          <a:solidFill>
            <a:schemeClr val="accent6"/>
          </a:solidFill>
          <a:ln w="12700">
            <a:solidFill>
              <a:schemeClr val="accent6"/>
            </a:solidFill>
            <a:prstDash val="solid"/>
          </a:ln>
        </p:spPr>
      </p:sp>
      <p:sp>
        <p:nvSpPr>
          <p:cNvPr id="26" name="discussion badge"/>
          <p:cNvSpPr/>
          <p:nvPr/>
        </p:nvSpPr>
        <p:spPr>
          <a:xfrm>
            <a:off x="6702552" y="450443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568810"/>
            <a:ext cx="163860" cy="163860"/>
          </a:xfrm>
          <a:prstGeom prst="rect">
            <a:avLst/>
          </a:prstGeom>
        </p:spPr>
      </p:pic>
      <p:sp>
        <p:nvSpPr>
          <p:cNvPr id="28" name="Discussion heading"/>
          <p:cNvSpPr txBox="1"/>
          <p:nvPr/>
        </p:nvSpPr>
        <p:spPr>
          <a:xfrm>
            <a:off x="7086600" y="450443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870196"/>
            <a:ext cx="4830775" cy="622300"/>
          </a:xfrm>
          <a:prstGeom prst="rect">
            <a:avLst/>
          </a:prstGeom>
          <a:noFill/>
          <a:ln/>
        </p:spPr>
        <p:txBody>
          <a:bodyPr wrap="square" lIns="0" tIns="0" rIns="0" bIns="0" rtlCol="0" anchor="t"/>
          <a:lstStyle/>
          <a:p>
            <a:pPr indent="0" marL="0">
              <a:buNone/>
            </a:pPr>
            <a:r>
              <a:rPr lang="en-US" sz="1300" dirty="0">
                <a:solidFill>
                  <a:schemeClr val="tx1"/>
                </a:solidFill>
              </a:rPr>
              <a:t>Including airport variables reduced AIC by 36.189 relative to SARIMA. Maximum demand and passenger traffic were significant, while temperature provided limited additional information.</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 continued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ANN Residual Learner and Hybrid Construction</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The ANN supplied only a small residual correction.</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The ANN acted as a minor forecast correction rather than replacing the SARIMAX component.</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Analysis Basics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419100"/>
          </a:xfrm>
          <a:prstGeom prst="roundRect">
            <a:avLst>
              <a:gd name="adj" fmla="val 17455"/>
            </a:avLst>
          </a:prstGeom>
          <a:solidFill>
            <a:schemeClr val="accent5"/>
          </a:solidFill>
          <a:ln w="12700">
            <a:solidFill>
              <a:schemeClr val="accent5"/>
            </a:solidFill>
            <a:prstDash val="solid"/>
          </a:ln>
        </p:spPr>
      </p:sp>
      <p:sp>
        <p:nvSpPr>
          <p:cNvPr id="18" name="Equations"/>
          <p:cNvSpPr txBox="1"/>
          <p:nvPr/>
        </p:nvSpPr>
        <p:spPr>
          <a:xfrm>
            <a:off x="640080" y="2350008"/>
            <a:ext cx="5440680" cy="41910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Ŷ</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baseline="30000" dirty="0">
                <a:solidFill>
                  <a:schemeClr val="tx2"/>
                </a:solidFill>
                <a:latin typeface="Cambria" pitchFamily="34" charset="0"/>
                <a:ea typeface="Cambria" pitchFamily="34" charset="-122"/>
                <a:cs typeface="Cambria" pitchFamily="34" charset="-120"/>
              </a:rPr>
              <a:t>Hybrid</a:t>
            </a:r>
            <a:pPr indent="0" marL="0">
              <a:buNone/>
            </a:pPr>
            <a:r>
              <a:rPr lang="en-US" sz="1300" dirty="0">
                <a:solidFill>
                  <a:schemeClr val="tx2"/>
                </a:solidFill>
                <a:latin typeface="Cambria" pitchFamily="34" charset="0"/>
                <a:ea typeface="Cambria" pitchFamily="34" charset="-122"/>
                <a:cs typeface="Cambria" pitchFamily="34" charset="-120"/>
              </a:rPr>
              <a:t> = Ŷ</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baseline="30000" dirty="0">
                <a:solidFill>
                  <a:schemeClr val="tx2"/>
                </a:solidFill>
                <a:latin typeface="Cambria" pitchFamily="34" charset="0"/>
                <a:ea typeface="Cambria" pitchFamily="34" charset="-122"/>
                <a:cs typeface="Cambria" pitchFamily="34" charset="-120"/>
              </a:rPr>
              <a:t>SARIMAX</a:t>
            </a:r>
            <a:pPr indent="0" marL="0">
              <a:buNone/>
            </a:pPr>
            <a:r>
              <a:rPr lang="en-US" sz="1300" dirty="0">
                <a:solidFill>
                  <a:schemeClr val="tx2"/>
                </a:solidFill>
                <a:latin typeface="Cambria" pitchFamily="34" charset="0"/>
                <a:ea typeface="Cambria" pitchFamily="34" charset="-122"/>
                <a:cs typeface="Cambria" pitchFamily="34" charset="-120"/>
              </a:rPr>
              <a:t> + ê</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baseline="30000" dirty="0">
                <a:solidFill>
                  <a:schemeClr val="tx2"/>
                </a:solidFill>
                <a:latin typeface="Cambria" pitchFamily="34" charset="0"/>
                <a:ea typeface="Cambria" pitchFamily="34" charset="-122"/>
                <a:cs typeface="Cambria" pitchFamily="34" charset="-120"/>
              </a:rPr>
              <a:t>ANN</a:t>
            </a:r>
            <a:pPr indent="0" marL="0">
              <a:buNone/>
            </a:pPr>
            <a:r>
              <a:rPr lang="en-US" sz="1300" dirty="0">
                <a:solidFill>
                  <a:schemeClr val="tx2"/>
                </a:solidFill>
                <a:latin typeface="Cambria" pitchFamily="34" charset="0"/>
                <a:ea typeface="Cambria" pitchFamily="34" charset="-122"/>
                <a:cs typeface="Cambria" pitchFamily="34" charset="-120"/>
              </a:rPr>
              <a:t>        ê</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baseline="30000" dirty="0">
                <a:solidFill>
                  <a:schemeClr val="tx2"/>
                </a:solidFill>
                <a:latin typeface="Cambria" pitchFamily="34" charset="0"/>
                <a:ea typeface="Cambria" pitchFamily="34" charset="-122"/>
                <a:cs typeface="Cambria" pitchFamily="34" charset="-120"/>
              </a:rPr>
              <a:t>ANN</a:t>
            </a:r>
            <a:pPr indent="0" marL="0">
              <a:buNone/>
            </a:pPr>
            <a:r>
              <a:rPr lang="en-US" sz="1300" dirty="0">
                <a:solidFill>
                  <a:schemeClr val="tx2"/>
                </a:solidFill>
                <a:latin typeface="Cambria" pitchFamily="34" charset="0"/>
                <a:ea typeface="Cambria" pitchFamily="34" charset="-122"/>
                <a:cs typeface="Cambria" pitchFamily="34" charset="-120"/>
              </a:rPr>
              <a:t> = ANN(e</a:t>
            </a:r>
            <a:pPr indent="0" marL="0">
              <a:buNone/>
            </a:pPr>
            <a:r>
              <a:rPr lang="en-US" sz="1300" baseline="-40000" dirty="0">
                <a:solidFill>
                  <a:schemeClr val="tx2"/>
                </a:solidFill>
                <a:latin typeface="Cambria" pitchFamily="34" charset="0"/>
                <a:ea typeface="Cambria" pitchFamily="34" charset="-122"/>
                <a:cs typeface="Cambria" pitchFamily="34" charset="-120"/>
              </a:rPr>
              <a:t>t−1</a:t>
            </a:r>
            <a:pPr indent="0" marL="0">
              <a:buNone/>
            </a:pPr>
            <a:r>
              <a:rPr lang="en-US" sz="1300" dirty="0">
                <a:solidFill>
                  <a:schemeClr val="tx2"/>
                </a:solidFill>
                <a:latin typeface="Cambria" pitchFamily="34" charset="0"/>
                <a:ea typeface="Cambria" pitchFamily="34" charset="-122"/>
                <a:cs typeface="Cambria" pitchFamily="34" charset="-120"/>
              </a:rPr>
              <a:t>)</a:t>
            </a:r>
            <a:endParaRPr lang="en-US" sz="1300" dirty="0"/>
          </a:p>
        </p:txBody>
      </p:sp>
      <p:pic>
        <p:nvPicPr>
          <p:cNvPr id="19" name="Figure image10.png" descr="ANN Residual Learner and Hybrid Construction figure">    </p:cNvPr>
          <p:cNvPicPr>
            <a:picLocks noChangeAspect="1"/>
          </p:cNvPicPr>
          <p:nvPr/>
        </p:nvPicPr>
        <p:blipFill>
          <a:blip r:embed="rId4"/>
          <a:stretch>
            <a:fillRect/>
          </a:stretch>
        </p:blipFill>
        <p:spPr>
          <a:xfrm>
            <a:off x="788020" y="2906268"/>
            <a:ext cx="5144800" cy="2726436"/>
          </a:xfrm>
          <a:prstGeom prst="rect">
            <a:avLst/>
          </a:prstGeom>
        </p:spPr>
      </p:pic>
      <p:sp>
        <p:nvSpPr>
          <p:cNvPr id="20" name="Results card"/>
          <p:cNvSpPr/>
          <p:nvPr/>
        </p:nvSpPr>
        <p:spPr>
          <a:xfrm>
            <a:off x="6537960" y="1965960"/>
            <a:ext cx="5196535" cy="2135124"/>
          </a:xfrm>
          <a:prstGeom prst="roundRect">
            <a:avLst>
              <a:gd name="adj" fmla="val 3426"/>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16764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Selected architecture: ANN (1-1-1).</a:t>
            </a:r>
            <a:endParaRPr lang="en-US" sz="1400" dirty="0"/>
          </a:p>
          <a:p>
            <a:pPr marL="177800" indent="-177800">
              <a:spcAft>
                <a:spcPts val="400"/>
              </a:spcAft>
              <a:buSzPct val="100000"/>
              <a:buChar char="•"/>
            </a:pPr>
            <a:r>
              <a:rPr lang="en-US" sz="1400" dirty="0">
                <a:solidFill>
                  <a:schemeClr val="tx1"/>
                </a:solidFill>
              </a:rPr>
              <a:t>Input: one lagged SARIMAX residual.</a:t>
            </a:r>
            <a:endParaRPr lang="en-US" sz="1400" dirty="0"/>
          </a:p>
          <a:p>
            <a:pPr marL="177800" indent="-177800">
              <a:spcAft>
                <a:spcPts val="400"/>
              </a:spcAft>
              <a:buSzPct val="100000"/>
              <a:buChar char="•"/>
            </a:pPr>
            <a:r>
              <a:rPr lang="en-US" sz="1400" dirty="0">
                <a:solidFill>
                  <a:schemeClr val="tx1"/>
                </a:solidFill>
              </a:rPr>
              <a:t>Hidden layer: one neuron.</a:t>
            </a:r>
            <a:endParaRPr lang="en-US" sz="1400" dirty="0"/>
          </a:p>
          <a:p>
            <a:pPr marL="177800" indent="-177800">
              <a:spcAft>
                <a:spcPts val="400"/>
              </a:spcAft>
              <a:buSzPct val="100000"/>
              <a:buChar char="•"/>
            </a:pPr>
            <a:r>
              <a:rPr lang="en-US" sz="1400" dirty="0">
                <a:solidFill>
                  <a:schemeClr val="tx1"/>
                </a:solidFill>
              </a:rPr>
              <a:t>RMSE: 92,079.43 kWh.</a:t>
            </a:r>
            <a:endParaRPr lang="en-US" sz="1400" dirty="0"/>
          </a:p>
          <a:p>
            <a:pPr marL="177800" indent="-177800">
              <a:spcAft>
                <a:spcPts val="400"/>
              </a:spcAft>
              <a:buSzPct val="100000"/>
              <a:buChar char="•"/>
            </a:pPr>
            <a:r>
              <a:rPr lang="en-US" sz="1400" dirty="0">
                <a:solidFill>
                  <a:schemeClr val="tx1"/>
                </a:solidFill>
              </a:rPr>
              <a:t>MAE: 65,846.82 kWh.</a:t>
            </a:r>
            <a:endParaRPr lang="en-US" sz="1400" dirty="0"/>
          </a:p>
          <a:p>
            <a:pPr marL="177800" indent="-177800">
              <a:spcAft>
                <a:spcPts val="400"/>
              </a:spcAft>
              <a:buSzPct val="100000"/>
              <a:buChar char="•"/>
            </a:pPr>
            <a:r>
              <a:rPr lang="en-US" sz="1400" dirty="0">
                <a:solidFill>
                  <a:schemeClr val="tx1"/>
                </a:solidFill>
              </a:rPr>
              <a:t>Residual-prediction correlation: 0.0188.</a:t>
            </a:r>
            <a:endParaRPr lang="en-US" sz="1400" dirty="0"/>
          </a:p>
        </p:txBody>
      </p:sp>
      <p:sp>
        <p:nvSpPr>
          <p:cNvPr id="25" name="Discussion card"/>
          <p:cNvSpPr/>
          <p:nvPr/>
        </p:nvSpPr>
        <p:spPr>
          <a:xfrm>
            <a:off x="6537960" y="4238244"/>
            <a:ext cx="5196535" cy="1394460"/>
          </a:xfrm>
          <a:prstGeom prst="roundRect">
            <a:avLst>
              <a:gd name="adj" fmla="val 5246"/>
            </a:avLst>
          </a:prstGeom>
          <a:solidFill>
            <a:schemeClr val="accent6"/>
          </a:solidFill>
          <a:ln w="12700">
            <a:solidFill>
              <a:schemeClr val="accent6"/>
            </a:solidFill>
            <a:prstDash val="solid"/>
          </a:ln>
        </p:spPr>
      </p:sp>
      <p:sp>
        <p:nvSpPr>
          <p:cNvPr id="26" name="discussion badge"/>
          <p:cNvSpPr/>
          <p:nvPr/>
        </p:nvSpPr>
        <p:spPr>
          <a:xfrm>
            <a:off x="6702552" y="4329684"/>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394058"/>
            <a:ext cx="163860" cy="163860"/>
          </a:xfrm>
          <a:prstGeom prst="rect">
            <a:avLst/>
          </a:prstGeom>
        </p:spPr>
      </p:pic>
      <p:sp>
        <p:nvSpPr>
          <p:cNvPr id="28" name="Discussion heading"/>
          <p:cNvSpPr txBox="1"/>
          <p:nvPr/>
        </p:nvSpPr>
        <p:spPr>
          <a:xfrm>
            <a:off x="7086600" y="4329684"/>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695444"/>
            <a:ext cx="4830775" cy="864108"/>
          </a:xfrm>
          <a:prstGeom prst="rect">
            <a:avLst/>
          </a:prstGeom>
          <a:noFill/>
          <a:ln/>
        </p:spPr>
        <p:txBody>
          <a:bodyPr wrap="square" lIns="0" tIns="0" rIns="0" bIns="0" rtlCol="0" anchor="t"/>
          <a:lstStyle/>
          <a:p>
            <a:pPr indent="0" marL="0">
              <a:buNone/>
            </a:pPr>
            <a:r>
              <a:rPr lang="en-US" sz="1400" dirty="0">
                <a:solidFill>
                  <a:schemeClr val="tx1"/>
                </a:solidFill>
              </a:rPr>
              <a:t>The simplest ANN recorded the lowest internal-validation error. However, the very low residual-prediction correlation indicates that it captured little remaining residual structure.</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 continued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Validation Performance</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SARIMAX and Hybrid SARIMAX–ANN performed almost identically during validation</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Validation alone did not justify selecting the Hybrid model over SARIMAX.</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Analysis Basics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891540"/>
          </a:xfrm>
          <a:prstGeom prst="roundRect">
            <a:avLst>
              <a:gd name="adj" fmla="val 8205"/>
            </a:avLst>
          </a:prstGeom>
          <a:solidFill>
            <a:schemeClr val="accent5"/>
          </a:solidFill>
          <a:ln w="12700">
            <a:solidFill>
              <a:schemeClr val="accent5"/>
            </a:solidFill>
            <a:prstDash val="solid"/>
          </a:ln>
        </p:spPr>
      </p:sp>
      <p:sp>
        <p:nvSpPr>
          <p:cNvPr id="18" name="Equations"/>
          <p:cNvSpPr txBox="1"/>
          <p:nvPr/>
        </p:nvSpPr>
        <p:spPr>
          <a:xfrm>
            <a:off x="640080" y="2350008"/>
            <a:ext cx="5440680" cy="89154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RMSE = √[ (1/n) Σ</a:t>
            </a:r>
            <a:pPr indent="0" marL="0">
              <a:buNone/>
            </a:pPr>
            <a:r>
              <a:rPr lang="en-US" sz="1300" baseline="-40000" dirty="0">
                <a:solidFill>
                  <a:schemeClr val="tx2"/>
                </a:solidFill>
                <a:latin typeface="Cambria" pitchFamily="34" charset="0"/>
                <a:ea typeface="Cambria" pitchFamily="34" charset="-122"/>
                <a:cs typeface="Cambria" pitchFamily="34" charset="-120"/>
              </a:rPr>
              <a:t>t=1</a:t>
            </a:r>
            <a:pPr indent="0" marL="0">
              <a:buNone/>
            </a:pPr>
            <a:r>
              <a:rPr lang="en-US" sz="1300" baseline="30000" dirty="0">
                <a:solidFill>
                  <a:schemeClr val="tx2"/>
                </a:solidFill>
                <a:latin typeface="Cambria" pitchFamily="34" charset="0"/>
                <a:ea typeface="Cambria" pitchFamily="34" charset="-122"/>
                <a:cs typeface="Cambria" pitchFamily="34" charset="-120"/>
              </a:rPr>
              <a:t>n</a:t>
            </a:r>
            <a:pPr indent="0" marL="0">
              <a:buNone/>
            </a:pPr>
            <a:r>
              <a:rPr lang="en-US" sz="1300" dirty="0">
                <a:solidFill>
                  <a:schemeClr val="tx2"/>
                </a:solidFill>
                <a:latin typeface="Cambria" pitchFamily="34" charset="0"/>
                <a:ea typeface="Cambria" pitchFamily="34" charset="-122"/>
                <a:cs typeface="Cambria" pitchFamily="34" charset="-120"/>
              </a:rPr>
              <a:t> (Y</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Ŷ</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a:t>
            </a:r>
            <a:pPr indent="0" marL="0">
              <a:buNone/>
            </a:pPr>
            <a:r>
              <a:rPr lang="en-US" sz="1300" baseline="30000" dirty="0">
                <a:solidFill>
                  <a:schemeClr val="tx2"/>
                </a:solidFill>
                <a:latin typeface="Cambria" pitchFamily="34" charset="0"/>
                <a:ea typeface="Cambria" pitchFamily="34" charset="-122"/>
                <a:cs typeface="Cambria" pitchFamily="34" charset="-120"/>
              </a:rPr>
              <a:t>2</a:t>
            </a:r>
            <a:pPr indent="0" marL="0">
              <a:buNone/>
            </a:pPr>
            <a:r>
              <a:rPr lang="en-US" sz="1300" dirty="0">
                <a:solidFill>
                  <a:schemeClr val="tx2"/>
                </a:solidFill>
                <a:latin typeface="Cambria" pitchFamily="34" charset="0"/>
                <a:ea typeface="Cambria" pitchFamily="34" charset="-122"/>
                <a:cs typeface="Cambria" pitchFamily="34" charset="-120"/>
              </a:rPr>
              <a:t> ]</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MAE = (1/n) Σ</a:t>
            </a:r>
            <a:pPr indent="0" marL="0">
              <a:buNone/>
            </a:pPr>
            <a:r>
              <a:rPr lang="en-US" sz="1300" baseline="-40000" dirty="0">
                <a:solidFill>
                  <a:schemeClr val="tx2"/>
                </a:solidFill>
                <a:latin typeface="Cambria" pitchFamily="34" charset="0"/>
                <a:ea typeface="Cambria" pitchFamily="34" charset="-122"/>
                <a:cs typeface="Cambria" pitchFamily="34" charset="-120"/>
              </a:rPr>
              <a:t>t=1</a:t>
            </a:r>
            <a:pPr indent="0" marL="0">
              <a:buNone/>
            </a:pPr>
            <a:r>
              <a:rPr lang="en-US" sz="1300" baseline="30000" dirty="0">
                <a:solidFill>
                  <a:schemeClr val="tx2"/>
                </a:solidFill>
                <a:latin typeface="Cambria" pitchFamily="34" charset="0"/>
                <a:ea typeface="Cambria" pitchFamily="34" charset="-122"/>
                <a:cs typeface="Cambria" pitchFamily="34" charset="-120"/>
              </a:rPr>
              <a:t>n</a:t>
            </a:r>
            <a:pPr indent="0" marL="0">
              <a:buNone/>
            </a:pPr>
            <a:r>
              <a:rPr lang="en-US" sz="1300" dirty="0">
                <a:solidFill>
                  <a:schemeClr val="tx2"/>
                </a:solidFill>
                <a:latin typeface="Cambria" pitchFamily="34" charset="0"/>
                <a:ea typeface="Cambria" pitchFamily="34" charset="-122"/>
                <a:cs typeface="Cambria" pitchFamily="34" charset="-120"/>
              </a:rPr>
              <a:t> |Y</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Ŷ</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MAPE = (100/n) Σ</a:t>
            </a:r>
            <a:pPr indent="0" marL="0">
              <a:buNone/>
            </a:pPr>
            <a:r>
              <a:rPr lang="en-US" sz="1300" baseline="-40000" dirty="0">
                <a:solidFill>
                  <a:schemeClr val="tx2"/>
                </a:solidFill>
                <a:latin typeface="Cambria" pitchFamily="34" charset="0"/>
                <a:ea typeface="Cambria" pitchFamily="34" charset="-122"/>
                <a:cs typeface="Cambria" pitchFamily="34" charset="-120"/>
              </a:rPr>
              <a:t>t=1</a:t>
            </a:r>
            <a:pPr indent="0" marL="0">
              <a:buNone/>
            </a:pPr>
            <a:r>
              <a:rPr lang="en-US" sz="1300" baseline="30000" dirty="0">
                <a:solidFill>
                  <a:schemeClr val="tx2"/>
                </a:solidFill>
                <a:latin typeface="Cambria" pitchFamily="34" charset="0"/>
                <a:ea typeface="Cambria" pitchFamily="34" charset="-122"/>
                <a:cs typeface="Cambria" pitchFamily="34" charset="-120"/>
              </a:rPr>
              <a:t>n</a:t>
            </a:r>
            <a:pPr indent="0" marL="0">
              <a:buNone/>
            </a:pPr>
            <a:r>
              <a:rPr lang="en-US" sz="1300" dirty="0">
                <a:solidFill>
                  <a:schemeClr val="tx2"/>
                </a:solidFill>
                <a:latin typeface="Cambria" pitchFamily="34" charset="0"/>
                <a:ea typeface="Cambria" pitchFamily="34" charset="-122"/>
                <a:cs typeface="Cambria" pitchFamily="34" charset="-120"/>
              </a:rPr>
              <a:t> |(Y</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Ŷ</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Y</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a:t>
            </a:r>
            <a:endParaRPr lang="en-US" sz="1300" dirty="0"/>
          </a:p>
        </p:txBody>
      </p:sp>
      <p:graphicFrame>
        <p:nvGraphicFramePr>
          <p:cNvPr id="14" name="Basis table 1"/>
          <p:cNvGraphicFramePr>
            <a:graphicFrameLocks noGrp="1"/>
          </p:cNvGraphicFramePr>
          <p:nvPr>
            <p:extLst>
              <p:ext uri="{D42A27DB-BD31-4B8C-83A1-F6EECF244321}">
                <p14:modId xmlns:p14="http://schemas.microsoft.com/office/powerpoint/2010/main" val="1579011935"/>
              </p:ext>
            </p:extLst>
          </p:nvPr>
        </p:nvGraphicFramePr>
        <p:xfrm>
          <a:off x="457200" y="3378708"/>
          <a:ext cx="5806440" cy="914400"/>
        </p:xfrm>
        <a:graphic>
          <a:graphicData uri="http://schemas.openxmlformats.org/drawingml/2006/table">
            <a:tbl>
              <a:tblPr/>
              <a:tblGrid>
                <a:gridCol w="1935480"/>
                <a:gridCol w="1935480"/>
                <a:gridCol w="1935480"/>
              </a:tblGrid>
              <a:tr h="0">
                <a:tc>
                  <a:txBody>
                    <a:bodyPr/>
                    <a:lstStyle/>
                    <a:p>
                      <a:pPr algn="l" indent="0" marL="0">
                        <a:buNone/>
                      </a:pPr>
                      <a:r>
                        <a:rPr lang="en-US" sz="1200" b="1" dirty="0">
                          <a:solidFill>
                            <a:schemeClr val="bg1"/>
                          </a:solidFill>
                        </a:rPr>
                        <a:t>Measure</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SARIMAX</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Hybrid</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00" dirty="0">
                          <a:solidFill>
                            <a:schemeClr val="tx1"/>
                          </a:solidFill>
                        </a:rPr>
                        <a:t>RMSE (kWh)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282,155.61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282,169.57</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MAE (kWh)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138,517.31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138,446.70</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200" dirty="0">
                          <a:solidFill>
                            <a:schemeClr val="tx1"/>
                          </a:solidFill>
                        </a:rPr>
                        <a:t>MAPE (%)</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225.37</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225.40</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R</a:t>
                      </a:r>
                      <a:pPr algn="l" indent="0" marL="0">
                        <a:buNone/>
                      </a:pPr>
                      <a:r>
                        <a:rPr lang="en-US" sz="1200" baseline="30000" dirty="0">
                          <a:solidFill>
                            <a:schemeClr val="tx1"/>
                          </a:solidFill>
                        </a:rPr>
                        <a:t>2</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−0.0158</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−0.0159</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0" name="Results card"/>
          <p:cNvSpPr/>
          <p:nvPr/>
        </p:nvSpPr>
        <p:spPr>
          <a:xfrm>
            <a:off x="6537960" y="1965960"/>
            <a:ext cx="5196535" cy="1738884"/>
          </a:xfrm>
          <a:prstGeom prst="roundRect">
            <a:avLst>
              <a:gd name="adj" fmla="val 4207"/>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4"/>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8839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Ljung–Box (p): 0.0712 and 0.0716.</a:t>
            </a:r>
            <a:endParaRPr lang="en-US" sz="1400" dirty="0"/>
          </a:p>
          <a:p>
            <a:pPr marL="177800" indent="-177800">
              <a:spcAft>
                <a:spcPts val="400"/>
              </a:spcAft>
              <a:buSzPct val="100000"/>
              <a:buChar char="•"/>
            </a:pPr>
            <a:r>
              <a:rPr lang="en-US" sz="1400" dirty="0">
                <a:solidFill>
                  <a:schemeClr val="tx1"/>
                </a:solidFill>
              </a:rPr>
              <a:t>Hybrid lag-1 ACF: 0.615.</a:t>
            </a:r>
            <a:endParaRPr lang="en-US" sz="1400" dirty="0"/>
          </a:p>
          <a:p>
            <a:pPr marL="177800" indent="-177800">
              <a:spcAft>
                <a:spcPts val="400"/>
              </a:spcAft>
              <a:buSzPct val="100000"/>
              <a:buChar char="•"/>
            </a:pPr>
            <a:r>
              <a:rPr lang="en-US" sz="1400" dirty="0">
                <a:solidFill>
                  <a:schemeClr val="tx1"/>
                </a:solidFill>
              </a:rPr>
              <a:t>Approximate confidence limits: ±0.400</a:t>
            </a:r>
            <a:endParaRPr lang="en-US" sz="1400" dirty="0"/>
          </a:p>
        </p:txBody>
      </p:sp>
      <p:sp>
        <p:nvSpPr>
          <p:cNvPr id="25" name="Discussion card"/>
          <p:cNvSpPr/>
          <p:nvPr/>
        </p:nvSpPr>
        <p:spPr>
          <a:xfrm>
            <a:off x="6537960" y="3842004"/>
            <a:ext cx="5196535" cy="1790700"/>
          </a:xfrm>
          <a:prstGeom prst="roundRect">
            <a:avLst>
              <a:gd name="adj" fmla="val 4085"/>
            </a:avLst>
          </a:prstGeom>
          <a:solidFill>
            <a:schemeClr val="accent6"/>
          </a:solidFill>
          <a:ln w="12700">
            <a:solidFill>
              <a:schemeClr val="accent6"/>
            </a:solidFill>
            <a:prstDash val="solid"/>
          </a:ln>
        </p:spPr>
      </p:sp>
      <p:sp>
        <p:nvSpPr>
          <p:cNvPr id="26" name="discussion badge"/>
          <p:cNvSpPr/>
          <p:nvPr/>
        </p:nvSpPr>
        <p:spPr>
          <a:xfrm>
            <a:off x="6702552" y="3933444"/>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5"/>
          <a:stretch>
            <a:fillRect/>
          </a:stretch>
        </p:blipFill>
        <p:spPr>
          <a:xfrm>
            <a:off x="6766926" y="3997818"/>
            <a:ext cx="163860" cy="163860"/>
          </a:xfrm>
          <a:prstGeom prst="rect">
            <a:avLst/>
          </a:prstGeom>
        </p:spPr>
      </p:pic>
      <p:sp>
        <p:nvSpPr>
          <p:cNvPr id="28" name="Discussion heading"/>
          <p:cNvSpPr txBox="1"/>
          <p:nvPr/>
        </p:nvSpPr>
        <p:spPr>
          <a:xfrm>
            <a:off x="7086600" y="3933444"/>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299204"/>
            <a:ext cx="4830775" cy="1260348"/>
          </a:xfrm>
          <a:prstGeom prst="rect">
            <a:avLst/>
          </a:prstGeom>
          <a:noFill/>
          <a:ln/>
        </p:spPr>
        <p:txBody>
          <a:bodyPr wrap="square" lIns="0" tIns="0" rIns="0" bIns="0" rtlCol="0" anchor="t"/>
          <a:lstStyle/>
          <a:p>
            <a:pPr indent="0" marL="0">
              <a:buNone/>
            </a:pPr>
            <a:r>
              <a:rPr lang="en-US" sz="1400" dirty="0">
                <a:solidFill>
                  <a:schemeClr val="tx1"/>
                </a:solidFill>
              </a:rPr>
              <a:t>The ANN correction produced no material validation improvement. The overall Ljung–Box tests were not significant at 5%, but the Hybrid lag-1 ACF indicated remaining short-term dependence..</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 continued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Sensitivity to October–November 2022</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wo unusually low observations strongly influenced the validation statistics</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observations were retained in the principal analysis because they were part of the recorded dataset; the sensitivity analysis was used only to explain their influence.</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853440"/>
          </a:xfrm>
          <a:prstGeom prst="roundRect">
            <a:avLst>
              <a:gd name="adj" fmla="val 8571"/>
            </a:avLst>
          </a:prstGeom>
          <a:solidFill>
            <a:schemeClr val="accent5"/>
          </a:solidFill>
          <a:ln w="12700">
            <a:solidFill>
              <a:schemeClr val="accent5"/>
            </a:solidFill>
            <a:prstDash val="solid"/>
          </a:ln>
        </p:spPr>
      </p:sp>
      <p:sp>
        <p:nvSpPr>
          <p:cNvPr id="18" name="Equations"/>
          <p:cNvSpPr txBox="1"/>
          <p:nvPr/>
        </p:nvSpPr>
        <p:spPr>
          <a:xfrm>
            <a:off x="640080" y="2350008"/>
            <a:ext cx="5440680" cy="85344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n</a:t>
            </a:r>
            <a:pPr indent="0" marL="0">
              <a:buNone/>
            </a:pPr>
            <a:r>
              <a:rPr lang="en-US" sz="1300" baseline="-40000" dirty="0">
                <a:solidFill>
                  <a:schemeClr val="tx2"/>
                </a:solidFill>
                <a:latin typeface="Cambria" pitchFamily="34" charset="0"/>
                <a:ea typeface="Cambria" pitchFamily="34" charset="-122"/>
                <a:cs typeface="Cambria" pitchFamily="34" charset="-120"/>
              </a:rPr>
              <a:t>s</a:t>
            </a:r>
            <a:pPr indent="0" marL="0">
              <a:buNone/>
            </a:pPr>
            <a:r>
              <a:rPr lang="en-US" sz="1300" dirty="0">
                <a:solidFill>
                  <a:schemeClr val="tx2"/>
                </a:solidFill>
                <a:latin typeface="Cambria" pitchFamily="34" charset="0"/>
                <a:ea typeface="Cambria" pitchFamily="34" charset="-122"/>
                <a:cs typeface="Cambria" pitchFamily="34" charset="-120"/>
              </a:rPr>
              <a:t> = 24 − 2 = 22</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Metrics were recalculated for 22 observations after temporarily excluding October and November 2022</a:t>
            </a:r>
            <a:endParaRPr lang="en-US" sz="1300" dirty="0"/>
          </a:p>
        </p:txBody>
      </p:sp>
      <p:graphicFrame>
        <p:nvGraphicFramePr>
          <p:cNvPr id="15" name="Basis table 1"/>
          <p:cNvGraphicFramePr>
            <a:graphicFrameLocks noGrp="1"/>
          </p:cNvGraphicFramePr>
          <p:nvPr>
            <p:extLst>
              <p:ext uri="{D42A27DB-BD31-4B8C-83A1-F6EECF244321}">
                <p14:modId xmlns:p14="http://schemas.microsoft.com/office/powerpoint/2010/main" val="1579011935"/>
              </p:ext>
            </p:extLst>
          </p:nvPr>
        </p:nvGraphicFramePr>
        <p:xfrm>
          <a:off x="457200" y="3340608"/>
          <a:ext cx="5806440" cy="914400"/>
        </p:xfrm>
        <a:graphic>
          <a:graphicData uri="http://schemas.openxmlformats.org/drawingml/2006/table">
            <a:tbl>
              <a:tblPr/>
              <a:tblGrid>
                <a:gridCol w="1935480"/>
                <a:gridCol w="1935480"/>
                <a:gridCol w="1935480"/>
              </a:tblGrid>
              <a:tr h="0">
                <a:tc>
                  <a:txBody>
                    <a:bodyPr/>
                    <a:lstStyle/>
                    <a:p>
                      <a:pPr algn="l" indent="0" marL="0">
                        <a:buNone/>
                      </a:pPr>
                      <a:r>
                        <a:rPr lang="en-US" sz="1200" b="1" dirty="0">
                          <a:solidFill>
                            <a:schemeClr val="bg1"/>
                          </a:solidFill>
                        </a:rPr>
                        <a:t>Measure</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SARIMAX</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Hybrid</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00" dirty="0">
                          <a:solidFill>
                            <a:schemeClr val="tx1"/>
                          </a:solidFill>
                        </a:rPr>
                        <a:t>RMSE (kWh)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115,619.53</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118,061.65</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MAE (kWh)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69,398.55</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71,450.38</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200" dirty="0">
                          <a:solidFill>
                            <a:schemeClr val="tx1"/>
                          </a:solidFill>
                        </a:rPr>
                        <a:t>MAPE (%)</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10.31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10.61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R</a:t>
                      </a:r>
                      <a:pPr algn="l" indent="0" marL="0">
                        <a:buNone/>
                      </a:pPr>
                      <a:r>
                        <a:rPr lang="en-US" sz="1200" baseline="30000" dirty="0">
                          <a:solidFill>
                            <a:schemeClr val="tx1"/>
                          </a:solidFill>
                        </a:rPr>
                        <a:t>2</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0.3486</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0.3208</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0" name="Results card"/>
          <p:cNvSpPr/>
          <p:nvPr/>
        </p:nvSpPr>
        <p:spPr>
          <a:xfrm>
            <a:off x="6537960" y="1965960"/>
            <a:ext cx="5196535" cy="1573276"/>
          </a:xfrm>
          <a:prstGeom prst="roundRect">
            <a:avLst>
              <a:gd name="adj" fmla="val 4650"/>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4"/>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6197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October 2022 actual demand: 34,691 kWh.</a:t>
            </a:r>
            <a:endParaRPr lang="en-US" sz="1400" dirty="0"/>
          </a:p>
          <a:p>
            <a:pPr marL="177800" indent="-177800">
              <a:spcAft>
                <a:spcPts val="400"/>
              </a:spcAft>
              <a:buSzPct val="100000"/>
              <a:buChar char="•"/>
            </a:pPr>
            <a:r>
              <a:rPr lang="en-US" sz="1400" dirty="0">
                <a:solidFill>
                  <a:schemeClr val="tx1"/>
                </a:solidFill>
              </a:rPr>
              <a:t>November 2022 actual demand: 34,690 kWh</a:t>
            </a:r>
            <a:endParaRPr lang="en-US" sz="1400" dirty="0"/>
          </a:p>
        </p:txBody>
      </p:sp>
      <p:sp>
        <p:nvSpPr>
          <p:cNvPr id="25" name="Discussion card"/>
          <p:cNvSpPr/>
          <p:nvPr/>
        </p:nvSpPr>
        <p:spPr>
          <a:xfrm>
            <a:off x="6537960" y="3676396"/>
            <a:ext cx="5196535" cy="1889252"/>
          </a:xfrm>
          <a:prstGeom prst="roundRect">
            <a:avLst>
              <a:gd name="adj" fmla="val 3872"/>
            </a:avLst>
          </a:prstGeom>
          <a:solidFill>
            <a:schemeClr val="accent6"/>
          </a:solidFill>
          <a:ln w="12700">
            <a:solidFill>
              <a:schemeClr val="accent6"/>
            </a:solidFill>
            <a:prstDash val="solid"/>
          </a:ln>
        </p:spPr>
      </p:sp>
      <p:sp>
        <p:nvSpPr>
          <p:cNvPr id="26" name="discussion badge"/>
          <p:cNvSpPr/>
          <p:nvPr/>
        </p:nvSpPr>
        <p:spPr>
          <a:xfrm>
            <a:off x="6702552" y="376783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5"/>
          <a:stretch>
            <a:fillRect/>
          </a:stretch>
        </p:blipFill>
        <p:spPr>
          <a:xfrm>
            <a:off x="6766926" y="3832210"/>
            <a:ext cx="163860" cy="163860"/>
          </a:xfrm>
          <a:prstGeom prst="rect">
            <a:avLst/>
          </a:prstGeom>
        </p:spPr>
      </p:pic>
      <p:sp>
        <p:nvSpPr>
          <p:cNvPr id="28" name="Discussion heading"/>
          <p:cNvSpPr txBox="1"/>
          <p:nvPr/>
        </p:nvSpPr>
        <p:spPr>
          <a:xfrm>
            <a:off x="7086600" y="376783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133596"/>
            <a:ext cx="4830775" cy="1358900"/>
          </a:xfrm>
          <a:prstGeom prst="rect">
            <a:avLst/>
          </a:prstGeom>
          <a:noFill/>
          <a:ln/>
        </p:spPr>
        <p:txBody>
          <a:bodyPr wrap="square" lIns="0" tIns="0" rIns="0" bIns="0" rtlCol="0" anchor="t"/>
          <a:lstStyle/>
          <a:p>
            <a:pPr indent="0" marL="0">
              <a:buNone/>
            </a:pPr>
            <a:r>
              <a:rPr lang="en-US" sz="1400" dirty="0">
                <a:solidFill>
                  <a:schemeClr val="tx1"/>
                </a:solidFill>
              </a:rPr>
              <a:t>The low actual values strongly inflated MAPE because percentage error is divided by actual demand. After their temporary exclusion, all performance measures improved substantially.</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2 continued</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Overall Finding for Objective Two</a:t>
            </a:r>
            <a:endParaRPr lang="en-US" sz="2600" dirty="0"/>
          </a:p>
        </p:txBody>
      </p:sp>
      <p:sp>
        <p:nvSpPr>
          <p:cNvPr id="4" name="Main finding banner"/>
          <p:cNvSpPr/>
          <p:nvPr/>
        </p:nvSpPr>
        <p:spPr>
          <a:xfrm>
            <a:off x="457200" y="1188720"/>
            <a:ext cx="11277295" cy="548640"/>
          </a:xfrm>
          <a:prstGeom prst="roundRect">
            <a:avLst>
              <a:gd name="adj" fmla="val 13333"/>
            </a:avLst>
          </a:prstGeom>
          <a:solidFill>
            <a:schemeClr val="bg2"/>
          </a:solidFill>
          <a:ln w="12700">
            <a:solidFill>
              <a:schemeClr val="bg2"/>
            </a:solidFill>
            <a:prstDash val="solid"/>
          </a:ln>
        </p:spPr>
      </p:sp>
      <p:sp>
        <p:nvSpPr>
          <p:cNvPr id="5" name="finding badge"/>
          <p:cNvSpPr/>
          <p:nvPr/>
        </p:nvSpPr>
        <p:spPr>
          <a:xfrm>
            <a:off x="594360" y="1307592"/>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375989"/>
            <a:ext cx="174102" cy="174102"/>
          </a:xfrm>
          <a:prstGeom prst="rect">
            <a:avLst/>
          </a:prstGeom>
        </p:spPr>
      </p:pic>
      <p:sp>
        <p:nvSpPr>
          <p:cNvPr id="7" name="Main finding label"/>
          <p:cNvSpPr txBox="1"/>
          <p:nvPr/>
        </p:nvSpPr>
        <p:spPr>
          <a:xfrm>
            <a:off x="969264" y="1188720"/>
            <a:ext cx="960120" cy="548640"/>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548640"/>
          </a:xfrm>
          <a:prstGeom prst="rect">
            <a:avLst/>
          </a:prstGeom>
          <a:noFill/>
          <a:ln/>
        </p:spPr>
        <p:txBody>
          <a:bodyPr wrap="square" lIns="0" tIns="0" rIns="0" bIns="0" rtlCol="0" anchor="ctr"/>
          <a:lstStyle/>
          <a:p>
            <a:pPr indent="0" marL="0">
              <a:buNone/>
            </a:pPr>
            <a:r>
              <a:rPr lang="en-US" sz="1500" b="1" dirty="0">
                <a:solidFill>
                  <a:schemeClr val="tx2"/>
                </a:solidFill>
              </a:rPr>
              <a:t>SARIMAX captured most of the predictable demand structure.</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Model decision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Validation did not clearly distinguish SARIMAX from the Hybrid model. Final selection therefore required independent testing under Objective Three.</a:t>
            </a:r>
            <a:endParaRPr lang="en-US" sz="1300" dirty="0"/>
          </a:p>
        </p:txBody>
      </p:sp>
      <p:sp>
        <p:nvSpPr>
          <p:cNvPr id="14" name="Basis heading"/>
          <p:cNvSpPr txBox="1"/>
          <p:nvPr/>
        </p:nvSpPr>
        <p:spPr>
          <a:xfrm>
            <a:off x="841248" y="1965960"/>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Hybrid structure</a:t>
            </a:r>
            <a:endParaRPr lang="en-US" sz="1500" dirty="0"/>
          </a:p>
        </p:txBody>
      </p:sp>
      <p:sp>
        <p:nvSpPr>
          <p:cNvPr id="15" name="basis badge"/>
          <p:cNvSpPr/>
          <p:nvPr/>
        </p:nvSpPr>
        <p:spPr>
          <a:xfrm>
            <a:off x="457200" y="1965960"/>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030334"/>
            <a:ext cx="163860" cy="163860"/>
          </a:xfrm>
          <a:prstGeom prst="rect">
            <a:avLst/>
          </a:prstGeom>
        </p:spPr>
      </p:pic>
      <p:sp>
        <p:nvSpPr>
          <p:cNvPr id="17" name="Equation panel"/>
          <p:cNvSpPr/>
          <p:nvPr/>
        </p:nvSpPr>
        <p:spPr>
          <a:xfrm>
            <a:off x="457200" y="2350008"/>
            <a:ext cx="5806440" cy="419100"/>
          </a:xfrm>
          <a:prstGeom prst="roundRect">
            <a:avLst>
              <a:gd name="adj" fmla="val 17455"/>
            </a:avLst>
          </a:prstGeom>
          <a:solidFill>
            <a:schemeClr val="accent5"/>
          </a:solidFill>
          <a:ln w="12700">
            <a:solidFill>
              <a:schemeClr val="accent5"/>
            </a:solidFill>
            <a:prstDash val="solid"/>
          </a:ln>
        </p:spPr>
      </p:sp>
      <p:sp>
        <p:nvSpPr>
          <p:cNvPr id="18" name="Equations"/>
          <p:cNvSpPr txBox="1"/>
          <p:nvPr/>
        </p:nvSpPr>
        <p:spPr>
          <a:xfrm>
            <a:off x="640080" y="2350008"/>
            <a:ext cx="5440680" cy="41910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Ŷ</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baseline="30000" dirty="0">
                <a:solidFill>
                  <a:schemeClr val="tx2"/>
                </a:solidFill>
                <a:latin typeface="Cambria" pitchFamily="34" charset="0"/>
                <a:ea typeface="Cambria" pitchFamily="34" charset="-122"/>
                <a:cs typeface="Cambria" pitchFamily="34" charset="-120"/>
              </a:rPr>
              <a:t>Hybrid</a:t>
            </a:r>
            <a:pPr indent="0" marL="0">
              <a:buNone/>
            </a:pPr>
            <a:r>
              <a:rPr lang="en-US" sz="1300" dirty="0">
                <a:solidFill>
                  <a:schemeClr val="tx2"/>
                </a:solidFill>
                <a:latin typeface="Cambria" pitchFamily="34" charset="0"/>
                <a:ea typeface="Cambria" pitchFamily="34" charset="-122"/>
                <a:cs typeface="Cambria" pitchFamily="34" charset="-120"/>
              </a:rPr>
              <a:t> = Ŷ</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baseline="30000" dirty="0">
                <a:solidFill>
                  <a:schemeClr val="tx2"/>
                </a:solidFill>
                <a:latin typeface="Cambria" pitchFamily="34" charset="0"/>
                <a:ea typeface="Cambria" pitchFamily="34" charset="-122"/>
                <a:cs typeface="Cambria" pitchFamily="34" charset="-120"/>
              </a:rPr>
              <a:t>SARIMAX</a:t>
            </a:r>
            <a:pPr indent="0" marL="0">
              <a:buNone/>
            </a:pPr>
            <a:r>
              <a:rPr lang="en-US" sz="1300" dirty="0">
                <a:solidFill>
                  <a:schemeClr val="tx2"/>
                </a:solidFill>
                <a:latin typeface="Cambria" pitchFamily="34" charset="0"/>
                <a:ea typeface="Cambria" pitchFamily="34" charset="-122"/>
                <a:cs typeface="Cambria" pitchFamily="34" charset="-120"/>
              </a:rPr>
              <a:t> + ê</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baseline="30000" dirty="0">
                <a:solidFill>
                  <a:schemeClr val="tx2"/>
                </a:solidFill>
                <a:latin typeface="Cambria" pitchFamily="34" charset="0"/>
                <a:ea typeface="Cambria" pitchFamily="34" charset="-122"/>
                <a:cs typeface="Cambria" pitchFamily="34" charset="-120"/>
              </a:rPr>
              <a:t>ANN</a:t>
            </a:r>
            <a:endParaRPr lang="en-US" sz="1300" dirty="0"/>
          </a:p>
        </p:txBody>
      </p:sp>
      <p:pic>
        <p:nvPicPr>
          <p:cNvPr id="19" name="Figure image11.png" descr="Overall Finding for Objective Two figure">    </p:cNvPr>
          <p:cNvPicPr>
            <a:picLocks noChangeAspect="1"/>
          </p:cNvPicPr>
          <p:nvPr/>
        </p:nvPicPr>
        <p:blipFill>
          <a:blip r:embed="rId4"/>
          <a:stretch>
            <a:fillRect/>
          </a:stretch>
        </p:blipFill>
        <p:spPr>
          <a:xfrm>
            <a:off x="851287" y="2906268"/>
            <a:ext cx="5018265" cy="2659380"/>
          </a:xfrm>
          <a:prstGeom prst="rect">
            <a:avLst/>
          </a:prstGeom>
        </p:spPr>
      </p:pic>
      <p:sp>
        <p:nvSpPr>
          <p:cNvPr id="20" name="Results card"/>
          <p:cNvSpPr/>
          <p:nvPr/>
        </p:nvSpPr>
        <p:spPr>
          <a:xfrm>
            <a:off x="6537960" y="1965960"/>
            <a:ext cx="5196535" cy="2076196"/>
          </a:xfrm>
          <a:prstGeom prst="roundRect">
            <a:avLst>
              <a:gd name="adj" fmla="val 3523"/>
            </a:avLst>
          </a:prstGeom>
          <a:solidFill>
            <a:schemeClr val="bg2"/>
          </a:solidFill>
          <a:ln w="12700">
            <a:solidFill>
              <a:schemeClr val="bg2"/>
            </a:solidFill>
            <a:prstDash val="solid"/>
          </a:ln>
        </p:spPr>
      </p:sp>
      <p:sp>
        <p:nvSpPr>
          <p:cNvPr id="21" name="results badge"/>
          <p:cNvSpPr/>
          <p:nvPr/>
        </p:nvSpPr>
        <p:spPr>
          <a:xfrm>
            <a:off x="6702552" y="2057400"/>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121774"/>
            <a:ext cx="163860" cy="163860"/>
          </a:xfrm>
          <a:prstGeom prst="rect">
            <a:avLst/>
          </a:prstGeom>
        </p:spPr>
      </p:pic>
      <p:sp>
        <p:nvSpPr>
          <p:cNvPr id="23" name="Results heading"/>
          <p:cNvSpPr txBox="1"/>
          <p:nvPr/>
        </p:nvSpPr>
        <p:spPr>
          <a:xfrm>
            <a:off x="7086600" y="2057400"/>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423160"/>
            <a:ext cx="4830775" cy="1625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External-variable regression R² =0.5664.</a:t>
            </a:r>
            <a:endParaRPr lang="en-US" sz="1400" dirty="0"/>
          </a:p>
          <a:p>
            <a:pPr marL="177800" indent="-177800">
              <a:spcAft>
                <a:spcPts val="400"/>
              </a:spcAft>
              <a:buSzPct val="100000"/>
              <a:buChar char="•"/>
            </a:pPr>
            <a:r>
              <a:rPr lang="en-US" sz="1400" dirty="0">
                <a:solidFill>
                  <a:schemeClr val="tx1"/>
                </a:solidFill>
              </a:rPr>
              <a:t>Selected SARIMAX AIC: 2121.549.</a:t>
            </a:r>
            <a:endParaRPr lang="en-US" sz="1400" dirty="0"/>
          </a:p>
          <a:p>
            <a:pPr marL="177800" indent="-177800">
              <a:spcAft>
                <a:spcPts val="400"/>
              </a:spcAft>
              <a:buSzPct val="100000"/>
              <a:buChar char="•"/>
            </a:pPr>
            <a:r>
              <a:rPr lang="en-US" sz="1400" dirty="0">
                <a:solidFill>
                  <a:schemeClr val="tx1"/>
                </a:solidFill>
              </a:rPr>
              <a:t>ANN residual-prediction correlation: 0.0188.</a:t>
            </a:r>
            <a:endParaRPr lang="en-US" sz="1400" dirty="0"/>
          </a:p>
          <a:p>
            <a:pPr marL="177800" indent="-177800">
              <a:spcAft>
                <a:spcPts val="400"/>
              </a:spcAft>
              <a:buSzPct val="100000"/>
              <a:buChar char="•"/>
            </a:pPr>
            <a:r>
              <a:rPr lang="en-US" sz="1400" dirty="0">
                <a:solidFill>
                  <a:schemeClr val="tx1"/>
                </a:solidFill>
              </a:rPr>
              <a:t>SARIMAX and Hybrid validation performance was nearly identical.</a:t>
            </a:r>
            <a:endParaRPr lang="en-US" sz="1400" dirty="0"/>
          </a:p>
          <a:p>
            <a:pPr marL="177800" indent="-177800">
              <a:spcAft>
                <a:spcPts val="400"/>
              </a:spcAft>
              <a:buSzPct val="100000"/>
              <a:buChar char="•"/>
            </a:pPr>
            <a:r>
              <a:rPr lang="en-US" sz="1400" dirty="0">
                <a:solidFill>
                  <a:schemeClr val="tx1"/>
                </a:solidFill>
              </a:rPr>
              <a:t>Both models proceeded to independent 2024–2025 testing.</a:t>
            </a:r>
            <a:endParaRPr lang="en-US" sz="1400" dirty="0"/>
          </a:p>
        </p:txBody>
      </p:sp>
      <p:sp>
        <p:nvSpPr>
          <p:cNvPr id="25" name="Discussion card"/>
          <p:cNvSpPr/>
          <p:nvPr/>
        </p:nvSpPr>
        <p:spPr>
          <a:xfrm>
            <a:off x="6537960" y="4179316"/>
            <a:ext cx="5196535" cy="1386332"/>
          </a:xfrm>
          <a:prstGeom prst="roundRect">
            <a:avLst>
              <a:gd name="adj" fmla="val 5277"/>
            </a:avLst>
          </a:prstGeom>
          <a:solidFill>
            <a:schemeClr val="accent6"/>
          </a:solidFill>
          <a:ln w="12700">
            <a:solidFill>
              <a:schemeClr val="accent6"/>
            </a:solidFill>
            <a:prstDash val="solid"/>
          </a:ln>
        </p:spPr>
      </p:sp>
      <p:sp>
        <p:nvSpPr>
          <p:cNvPr id="26" name="discussion badge"/>
          <p:cNvSpPr/>
          <p:nvPr/>
        </p:nvSpPr>
        <p:spPr>
          <a:xfrm>
            <a:off x="6702552" y="427075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335130"/>
            <a:ext cx="163860" cy="163860"/>
          </a:xfrm>
          <a:prstGeom prst="rect">
            <a:avLst/>
          </a:prstGeom>
        </p:spPr>
      </p:pic>
      <p:sp>
        <p:nvSpPr>
          <p:cNvPr id="28" name="Discussion heading"/>
          <p:cNvSpPr txBox="1"/>
          <p:nvPr/>
        </p:nvSpPr>
        <p:spPr>
          <a:xfrm>
            <a:off x="7086600" y="427075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636516"/>
            <a:ext cx="4830775" cy="855980"/>
          </a:xfrm>
          <a:prstGeom prst="rect">
            <a:avLst/>
          </a:prstGeom>
          <a:noFill/>
          <a:ln/>
        </p:spPr>
        <p:txBody>
          <a:bodyPr wrap="square" lIns="0" tIns="0" rIns="0" bIns="0" rtlCol="0" anchor="t"/>
          <a:lstStyle/>
          <a:p>
            <a:pPr indent="0" marL="0">
              <a:buNone/>
            </a:pPr>
            <a:r>
              <a:rPr lang="en-US" sz="1400" dirty="0">
                <a:solidFill>
                  <a:schemeClr val="tx1"/>
                </a:solidFill>
              </a:rPr>
              <a:t>Maximum demand and passenger traffic were the principal external variables associated with demand. SARIMAX captured most of the temporal and explanatory structure, while the ANN supplied only a small residual correction.</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Independent test performance and final model selection</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Hybrid SARIMAX–ANN achieved the highest forecasting accuracy on the independent 2024–2025 test data and was selected for long-term electricity-demand forecasting.</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selected Hybrid SARIMAX–ANN provides a sufficiently accurate demand basis for forecasting the airport’s electricity requirements from 2026 to 2045 and for sizing and evaluating the proposed grid-connected solar PV system.</a:t>
            </a:r>
            <a:endParaRPr lang="en-US" sz="1300" dirty="0"/>
          </a:p>
        </p:txBody>
      </p:sp>
      <p:sp>
        <p:nvSpPr>
          <p:cNvPr id="14" name="Basis heading"/>
          <p:cNvSpPr txBox="1"/>
          <p:nvPr/>
        </p:nvSpPr>
        <p:spPr>
          <a:xfrm>
            <a:off x="841248" y="2112264"/>
            <a:ext cx="4279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4663440" cy="815340"/>
          </a:xfrm>
          <a:prstGeom prst="roundRect">
            <a:avLst>
              <a:gd name="adj" fmla="val 8972"/>
            </a:avLst>
          </a:prstGeom>
          <a:solidFill>
            <a:schemeClr val="accent5"/>
          </a:solidFill>
          <a:ln w="12700">
            <a:solidFill>
              <a:schemeClr val="accent5"/>
            </a:solidFill>
            <a:prstDash val="solid"/>
          </a:ln>
        </p:spPr>
      </p:sp>
      <p:sp>
        <p:nvSpPr>
          <p:cNvPr id="18" name="Equations"/>
          <p:cNvSpPr txBox="1"/>
          <p:nvPr/>
        </p:nvSpPr>
        <p:spPr>
          <a:xfrm>
            <a:off x="640080" y="2496312"/>
            <a:ext cx="4297680" cy="81534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Independent test: January 2024–December 2025 | n = 24 monthly observations | Lower errors indicate better forecasts</a:t>
            </a:r>
            <a:endParaRPr lang="en-US" sz="1300" dirty="0"/>
          </a:p>
        </p:txBody>
      </p:sp>
      <p:pic>
        <p:nvPicPr>
          <p:cNvPr id="19" name="Figure image12.png" descr="Independent test performance and final model selection figure">    </p:cNvPr>
          <p:cNvPicPr>
            <a:picLocks noChangeAspect="1"/>
          </p:cNvPicPr>
          <p:nvPr/>
        </p:nvPicPr>
        <p:blipFill>
          <a:blip r:embed="rId4"/>
          <a:stretch>
            <a:fillRect/>
          </a:stretch>
        </p:blipFill>
        <p:spPr>
          <a:xfrm>
            <a:off x="791679" y="3448812"/>
            <a:ext cx="3994481" cy="2116836"/>
          </a:xfrm>
          <a:prstGeom prst="rect">
            <a:avLst/>
          </a:prstGeom>
        </p:spPr>
      </p:pic>
      <p:sp>
        <p:nvSpPr>
          <p:cNvPr id="20" name="Results card"/>
          <p:cNvSpPr/>
          <p:nvPr/>
        </p:nvSpPr>
        <p:spPr>
          <a:xfrm>
            <a:off x="5394960" y="2112264"/>
            <a:ext cx="6339535" cy="2112264"/>
          </a:xfrm>
          <a:prstGeom prst="roundRect">
            <a:avLst>
              <a:gd name="adj" fmla="val 3463"/>
            </a:avLst>
          </a:prstGeom>
          <a:solidFill>
            <a:schemeClr val="bg2"/>
          </a:solidFill>
          <a:ln w="12700">
            <a:solidFill>
              <a:schemeClr val="bg2"/>
            </a:solidFill>
            <a:prstDash val="solid"/>
          </a:ln>
        </p:spPr>
      </p:sp>
      <p:sp>
        <p:nvSpPr>
          <p:cNvPr id="21" name="results badge"/>
          <p:cNvSpPr/>
          <p:nvPr/>
        </p:nvSpPr>
        <p:spPr>
          <a:xfrm>
            <a:off x="55595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5623926" y="2268078"/>
            <a:ext cx="163860" cy="163860"/>
          </a:xfrm>
          <a:prstGeom prst="rect">
            <a:avLst/>
          </a:prstGeom>
        </p:spPr>
      </p:pic>
      <p:sp>
        <p:nvSpPr>
          <p:cNvPr id="23" name="Results heading"/>
          <p:cNvSpPr txBox="1"/>
          <p:nvPr/>
        </p:nvSpPr>
        <p:spPr>
          <a:xfrm>
            <a:off x="59436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5577840" y="2569464"/>
            <a:ext cx="5973775" cy="15849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RMSE: 77,430.41 kWh</a:t>
            </a:r>
            <a:endParaRPr lang="en-US" sz="1300" dirty="0"/>
          </a:p>
          <a:p>
            <a:pPr marL="177800" indent="-177800">
              <a:spcAft>
                <a:spcPts val="400"/>
              </a:spcAft>
              <a:buSzPct val="100000"/>
              <a:buChar char="•"/>
            </a:pPr>
            <a:r>
              <a:rPr lang="en-US" sz="1300" dirty="0">
                <a:solidFill>
                  <a:schemeClr val="tx1"/>
                </a:solidFill>
              </a:rPr>
              <a:t>MAE: 55,194.30 kWh</a:t>
            </a:r>
            <a:endParaRPr lang="en-US" sz="1300" dirty="0"/>
          </a:p>
          <a:p>
            <a:pPr marL="177800" indent="-177800">
              <a:spcAft>
                <a:spcPts val="400"/>
              </a:spcAft>
              <a:buSzPct val="100000"/>
              <a:buChar char="•"/>
            </a:pPr>
            <a:r>
              <a:rPr lang="en-US" sz="1300" dirty="0">
                <a:solidFill>
                  <a:schemeClr val="tx1"/>
                </a:solidFill>
              </a:rPr>
              <a:t>MAPE: 4.52%</a:t>
            </a:r>
            <a:endParaRPr lang="en-US" sz="1300" dirty="0"/>
          </a:p>
          <a:p>
            <a:pPr marL="177800" indent="-177800">
              <a:spcAft>
                <a:spcPts val="400"/>
              </a:spcAft>
              <a:buSzPct val="100000"/>
              <a:buChar char="•"/>
            </a:pPr>
            <a:r>
              <a:rPr lang="en-US" sz="1300" dirty="0">
                <a:solidFill>
                  <a:schemeClr val="tx1"/>
                </a:solidFill>
              </a:rPr>
              <a:t>R²: 0.2483</a:t>
            </a:r>
            <a:endParaRPr lang="en-US" sz="1300" dirty="0"/>
          </a:p>
          <a:p>
            <a:pPr marL="177800" indent="-177800">
              <a:spcAft>
                <a:spcPts val="400"/>
              </a:spcAft>
              <a:buSzPct val="100000"/>
              <a:buChar char="•"/>
            </a:pPr>
            <a:r>
              <a:rPr lang="en-US" sz="1300" dirty="0">
                <a:solidFill>
                  <a:schemeClr val="tx1"/>
                </a:solidFill>
              </a:rPr>
              <a:t>Ljung–Box test: (p=0.3995)</a:t>
            </a:r>
            <a:endParaRPr lang="en-US" sz="1300" dirty="0"/>
          </a:p>
          <a:p>
            <a:pPr marL="177800" indent="-177800">
              <a:spcAft>
                <a:spcPts val="400"/>
              </a:spcAft>
              <a:buSzPct val="100000"/>
              <a:buChar char="•"/>
            </a:pPr>
            <a:r>
              <a:rPr lang="en-US" sz="1300" dirty="0">
                <a:solidFill>
                  <a:schemeClr val="tx1"/>
                </a:solidFill>
              </a:rPr>
              <a:t>Best-performing model: Hybrid SARIMAX–ANN</a:t>
            </a:r>
            <a:endParaRPr lang="en-US" sz="1300" dirty="0"/>
          </a:p>
        </p:txBody>
      </p:sp>
      <p:sp>
        <p:nvSpPr>
          <p:cNvPr id="25" name="Discussion card"/>
          <p:cNvSpPr/>
          <p:nvPr/>
        </p:nvSpPr>
        <p:spPr>
          <a:xfrm>
            <a:off x="5394960" y="4361688"/>
            <a:ext cx="6339535" cy="1203960"/>
          </a:xfrm>
          <a:prstGeom prst="roundRect">
            <a:avLst>
              <a:gd name="adj" fmla="val 6076"/>
            </a:avLst>
          </a:prstGeom>
          <a:solidFill>
            <a:schemeClr val="accent6"/>
          </a:solidFill>
          <a:ln w="12700">
            <a:solidFill>
              <a:schemeClr val="accent6"/>
            </a:solidFill>
            <a:prstDash val="solid"/>
          </a:ln>
        </p:spPr>
      </p:sp>
      <p:sp>
        <p:nvSpPr>
          <p:cNvPr id="26" name="discussion badge"/>
          <p:cNvSpPr/>
          <p:nvPr/>
        </p:nvSpPr>
        <p:spPr>
          <a:xfrm>
            <a:off x="5559552" y="4453128"/>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5623926" y="4517502"/>
            <a:ext cx="163860" cy="163860"/>
          </a:xfrm>
          <a:prstGeom prst="rect">
            <a:avLst/>
          </a:prstGeom>
        </p:spPr>
      </p:pic>
      <p:sp>
        <p:nvSpPr>
          <p:cNvPr id="28" name="Discussion heading"/>
          <p:cNvSpPr txBox="1"/>
          <p:nvPr/>
        </p:nvSpPr>
        <p:spPr>
          <a:xfrm>
            <a:off x="5943600" y="4453128"/>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5577840" y="4818888"/>
            <a:ext cx="5973775" cy="673608"/>
          </a:xfrm>
          <a:prstGeom prst="rect">
            <a:avLst/>
          </a:prstGeom>
          <a:noFill/>
          <a:ln/>
        </p:spPr>
        <p:txBody>
          <a:bodyPr wrap="square" lIns="0" tIns="0" rIns="0" bIns="0" rtlCol="0" anchor="t"/>
          <a:lstStyle/>
          <a:p>
            <a:pPr indent="0" marL="0">
              <a:buNone/>
            </a:pPr>
            <a:r>
              <a:rPr lang="en-US" sz="1300" dirty="0">
                <a:solidFill>
                  <a:schemeClr val="tx1"/>
                </a:solidFill>
              </a:rPr>
              <a:t>The Hybrid model recorded the lowest independent-test errors. Compared with SARIMAX, it reduced RMSE by 2.21%, MAE by 2.94%, and MAPE by 3.00%. Although the improvement was modest, it was achieved on previously unseen data.</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Long-term electricity-demand forecast, 2026–2045</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Forecast annual electricity demand increases from 15.992 GWh in 2026 to 29.437 GWh in 2045—an overall increase of 84.07%</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Using a fixed historical load would underestimate the airport’s future electricity requirements. The forecast therefore provides the demand basis for PV sizing, grid-capacity planning and long-term energy investment</a:t>
            </a:r>
            <a:endParaRPr lang="en-US" sz="1300" dirty="0"/>
          </a:p>
        </p:txBody>
      </p:sp>
      <p:sp>
        <p:nvSpPr>
          <p:cNvPr id="14" name="Basis heading"/>
          <p:cNvSpPr txBox="1"/>
          <p:nvPr/>
        </p:nvSpPr>
        <p:spPr>
          <a:xfrm>
            <a:off x="841248" y="2112264"/>
            <a:ext cx="51937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5577840" cy="1005840"/>
          </a:xfrm>
          <a:prstGeom prst="roundRect">
            <a:avLst>
              <a:gd name="adj" fmla="val 7273"/>
            </a:avLst>
          </a:prstGeom>
          <a:solidFill>
            <a:schemeClr val="accent5"/>
          </a:solidFill>
          <a:ln w="12700">
            <a:solidFill>
              <a:schemeClr val="accent5"/>
            </a:solidFill>
            <a:prstDash val="solid"/>
          </a:ln>
        </p:spPr>
      </p:sp>
      <p:sp>
        <p:nvSpPr>
          <p:cNvPr id="18" name="Equations"/>
          <p:cNvSpPr txBox="1"/>
          <p:nvPr/>
        </p:nvSpPr>
        <p:spPr>
          <a:xfrm>
            <a:off x="640080" y="2496312"/>
            <a:ext cx="5212080" cy="1005840"/>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latin typeface="Cambria" pitchFamily="34" charset="0"/>
                <a:ea typeface="Cambria" pitchFamily="34" charset="-122"/>
                <a:cs typeface="Cambria" pitchFamily="34" charset="-120"/>
              </a:rPr>
              <a:t>Rₜ = 335.91MDₜ + 1.1053Pₜ − 11,791.65Tₜ     |     Hybrid forecast = SARIMAX forecast + ANN residual correction</a:t>
            </a:r>
            <a:endParaRPr lang="en-US" sz="1300" dirty="0"/>
          </a:p>
          <a:p>
            <a:pPr indent="0" marL="0">
              <a:spcAft>
                <a:spcPts val="300"/>
              </a:spcAft>
              <a:buNone/>
            </a:pPr>
            <a:r>
              <a:rPr lang="en-US" sz="1150" i="1" dirty="0">
                <a:solidFill>
                  <a:schemeClr val="accent4"/>
                </a:solidFill>
              </a:rPr>
              <a:t>Where (MDt) is maximum demand, (Pt) is passenger traffic, and (Tt) is mean temperature.</a:t>
            </a:r>
            <a:endParaRPr lang="en-US" sz="1300" dirty="0"/>
          </a:p>
        </p:txBody>
      </p:sp>
      <p:pic>
        <p:nvPicPr>
          <p:cNvPr id="19" name="Figure image13.png" descr="Long-term electricity-demand forecast, 2026–2045 figure">    </p:cNvPr>
          <p:cNvPicPr>
            <a:picLocks noChangeAspect="1"/>
          </p:cNvPicPr>
          <p:nvPr/>
        </p:nvPicPr>
        <p:blipFill>
          <a:blip r:embed="rId4"/>
          <a:stretch>
            <a:fillRect/>
          </a:stretch>
        </p:blipFill>
        <p:spPr>
          <a:xfrm>
            <a:off x="1428617" y="3639312"/>
            <a:ext cx="3635007" cy="1926336"/>
          </a:xfrm>
          <a:prstGeom prst="rect">
            <a:avLst/>
          </a:prstGeom>
        </p:spPr>
      </p:pic>
      <p:sp>
        <p:nvSpPr>
          <p:cNvPr id="20" name="Results card"/>
          <p:cNvSpPr/>
          <p:nvPr/>
        </p:nvSpPr>
        <p:spPr>
          <a:xfrm>
            <a:off x="6309360" y="2112264"/>
            <a:ext cx="5425135" cy="2046732"/>
          </a:xfrm>
          <a:prstGeom prst="roundRect">
            <a:avLst>
              <a:gd name="adj" fmla="val 3574"/>
            </a:avLst>
          </a:prstGeom>
          <a:solidFill>
            <a:schemeClr val="bg2"/>
          </a:solidFill>
          <a:ln w="12700">
            <a:solidFill>
              <a:schemeClr val="bg2"/>
            </a:solidFill>
            <a:prstDash val="solid"/>
          </a:ln>
        </p:spPr>
      </p:sp>
      <p:sp>
        <p:nvSpPr>
          <p:cNvPr id="21" name="results badge"/>
          <p:cNvSpPr/>
          <p:nvPr/>
        </p:nvSpPr>
        <p:spPr>
          <a:xfrm>
            <a:off x="64739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538326" y="2268078"/>
            <a:ext cx="163860" cy="163860"/>
          </a:xfrm>
          <a:prstGeom prst="rect">
            <a:avLst/>
          </a:prstGeom>
        </p:spPr>
      </p:pic>
      <p:sp>
        <p:nvSpPr>
          <p:cNvPr id="23" name="Results heading"/>
          <p:cNvSpPr txBox="1"/>
          <p:nvPr/>
        </p:nvSpPr>
        <p:spPr>
          <a:xfrm>
            <a:off x="68580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18" name="Results table 1"/>
          <p:cNvGraphicFramePr>
            <a:graphicFrameLocks noGrp="1"/>
          </p:cNvGraphicFramePr>
          <p:nvPr>
            <p:extLst>
              <p:ext uri="{D42A27DB-BD31-4B8C-83A1-F6EECF244321}">
                <p14:modId xmlns:p14="http://schemas.microsoft.com/office/powerpoint/2010/main" val="1579011935"/>
              </p:ext>
            </p:extLst>
          </p:nvPr>
        </p:nvGraphicFramePr>
        <p:xfrm>
          <a:off x="6492240" y="2569464"/>
          <a:ext cx="5059375" cy="914400"/>
        </p:xfrm>
        <a:graphic>
          <a:graphicData uri="http://schemas.openxmlformats.org/drawingml/2006/table">
            <a:tbl>
              <a:tblPr/>
              <a:tblGrid>
                <a:gridCol w="1416625"/>
                <a:gridCol w="3642750"/>
              </a:tblGrid>
              <a:tr h="0">
                <a:tc>
                  <a:txBody>
                    <a:bodyPr/>
                    <a:lstStyle/>
                    <a:p>
                      <a:pPr algn="l" indent="0" marL="0">
                        <a:buNone/>
                      </a:pPr>
                      <a:r>
                        <a:rPr lang="en-US" sz="1100" b="1" dirty="0">
                          <a:solidFill>
                            <a:schemeClr val="bg1"/>
                          </a:solidFill>
                        </a:rPr>
                        <a:t>Year</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rPr>
                        <a:t>Forecast demand</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100" dirty="0">
                          <a:solidFill>
                            <a:schemeClr val="tx1"/>
                          </a:solidFill>
                        </a:rPr>
                        <a:t>2026</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15.992 GWh</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100" dirty="0">
                          <a:solidFill>
                            <a:schemeClr val="tx1"/>
                          </a:solidFill>
                        </a:rPr>
                        <a:t>2030</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18.830 GWh</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100" dirty="0">
                          <a:solidFill>
                            <a:schemeClr val="tx1"/>
                          </a:solidFill>
                        </a:rPr>
                        <a:t>2035</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22.365 GWh</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100" dirty="0">
                          <a:solidFill>
                            <a:schemeClr val="tx1"/>
                          </a:solidFill>
                        </a:rPr>
                        <a:t>2040</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25.901 GWh</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100" dirty="0">
                          <a:solidFill>
                            <a:schemeClr val="tx1"/>
                          </a:solidFill>
                        </a:rPr>
                        <a:t>2045</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29.437 GWh</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bl>
          </a:graphicData>
        </a:graphic>
      </p:graphicFrame>
      <p:sp>
        <p:nvSpPr>
          <p:cNvPr id="25" name="Discussion card"/>
          <p:cNvSpPr/>
          <p:nvPr/>
        </p:nvSpPr>
        <p:spPr>
          <a:xfrm>
            <a:off x="6309360" y="4296156"/>
            <a:ext cx="5425135" cy="1269492"/>
          </a:xfrm>
          <a:prstGeom prst="roundRect">
            <a:avLst>
              <a:gd name="adj" fmla="val 5762"/>
            </a:avLst>
          </a:prstGeom>
          <a:solidFill>
            <a:schemeClr val="accent6"/>
          </a:solidFill>
          <a:ln w="12700">
            <a:solidFill>
              <a:schemeClr val="accent6"/>
            </a:solidFill>
            <a:prstDash val="solid"/>
          </a:ln>
        </p:spPr>
      </p:sp>
      <p:sp>
        <p:nvSpPr>
          <p:cNvPr id="26" name="discussion badge"/>
          <p:cNvSpPr/>
          <p:nvPr/>
        </p:nvSpPr>
        <p:spPr>
          <a:xfrm>
            <a:off x="6473952" y="438759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538326" y="4451970"/>
            <a:ext cx="163860" cy="163860"/>
          </a:xfrm>
          <a:prstGeom prst="rect">
            <a:avLst/>
          </a:prstGeom>
        </p:spPr>
      </p:pic>
      <p:sp>
        <p:nvSpPr>
          <p:cNvPr id="28" name="Discussion heading"/>
          <p:cNvSpPr txBox="1"/>
          <p:nvPr/>
        </p:nvSpPr>
        <p:spPr>
          <a:xfrm>
            <a:off x="6858000" y="438759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492240" y="4753356"/>
            <a:ext cx="5059375" cy="739140"/>
          </a:xfrm>
          <a:prstGeom prst="rect">
            <a:avLst/>
          </a:prstGeom>
          <a:noFill/>
          <a:ln/>
        </p:spPr>
        <p:txBody>
          <a:bodyPr wrap="square" lIns="0" tIns="0" rIns="0" bIns="0" rtlCol="0" anchor="t"/>
          <a:lstStyle/>
          <a:p>
            <a:pPr indent="0" marL="0">
              <a:buNone/>
            </a:pPr>
            <a:r>
              <a:rPr lang="en-US" sz="1200" dirty="0">
                <a:solidFill>
                  <a:schemeClr val="tx1"/>
                </a:solidFill>
              </a:rPr>
              <a:t>Maximum demand and passenger traffic are the main drivers of the forecast increase, while mean temperature remains nearly constant. The small ANN correction of approximately −0.085 GWh per year indicates that the SARIMAX component determines most of the long-term forecast..</a:t>
            </a:r>
            <a:endParaRPr lang="en-US" sz="12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Load–Solar Compatibility and PV Capacity Selection</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airport maintained substantial daytime demand during periods of available sunshine, supporting direct PV self-consumption.</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The load–solar relationship provides the basis for comparing candidate PV capacities under zero-export operation.</a:t>
            </a:r>
            <a:endParaRPr lang="en-US" sz="1300" dirty="0"/>
          </a:p>
        </p:txBody>
      </p:sp>
      <p:sp>
        <p:nvSpPr>
          <p:cNvPr id="14" name="Basis heading"/>
          <p:cNvSpPr txBox="1"/>
          <p:nvPr/>
        </p:nvSpPr>
        <p:spPr>
          <a:xfrm>
            <a:off x="841248" y="2112264"/>
            <a:ext cx="51937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5577840" cy="853440"/>
          </a:xfrm>
          <a:prstGeom prst="roundRect">
            <a:avLst>
              <a:gd name="adj" fmla="val 8571"/>
            </a:avLst>
          </a:prstGeom>
          <a:solidFill>
            <a:schemeClr val="accent5"/>
          </a:solidFill>
          <a:ln w="12700">
            <a:solidFill>
              <a:schemeClr val="accent5"/>
            </a:solidFill>
            <a:prstDash val="solid"/>
          </a:ln>
        </p:spPr>
      </p:sp>
      <p:sp>
        <p:nvSpPr>
          <p:cNvPr id="18" name="Equations"/>
          <p:cNvSpPr txBox="1"/>
          <p:nvPr/>
        </p:nvSpPr>
        <p:spPr>
          <a:xfrm>
            <a:off x="640080" y="2496312"/>
            <a:ext cx="5212080" cy="85344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P</a:t>
            </a:r>
            <a:pPr indent="0" marL="0">
              <a:buNone/>
            </a:pPr>
            <a:r>
              <a:rPr lang="en-US" sz="1300" baseline="-40000" dirty="0">
                <a:solidFill>
                  <a:schemeClr val="tx2"/>
                </a:solidFill>
                <a:latin typeface="Cambria" pitchFamily="34" charset="0"/>
                <a:ea typeface="Cambria" pitchFamily="34" charset="-122"/>
                <a:cs typeface="Cambria" pitchFamily="34" charset="-120"/>
              </a:rPr>
              <a:t>Average</a:t>
            </a:r>
            <a:pPr indent="0" marL="0">
              <a:buNone/>
            </a:pPr>
            <a:r>
              <a:rPr lang="en-US" sz="1300" dirty="0">
                <a:solidFill>
                  <a:schemeClr val="tx2"/>
                </a:solidFill>
                <a:latin typeface="Cambria" pitchFamily="34" charset="0"/>
                <a:ea typeface="Cambria" pitchFamily="34" charset="-122"/>
                <a:cs typeface="Cambria" pitchFamily="34" charset="-120"/>
              </a:rPr>
              <a:t> = 15.993 GWh / 8760 h = 1.826 MW</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PV supplies coincident daytime load | Grid export = 0 | Capacity selected using useful PV supply, grid reduction and unused energy</a:t>
            </a:r>
            <a:endParaRPr lang="en-US" sz="1300" dirty="0"/>
          </a:p>
        </p:txBody>
      </p:sp>
      <p:pic>
        <p:nvPicPr>
          <p:cNvPr id="19" name="Figure image14.png" descr="Load–Solar Compatibility and PV Capacity Selection figure">    </p:cNvPr>
          <p:cNvPicPr>
            <a:picLocks noChangeAspect="1"/>
          </p:cNvPicPr>
          <p:nvPr/>
        </p:nvPicPr>
        <p:blipFill>
          <a:blip r:embed="rId4"/>
          <a:stretch>
            <a:fillRect/>
          </a:stretch>
        </p:blipFill>
        <p:spPr>
          <a:xfrm>
            <a:off x="1221559" y="3486912"/>
            <a:ext cx="4049122" cy="2145792"/>
          </a:xfrm>
          <a:prstGeom prst="rect">
            <a:avLst/>
          </a:prstGeom>
        </p:spPr>
      </p:pic>
      <p:sp>
        <p:nvSpPr>
          <p:cNvPr id="20" name="Results card"/>
          <p:cNvSpPr/>
          <p:nvPr/>
        </p:nvSpPr>
        <p:spPr>
          <a:xfrm>
            <a:off x="6309360" y="2112264"/>
            <a:ext cx="5425135" cy="1975866"/>
          </a:xfrm>
          <a:prstGeom prst="roundRect">
            <a:avLst>
              <a:gd name="adj" fmla="val 3702"/>
            </a:avLst>
          </a:prstGeom>
          <a:solidFill>
            <a:schemeClr val="bg2"/>
          </a:solidFill>
          <a:ln w="12700">
            <a:solidFill>
              <a:schemeClr val="bg2"/>
            </a:solidFill>
            <a:prstDash val="solid"/>
          </a:ln>
        </p:spPr>
      </p:sp>
      <p:sp>
        <p:nvSpPr>
          <p:cNvPr id="21" name="results badge"/>
          <p:cNvSpPr/>
          <p:nvPr/>
        </p:nvSpPr>
        <p:spPr>
          <a:xfrm>
            <a:off x="64739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538326" y="2268078"/>
            <a:ext cx="163860" cy="163860"/>
          </a:xfrm>
          <a:prstGeom prst="rect">
            <a:avLst/>
          </a:prstGeom>
        </p:spPr>
      </p:pic>
      <p:sp>
        <p:nvSpPr>
          <p:cNvPr id="23" name="Results heading"/>
          <p:cNvSpPr txBox="1"/>
          <p:nvPr/>
        </p:nvSpPr>
        <p:spPr>
          <a:xfrm>
            <a:off x="68580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19" name="Results table 1"/>
          <p:cNvGraphicFramePr>
            <a:graphicFrameLocks noGrp="1"/>
          </p:cNvGraphicFramePr>
          <p:nvPr>
            <p:extLst>
              <p:ext uri="{D42A27DB-BD31-4B8C-83A1-F6EECF244321}">
                <p14:modId xmlns:p14="http://schemas.microsoft.com/office/powerpoint/2010/main" val="1579011935"/>
              </p:ext>
            </p:extLst>
          </p:nvPr>
        </p:nvGraphicFramePr>
        <p:xfrm>
          <a:off x="6492240" y="2569464"/>
          <a:ext cx="5059375" cy="914400"/>
        </p:xfrm>
        <a:graphic>
          <a:graphicData uri="http://schemas.openxmlformats.org/drawingml/2006/table">
            <a:tbl>
              <a:tblPr/>
              <a:tblGrid>
                <a:gridCol w="2876900"/>
                <a:gridCol w="2182476"/>
              </a:tblGrid>
              <a:tr h="0">
                <a:tc>
                  <a:txBody>
                    <a:bodyPr/>
                    <a:lstStyle/>
                    <a:p>
                      <a:pPr algn="l" indent="0" marL="0">
                        <a:buNone/>
                      </a:pPr>
                      <a:r>
                        <a:rPr lang="en-US" sz="1250" b="1" dirty="0">
                          <a:solidFill>
                            <a:schemeClr val="bg1"/>
                          </a:solidFill>
                        </a:rPr>
                        <a:t>Indicator</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50" b="1" dirty="0">
                          <a:solidFill>
                            <a:schemeClr val="bg1"/>
                          </a:solidFill>
                        </a:rPr>
                        <a:t>Result</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50" dirty="0">
                          <a:solidFill>
                            <a:schemeClr val="tx1"/>
                          </a:solidFill>
                        </a:rPr>
                        <a:t>Forecast airport demand, 2026</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50" dirty="0">
                          <a:solidFill>
                            <a:schemeClr val="tx1"/>
                          </a:solidFill>
                        </a:rPr>
                        <a:t>15.993 GWh/year</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50" dirty="0">
                          <a:solidFill>
                            <a:schemeClr val="tx1"/>
                          </a:solidFill>
                        </a:rPr>
                        <a:t>Average annual demand</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50" dirty="0">
                          <a:solidFill>
                            <a:schemeClr val="tx1"/>
                          </a:solidFill>
                        </a:rPr>
                        <a:t>1.826 MW</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250" dirty="0">
                          <a:solidFill>
                            <a:schemeClr val="tx1"/>
                          </a:solidFill>
                        </a:rPr>
                        <a:t>Annual GHI</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50" dirty="0">
                          <a:solidFill>
                            <a:schemeClr val="tx1"/>
                          </a:solidFill>
                        </a:rPr>
                        <a:t>1,889.8 kWh/m²/year</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50" dirty="0">
                          <a:solidFill>
                            <a:schemeClr val="tx1"/>
                          </a:solidFill>
                        </a:rPr>
                        <a:t>Annual POA irradiation</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50" dirty="0">
                          <a:solidFill>
                            <a:schemeClr val="tx1"/>
                          </a:solidFill>
                        </a:rPr>
                        <a:t>1,879.0 kWh/m²/year</a:t>
                      </a:r>
                      <a:endParaRPr lang="en-US" sz="125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5" name="Discussion card"/>
          <p:cNvSpPr/>
          <p:nvPr/>
        </p:nvSpPr>
        <p:spPr>
          <a:xfrm>
            <a:off x="6309360" y="4225290"/>
            <a:ext cx="5425135" cy="1407414"/>
          </a:xfrm>
          <a:prstGeom prst="roundRect">
            <a:avLst>
              <a:gd name="adj" fmla="val 5198"/>
            </a:avLst>
          </a:prstGeom>
          <a:solidFill>
            <a:schemeClr val="accent6"/>
          </a:solidFill>
          <a:ln w="12700">
            <a:solidFill>
              <a:schemeClr val="accent6"/>
            </a:solidFill>
            <a:prstDash val="solid"/>
          </a:ln>
        </p:spPr>
      </p:sp>
      <p:sp>
        <p:nvSpPr>
          <p:cNvPr id="26" name="discussion badge"/>
          <p:cNvSpPr/>
          <p:nvPr/>
        </p:nvSpPr>
        <p:spPr>
          <a:xfrm>
            <a:off x="6473952" y="4316730"/>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538326" y="4381104"/>
            <a:ext cx="163860" cy="163860"/>
          </a:xfrm>
          <a:prstGeom prst="rect">
            <a:avLst/>
          </a:prstGeom>
        </p:spPr>
      </p:pic>
      <p:sp>
        <p:nvSpPr>
          <p:cNvPr id="28" name="Discussion heading"/>
          <p:cNvSpPr txBox="1"/>
          <p:nvPr/>
        </p:nvSpPr>
        <p:spPr>
          <a:xfrm>
            <a:off x="6858000" y="4316730"/>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492240" y="4682490"/>
            <a:ext cx="5059375" cy="877062"/>
          </a:xfrm>
          <a:prstGeom prst="rect">
            <a:avLst/>
          </a:prstGeom>
          <a:noFill/>
          <a:ln/>
        </p:spPr>
        <p:txBody>
          <a:bodyPr wrap="square" lIns="0" tIns="0" rIns="0" bIns="0" rtlCol="0" anchor="t"/>
          <a:lstStyle/>
          <a:p>
            <a:pPr indent="0" marL="0">
              <a:buNone/>
            </a:pPr>
            <a:r>
              <a:rPr lang="en-US" sz="1350" dirty="0">
                <a:solidFill>
                  <a:schemeClr val="tx1"/>
                </a:solidFill>
              </a:rPr>
              <a:t>Airport demand remained substantial during daylight hours. This overlap provides an opportunity for PV electricity to supply the coincident load and reduce grid purchases. The amount used depends on the hourly relationship between demand and PV output</a:t>
            </a:r>
            <a:endParaRPr lang="en-US" sz="135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PV system sizing and capacity selection</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3.195 MWp system was selected because it provided a practical balance between useful PV supply, grid-energy reduction and unused generation under zero-export operation.</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PV capacity should be matched to the airport’s coincident daytime demand rather than selected by maximizing annual production alone, because unused PV generation provides no grid-energy or cost saving</a:t>
            </a:r>
            <a:endParaRPr lang="en-US" sz="1300" dirty="0"/>
          </a:p>
        </p:txBody>
      </p:sp>
      <p:sp>
        <p:nvSpPr>
          <p:cNvPr id="14" name="Basis heading"/>
          <p:cNvSpPr txBox="1"/>
          <p:nvPr/>
        </p:nvSpPr>
        <p:spPr>
          <a:xfrm>
            <a:off x="841248" y="2112264"/>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58064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496312"/>
            <a:ext cx="5440680" cy="617220"/>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latin typeface="Cambria" pitchFamily="34" charset="0"/>
                <a:ea typeface="Cambria" pitchFamily="34" charset="-122"/>
                <a:cs typeface="Cambria" pitchFamily="34" charset="-120"/>
              </a:rPr>
              <a:t>PV serves coincident airport load  | Grid export = 0 | Capacity selected by useful PV supply, grid reduction and unused energy</a:t>
            </a:r>
            <a:endParaRPr lang="en-US" sz="1300" dirty="0"/>
          </a:p>
        </p:txBody>
      </p:sp>
      <p:pic>
        <p:nvPicPr>
          <p:cNvPr id="19" name="Figure image15.png" descr="PV system sizing and capacity selection figure">    </p:cNvPr>
          <p:cNvPicPr>
            <a:picLocks noChangeAspect="1"/>
          </p:cNvPicPr>
          <p:nvPr/>
        </p:nvPicPr>
        <p:blipFill>
          <a:blip r:embed="rId4"/>
          <a:stretch>
            <a:fillRect/>
          </a:stretch>
        </p:blipFill>
        <p:spPr>
          <a:xfrm>
            <a:off x="1176252" y="3250692"/>
            <a:ext cx="4368335" cy="2314956"/>
          </a:xfrm>
          <a:prstGeom prst="rect">
            <a:avLst/>
          </a:prstGeom>
        </p:spPr>
      </p:pic>
      <p:sp>
        <p:nvSpPr>
          <p:cNvPr id="20" name="Results card"/>
          <p:cNvSpPr/>
          <p:nvPr/>
        </p:nvSpPr>
        <p:spPr>
          <a:xfrm>
            <a:off x="6537960" y="2112264"/>
            <a:ext cx="5196535" cy="1789684"/>
          </a:xfrm>
          <a:prstGeom prst="roundRect">
            <a:avLst>
              <a:gd name="adj" fmla="val 4087"/>
            </a:avLst>
          </a:prstGeom>
          <a:solidFill>
            <a:schemeClr val="bg2"/>
          </a:solidFill>
          <a:ln w="12700">
            <a:solidFill>
              <a:schemeClr val="bg2"/>
            </a:solidFill>
            <a:prstDash val="solid"/>
          </a:ln>
        </p:spPr>
      </p:sp>
      <p:sp>
        <p:nvSpPr>
          <p:cNvPr id="21" name="results badge"/>
          <p:cNvSpPr/>
          <p:nvPr/>
        </p:nvSpPr>
        <p:spPr>
          <a:xfrm>
            <a:off x="67025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268078"/>
            <a:ext cx="163860" cy="163860"/>
          </a:xfrm>
          <a:prstGeom prst="rect">
            <a:avLst/>
          </a:prstGeom>
        </p:spPr>
      </p:pic>
      <p:sp>
        <p:nvSpPr>
          <p:cNvPr id="23" name="Results heading"/>
          <p:cNvSpPr txBox="1"/>
          <p:nvPr/>
        </p:nvSpPr>
        <p:spPr>
          <a:xfrm>
            <a:off x="70866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569464"/>
            <a:ext cx="4830775" cy="13360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PV capacity: 3.195 MWp</a:t>
            </a:r>
            <a:endParaRPr lang="en-US" sz="1300" dirty="0"/>
          </a:p>
          <a:p>
            <a:pPr marL="177800" indent="-177800">
              <a:spcAft>
                <a:spcPts val="400"/>
              </a:spcAft>
              <a:buSzPct val="100000"/>
              <a:buChar char="•"/>
            </a:pPr>
            <a:r>
              <a:rPr lang="en-US" sz="1300" dirty="0">
                <a:solidFill>
                  <a:schemeClr val="tx1"/>
                </a:solidFill>
              </a:rPr>
              <a:t>Inverter capacity: 2.700 MWac</a:t>
            </a:r>
            <a:endParaRPr lang="en-US" sz="1300" dirty="0"/>
          </a:p>
          <a:p>
            <a:pPr marL="177800" indent="-177800">
              <a:spcAft>
                <a:spcPts val="400"/>
              </a:spcAft>
              <a:buSzPct val="100000"/>
              <a:buChar char="•"/>
            </a:pPr>
            <a:r>
              <a:rPr lang="en-US" sz="1300" dirty="0">
                <a:solidFill>
                  <a:schemeClr val="tx1"/>
                </a:solidFill>
              </a:rPr>
              <a:t>DC/AC ratio: 1.183</a:t>
            </a:r>
            <a:endParaRPr lang="en-US" sz="1300" dirty="0"/>
          </a:p>
          <a:p>
            <a:pPr marL="177800" indent="-177800">
              <a:spcAft>
                <a:spcPts val="400"/>
              </a:spcAft>
              <a:buSzPct val="100000"/>
              <a:buChar char="•"/>
            </a:pPr>
            <a:r>
              <a:rPr lang="en-US" sz="1300" dirty="0">
                <a:solidFill>
                  <a:schemeClr val="tx1"/>
                </a:solidFill>
              </a:rPr>
              <a:t>PV supplied to airport: 5.116 GWh/year</a:t>
            </a:r>
            <a:endParaRPr lang="en-US" sz="1300" dirty="0"/>
          </a:p>
          <a:p>
            <a:pPr marL="177800" indent="-177800">
              <a:spcAft>
                <a:spcPts val="400"/>
              </a:spcAft>
              <a:buSzPct val="100000"/>
              <a:buChar char="•"/>
            </a:pPr>
            <a:r>
              <a:rPr lang="en-US" sz="1300" dirty="0">
                <a:solidFill>
                  <a:schemeClr val="tx1"/>
                </a:solidFill>
              </a:rPr>
              <a:t>Unused PV energy: 0.195 GWh/yea</a:t>
            </a:r>
            <a:endParaRPr lang="en-US" sz="1300" dirty="0"/>
          </a:p>
        </p:txBody>
      </p:sp>
      <p:sp>
        <p:nvSpPr>
          <p:cNvPr id="25" name="Discussion card"/>
          <p:cNvSpPr/>
          <p:nvPr/>
        </p:nvSpPr>
        <p:spPr>
          <a:xfrm>
            <a:off x="6537960" y="4039108"/>
            <a:ext cx="5196535" cy="1526540"/>
          </a:xfrm>
          <a:prstGeom prst="roundRect">
            <a:avLst>
              <a:gd name="adj" fmla="val 4792"/>
            </a:avLst>
          </a:prstGeom>
          <a:solidFill>
            <a:schemeClr val="accent6"/>
          </a:solidFill>
          <a:ln w="12700">
            <a:solidFill>
              <a:schemeClr val="accent6"/>
            </a:solidFill>
            <a:prstDash val="solid"/>
          </a:ln>
        </p:spPr>
      </p:sp>
      <p:sp>
        <p:nvSpPr>
          <p:cNvPr id="26" name="discussion badge"/>
          <p:cNvSpPr/>
          <p:nvPr/>
        </p:nvSpPr>
        <p:spPr>
          <a:xfrm>
            <a:off x="6702552" y="4130548"/>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194922"/>
            <a:ext cx="163860" cy="163860"/>
          </a:xfrm>
          <a:prstGeom prst="rect">
            <a:avLst/>
          </a:prstGeom>
        </p:spPr>
      </p:pic>
      <p:sp>
        <p:nvSpPr>
          <p:cNvPr id="28" name="Discussion heading"/>
          <p:cNvSpPr txBox="1"/>
          <p:nvPr/>
        </p:nvSpPr>
        <p:spPr>
          <a:xfrm>
            <a:off x="7086600" y="4130548"/>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496308"/>
            <a:ext cx="4830775" cy="996188"/>
          </a:xfrm>
          <a:prstGeom prst="rect">
            <a:avLst/>
          </a:prstGeom>
          <a:noFill/>
          <a:ln/>
        </p:spPr>
        <p:txBody>
          <a:bodyPr wrap="square" lIns="0" tIns="0" rIns="0" bIns="0" rtlCol="0" anchor="t"/>
          <a:lstStyle/>
          <a:p>
            <a:pPr indent="0" marL="0">
              <a:buNone/>
            </a:pPr>
            <a:r>
              <a:rPr lang="en-US" sz="1300" dirty="0">
                <a:solidFill>
                  <a:schemeClr val="tx1"/>
                </a:solidFill>
              </a:rPr>
              <a:t>Increasing PV capacity increased total generation and reduced grid-energy requirements. However, useful PV supply increased more slowly at higher capacities because more generation exceeded the coincident airport load and remained unused under zero-export operation.</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Technical Performance and PV–Grid Energy Balance</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3.195 MWp PV system supplied 31.99% of forecast 2026 airport demand, while 96.33% of its generated electricity was consumed directly by the airport.</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PV system reduces daytime grid-electricity purchases but does not replace the utility grid, standby generators or UPS systems required for supply continuity and critical airport loads.</a:t>
            </a:r>
            <a:endParaRPr lang="en-US" sz="1300" dirty="0"/>
          </a:p>
        </p:txBody>
      </p:sp>
      <p:sp>
        <p:nvSpPr>
          <p:cNvPr id="14" name="Basis heading"/>
          <p:cNvSpPr txBox="1"/>
          <p:nvPr/>
        </p:nvSpPr>
        <p:spPr>
          <a:xfrm>
            <a:off x="841248" y="2112264"/>
            <a:ext cx="4279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pic>
        <p:nvPicPr>
          <p:cNvPr id="17" name="Figure image16.png" descr="Technical Performance and PV–Grid Energy Balance figure">    </p:cNvPr>
          <p:cNvPicPr>
            <a:picLocks noChangeAspect="1"/>
          </p:cNvPicPr>
          <p:nvPr/>
        </p:nvPicPr>
        <p:blipFill>
          <a:blip r:embed="rId4"/>
          <a:stretch>
            <a:fillRect/>
          </a:stretch>
        </p:blipFill>
        <p:spPr>
          <a:xfrm>
            <a:off x="457200" y="2496312"/>
            <a:ext cx="4663440" cy="2471344"/>
          </a:xfrm>
          <a:prstGeom prst="rect">
            <a:avLst/>
          </a:prstGeom>
        </p:spPr>
      </p:pic>
      <p:sp>
        <p:nvSpPr>
          <p:cNvPr id="18" name="Results card"/>
          <p:cNvSpPr/>
          <p:nvPr/>
        </p:nvSpPr>
        <p:spPr>
          <a:xfrm>
            <a:off x="5394960" y="2112264"/>
            <a:ext cx="6339535" cy="1789684"/>
          </a:xfrm>
          <a:prstGeom prst="roundRect">
            <a:avLst>
              <a:gd name="adj" fmla="val 4087"/>
            </a:avLst>
          </a:prstGeom>
          <a:solidFill>
            <a:schemeClr val="bg2"/>
          </a:solidFill>
          <a:ln w="12700">
            <a:solidFill>
              <a:schemeClr val="bg2"/>
            </a:solidFill>
            <a:prstDash val="solid"/>
          </a:ln>
        </p:spPr>
      </p:sp>
      <p:sp>
        <p:nvSpPr>
          <p:cNvPr id="19" name="results badge"/>
          <p:cNvSpPr/>
          <p:nvPr/>
        </p:nvSpPr>
        <p:spPr>
          <a:xfrm>
            <a:off x="5559552" y="2203704"/>
            <a:ext cx="292608" cy="292608"/>
          </a:xfrm>
          <a:prstGeom prst="ellipse">
            <a:avLst/>
          </a:prstGeom>
          <a:solidFill>
            <a:schemeClr val="accent1"/>
          </a:solidFill>
          <a:ln w="12700">
            <a:solidFill>
              <a:schemeClr val="accent1"/>
            </a:solidFill>
            <a:prstDash val="solid"/>
          </a:ln>
        </p:spPr>
      </p:sp>
      <p:pic>
        <p:nvPicPr>
          <p:cNvPr id="20" name="results icon" descr="preencoded.png">    </p:cNvPr>
          <p:cNvPicPr>
            <a:picLocks noChangeAspect="1"/>
          </p:cNvPicPr>
          <p:nvPr/>
        </p:nvPicPr>
        <p:blipFill>
          <a:blip r:embed="rId5"/>
          <a:stretch>
            <a:fillRect/>
          </a:stretch>
        </p:blipFill>
        <p:spPr>
          <a:xfrm>
            <a:off x="5623926" y="2268078"/>
            <a:ext cx="163860" cy="163860"/>
          </a:xfrm>
          <a:prstGeom prst="rect">
            <a:avLst/>
          </a:prstGeom>
        </p:spPr>
      </p:pic>
      <p:sp>
        <p:nvSpPr>
          <p:cNvPr id="21" name="Results heading"/>
          <p:cNvSpPr txBox="1"/>
          <p:nvPr/>
        </p:nvSpPr>
        <p:spPr>
          <a:xfrm>
            <a:off x="59436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2" name="Results list 1"/>
          <p:cNvSpPr txBox="1"/>
          <p:nvPr/>
        </p:nvSpPr>
        <p:spPr>
          <a:xfrm>
            <a:off x="5577840" y="2569464"/>
            <a:ext cx="2895448" cy="13360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Installed PV capacity: 3.195 MWp</a:t>
            </a:r>
            <a:endParaRPr lang="en-US" sz="1300" dirty="0"/>
          </a:p>
          <a:p>
            <a:pPr marL="177800" indent="-177800">
              <a:spcAft>
                <a:spcPts val="400"/>
              </a:spcAft>
              <a:buSzPct val="100000"/>
              <a:buChar char="•"/>
            </a:pPr>
            <a:r>
              <a:rPr lang="en-US" sz="1300" dirty="0">
                <a:solidFill>
                  <a:schemeClr val="tx1"/>
                </a:solidFill>
              </a:rPr>
              <a:t>Annual PV production: 5.311 GWh</a:t>
            </a:r>
            <a:endParaRPr lang="en-US" sz="1300" dirty="0"/>
          </a:p>
          <a:p>
            <a:pPr marL="177800" indent="-177800">
              <a:spcAft>
                <a:spcPts val="400"/>
              </a:spcAft>
              <a:buSzPct val="100000"/>
              <a:buChar char="•"/>
            </a:pPr>
            <a:r>
              <a:rPr lang="en-US" sz="1300" dirty="0">
                <a:solidFill>
                  <a:schemeClr val="tx1"/>
                </a:solidFill>
              </a:rPr>
              <a:t>PV supplied to airport: 5.116 GWh</a:t>
            </a:r>
            <a:endParaRPr lang="en-US" sz="1300" dirty="0"/>
          </a:p>
          <a:p>
            <a:pPr marL="177800" indent="-177800">
              <a:spcAft>
                <a:spcPts val="400"/>
              </a:spcAft>
              <a:buSzPct val="100000"/>
              <a:buChar char="•"/>
            </a:pPr>
            <a:r>
              <a:rPr lang="en-US" sz="1300" dirty="0">
                <a:solidFill>
                  <a:schemeClr val="tx1"/>
                </a:solidFill>
              </a:rPr>
              <a:t>Grid supply: 10.876 GWh</a:t>
            </a:r>
            <a:endParaRPr lang="en-US" sz="1300" dirty="0"/>
          </a:p>
          <a:p>
            <a:pPr marL="177800" indent="-177800">
              <a:spcAft>
                <a:spcPts val="400"/>
              </a:spcAft>
              <a:buSzPct val="100000"/>
              <a:buChar char="•"/>
            </a:pPr>
            <a:r>
              <a:rPr lang="en-US" sz="1300" dirty="0">
                <a:solidFill>
                  <a:schemeClr val="tx1"/>
                </a:solidFill>
              </a:rPr>
              <a:t>Unused PV electricity: 0.195 GWh</a:t>
            </a:r>
            <a:endParaRPr lang="en-US" sz="1300" dirty="0"/>
          </a:p>
        </p:txBody>
      </p:sp>
      <p:sp>
        <p:nvSpPr>
          <p:cNvPr id="23" name="Results list 2"/>
          <p:cNvSpPr txBox="1"/>
          <p:nvPr/>
        </p:nvSpPr>
        <p:spPr>
          <a:xfrm>
            <a:off x="8656168" y="2569464"/>
            <a:ext cx="2895448" cy="10871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PV share of airport demand: 31.99%</a:t>
            </a:r>
            <a:endParaRPr lang="en-US" sz="1300" dirty="0"/>
          </a:p>
          <a:p>
            <a:pPr marL="177800" indent="-177800">
              <a:spcAft>
                <a:spcPts val="400"/>
              </a:spcAft>
              <a:buSzPct val="100000"/>
              <a:buChar char="•"/>
            </a:pPr>
            <a:r>
              <a:rPr lang="en-US" sz="1300" dirty="0">
                <a:solidFill>
                  <a:schemeClr val="tx1"/>
                </a:solidFill>
              </a:rPr>
              <a:t>Direct PV utilisation: 96.33%</a:t>
            </a:r>
            <a:endParaRPr lang="en-US" sz="1300" dirty="0"/>
          </a:p>
          <a:p>
            <a:pPr marL="177800" indent="-177800">
              <a:spcAft>
                <a:spcPts val="400"/>
              </a:spcAft>
              <a:buSzPct val="100000"/>
              <a:buChar char="•"/>
            </a:pPr>
            <a:r>
              <a:rPr lang="en-US" sz="1300" dirty="0">
                <a:solidFill>
                  <a:schemeClr val="tx1"/>
                </a:solidFill>
              </a:rPr>
              <a:t>Performance ratio: 88.47%</a:t>
            </a:r>
            <a:endParaRPr lang="en-US" sz="1300" dirty="0"/>
          </a:p>
          <a:p>
            <a:pPr marL="177800" indent="-177800">
              <a:spcAft>
                <a:spcPts val="400"/>
              </a:spcAft>
              <a:buSzPct val="100000"/>
              <a:buChar char="•"/>
            </a:pPr>
            <a:r>
              <a:rPr lang="en-US" sz="1300" dirty="0">
                <a:solidFill>
                  <a:schemeClr val="tx1"/>
                </a:solidFill>
              </a:rPr>
              <a:t>Grid export: 0.000 GWh</a:t>
            </a:r>
            <a:endParaRPr lang="en-US" sz="1300" dirty="0"/>
          </a:p>
        </p:txBody>
      </p:sp>
      <p:sp>
        <p:nvSpPr>
          <p:cNvPr id="24" name="Discussion card"/>
          <p:cNvSpPr/>
          <p:nvPr/>
        </p:nvSpPr>
        <p:spPr>
          <a:xfrm>
            <a:off x="5394960" y="4039108"/>
            <a:ext cx="6339535" cy="1526540"/>
          </a:xfrm>
          <a:prstGeom prst="roundRect">
            <a:avLst>
              <a:gd name="adj" fmla="val 4792"/>
            </a:avLst>
          </a:prstGeom>
          <a:solidFill>
            <a:schemeClr val="accent6"/>
          </a:solidFill>
          <a:ln w="12700">
            <a:solidFill>
              <a:schemeClr val="accent6"/>
            </a:solidFill>
            <a:prstDash val="solid"/>
          </a:ln>
        </p:spPr>
      </p:sp>
      <p:sp>
        <p:nvSpPr>
          <p:cNvPr id="25" name="discussion badge"/>
          <p:cNvSpPr/>
          <p:nvPr/>
        </p:nvSpPr>
        <p:spPr>
          <a:xfrm>
            <a:off x="5559552" y="4130548"/>
            <a:ext cx="292608" cy="292608"/>
          </a:xfrm>
          <a:prstGeom prst="ellipse">
            <a:avLst/>
          </a:prstGeom>
          <a:solidFill>
            <a:schemeClr val="accent2"/>
          </a:solidFill>
          <a:ln w="12700">
            <a:solidFill>
              <a:schemeClr val="accent2"/>
            </a:solidFill>
            <a:prstDash val="solid"/>
          </a:ln>
        </p:spPr>
      </p:sp>
      <p:pic>
        <p:nvPicPr>
          <p:cNvPr id="26" name="discussion icon" descr="preencoded.png">    </p:cNvPr>
          <p:cNvPicPr>
            <a:picLocks noChangeAspect="1"/>
          </p:cNvPicPr>
          <p:nvPr/>
        </p:nvPicPr>
        <p:blipFill>
          <a:blip r:embed="rId6"/>
          <a:stretch>
            <a:fillRect/>
          </a:stretch>
        </p:blipFill>
        <p:spPr>
          <a:xfrm>
            <a:off x="5623926" y="4194922"/>
            <a:ext cx="163860" cy="163860"/>
          </a:xfrm>
          <a:prstGeom prst="rect">
            <a:avLst/>
          </a:prstGeom>
        </p:spPr>
      </p:pic>
      <p:sp>
        <p:nvSpPr>
          <p:cNvPr id="27" name="Discussion heading"/>
          <p:cNvSpPr txBox="1"/>
          <p:nvPr/>
        </p:nvSpPr>
        <p:spPr>
          <a:xfrm>
            <a:off x="5943600" y="4130548"/>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8" name="Discussion text"/>
          <p:cNvSpPr txBox="1"/>
          <p:nvPr/>
        </p:nvSpPr>
        <p:spPr>
          <a:xfrm>
            <a:off x="5577840" y="4496308"/>
            <a:ext cx="5973775" cy="996188"/>
          </a:xfrm>
          <a:prstGeom prst="rect">
            <a:avLst/>
          </a:prstGeom>
          <a:noFill/>
          <a:ln/>
        </p:spPr>
        <p:txBody>
          <a:bodyPr wrap="square" lIns="0" tIns="0" rIns="0" bIns="0" rtlCol="0" anchor="t"/>
          <a:lstStyle/>
          <a:p>
            <a:pPr indent="0" marL="0">
              <a:buNone/>
            </a:pPr>
            <a:r>
              <a:rPr lang="en-US" sz="1300" dirty="0">
                <a:solidFill>
                  <a:schemeClr val="tx1"/>
                </a:solidFill>
              </a:rPr>
              <a:t>The PV system met almost one-third of forecast 2026 airport electricity demand. Approximately 96.33% of its generation was consumed directly, demonstrating a strong match between daytime airport demand and PV production. However, the grid remained the principal electricity source because airport demand continued beyond solar-generation hours</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PV losses and diminishing benefit at larger capacities</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Module temperature was the largest reported technical loss at 4.1%. The selected system produced 5.311 GWh/year, of which 5.116 GWh/year supplied the airport.</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following capacity comparison examines whether additional generation increases useful airport supply or unused electricity..</a:t>
            </a:r>
            <a:endParaRPr lang="en-US" sz="1300" dirty="0"/>
          </a:p>
        </p:txBody>
      </p:sp>
      <p:sp>
        <p:nvSpPr>
          <p:cNvPr id="14" name="Basis heading"/>
          <p:cNvSpPr txBox="1"/>
          <p:nvPr/>
        </p:nvSpPr>
        <p:spPr>
          <a:xfrm>
            <a:off x="841248" y="2112264"/>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58064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496312"/>
            <a:ext cx="5440680" cy="6172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Useful PV = PV production − unused PV     |     Grid requirement = forecast demand − PV supplied to airport</a:t>
            </a:r>
            <a:endParaRPr lang="en-US" sz="1300" dirty="0"/>
          </a:p>
        </p:txBody>
      </p:sp>
      <p:pic>
        <p:nvPicPr>
          <p:cNvPr id="19" name="Figure image17.png" descr="PV losses and diminishing benefit at larger capacities figure">    </p:cNvPr>
          <p:cNvPicPr>
            <a:picLocks noChangeAspect="1"/>
          </p:cNvPicPr>
          <p:nvPr/>
        </p:nvPicPr>
        <p:blipFill>
          <a:blip r:embed="rId4"/>
          <a:stretch>
            <a:fillRect/>
          </a:stretch>
        </p:blipFill>
        <p:spPr>
          <a:xfrm>
            <a:off x="1176252" y="3250692"/>
            <a:ext cx="4368335" cy="2314956"/>
          </a:xfrm>
          <a:prstGeom prst="rect">
            <a:avLst/>
          </a:prstGeom>
        </p:spPr>
      </p:pic>
      <p:sp>
        <p:nvSpPr>
          <p:cNvPr id="20" name="Results card"/>
          <p:cNvSpPr/>
          <p:nvPr/>
        </p:nvSpPr>
        <p:spPr>
          <a:xfrm>
            <a:off x="6537960" y="2112264"/>
            <a:ext cx="5196535" cy="1500124"/>
          </a:xfrm>
          <a:prstGeom prst="roundRect">
            <a:avLst>
              <a:gd name="adj" fmla="val 4876"/>
            </a:avLst>
          </a:prstGeom>
          <a:solidFill>
            <a:schemeClr val="bg2"/>
          </a:solidFill>
          <a:ln w="12700">
            <a:solidFill>
              <a:schemeClr val="bg2"/>
            </a:solidFill>
            <a:prstDash val="solid"/>
          </a:ln>
        </p:spPr>
      </p:sp>
      <p:sp>
        <p:nvSpPr>
          <p:cNvPr id="21" name="results badge"/>
          <p:cNvSpPr/>
          <p:nvPr/>
        </p:nvSpPr>
        <p:spPr>
          <a:xfrm>
            <a:off x="67025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268078"/>
            <a:ext cx="163860" cy="163860"/>
          </a:xfrm>
          <a:prstGeom prst="rect">
            <a:avLst/>
          </a:prstGeom>
        </p:spPr>
      </p:pic>
      <p:sp>
        <p:nvSpPr>
          <p:cNvPr id="23" name="Results heading"/>
          <p:cNvSpPr txBox="1"/>
          <p:nvPr/>
        </p:nvSpPr>
        <p:spPr>
          <a:xfrm>
            <a:off x="70866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sp>
        <p:nvSpPr>
          <p:cNvPr id="24" name="Results list 1"/>
          <p:cNvSpPr txBox="1"/>
          <p:nvPr/>
        </p:nvSpPr>
        <p:spPr>
          <a:xfrm>
            <a:off x="6720840" y="2569464"/>
            <a:ext cx="4830775" cy="8331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Performance ratio: 88.47%.</a:t>
            </a:r>
            <a:endParaRPr lang="en-US" sz="1400" dirty="0"/>
          </a:p>
          <a:p>
            <a:pPr marL="177800" indent="-177800">
              <a:spcAft>
                <a:spcPts val="400"/>
              </a:spcAft>
              <a:buSzPct val="100000"/>
              <a:buChar char="•"/>
            </a:pPr>
            <a:r>
              <a:rPr lang="en-US" sz="1400" dirty="0">
                <a:solidFill>
                  <a:schemeClr val="tx1"/>
                </a:solidFill>
              </a:rPr>
              <a:t>Unused PV electricity: 0.195 GWh/year, equivalent to 3.67% of production.</a:t>
            </a:r>
            <a:endParaRPr lang="en-US" sz="1400" dirty="0"/>
          </a:p>
        </p:txBody>
      </p:sp>
      <p:sp>
        <p:nvSpPr>
          <p:cNvPr id="25" name="Discussion card"/>
          <p:cNvSpPr/>
          <p:nvPr/>
        </p:nvSpPr>
        <p:spPr>
          <a:xfrm>
            <a:off x="6537960" y="3749548"/>
            <a:ext cx="5196535" cy="1816100"/>
          </a:xfrm>
          <a:prstGeom prst="roundRect">
            <a:avLst>
              <a:gd name="adj" fmla="val 4028"/>
            </a:avLst>
          </a:prstGeom>
          <a:solidFill>
            <a:schemeClr val="accent6"/>
          </a:solidFill>
          <a:ln w="12700">
            <a:solidFill>
              <a:schemeClr val="accent6"/>
            </a:solidFill>
            <a:prstDash val="solid"/>
          </a:ln>
        </p:spPr>
      </p:sp>
      <p:sp>
        <p:nvSpPr>
          <p:cNvPr id="26" name="discussion badge"/>
          <p:cNvSpPr/>
          <p:nvPr/>
        </p:nvSpPr>
        <p:spPr>
          <a:xfrm>
            <a:off x="6702552" y="3840988"/>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3905362"/>
            <a:ext cx="163860" cy="163860"/>
          </a:xfrm>
          <a:prstGeom prst="rect">
            <a:avLst/>
          </a:prstGeom>
        </p:spPr>
      </p:pic>
      <p:sp>
        <p:nvSpPr>
          <p:cNvPr id="28" name="Discussion heading"/>
          <p:cNvSpPr txBox="1"/>
          <p:nvPr/>
        </p:nvSpPr>
        <p:spPr>
          <a:xfrm>
            <a:off x="7086600" y="3840988"/>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206748"/>
            <a:ext cx="4830775" cy="1285748"/>
          </a:xfrm>
          <a:prstGeom prst="rect">
            <a:avLst/>
          </a:prstGeom>
          <a:noFill/>
          <a:ln/>
        </p:spPr>
        <p:txBody>
          <a:bodyPr wrap="square" lIns="0" tIns="0" rIns="0" bIns="0" rtlCol="0" anchor="t"/>
          <a:lstStyle/>
          <a:p>
            <a:pPr indent="0" marL="0">
              <a:buNone/>
            </a:pPr>
            <a:r>
              <a:rPr lang="en-US" sz="1400" dirty="0">
                <a:solidFill>
                  <a:schemeClr val="tx1"/>
                </a:solidFill>
              </a:rPr>
              <a:t>Temperature caused the largest reported technical loss, followed by module and string mismatch. Separately, some generated electricity remained unused because PV output exceeded the coincident airport load under zero-export operation.</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Long-term PV contribution and grid requirement</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selected 3.195 MWp system’s contribution decreased from 31.99% in 2026 to 17.38% in 2045, while its assumed useful PV supply remained constant at 5.116 GWh/year.</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following financial assessment evaluates whether the savings from displaced grid electricity justify the PV investment over the study period</a:t>
            </a:r>
            <a:endParaRPr lang="en-US" sz="1300" dirty="0"/>
          </a:p>
        </p:txBody>
      </p:sp>
      <p:sp>
        <p:nvSpPr>
          <p:cNvPr id="14" name="Basis heading"/>
          <p:cNvSpPr txBox="1"/>
          <p:nvPr/>
        </p:nvSpPr>
        <p:spPr>
          <a:xfrm>
            <a:off x="841248" y="2112264"/>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58064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496312"/>
            <a:ext cx="5440680" cy="617220"/>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latin typeface="Cambria" pitchFamily="34" charset="0"/>
                <a:ea typeface="Cambria" pitchFamily="34" charset="-122"/>
                <a:cs typeface="Cambria" pitchFamily="34" charset="-120"/>
              </a:rPr>
              <a:t>PV shareₜ = 100 × useful PV / forecast demandₜ     |     Gridₜ = forecast demandₜ − useful PV</a:t>
            </a:r>
            <a:endParaRPr lang="en-US" sz="1300" dirty="0"/>
          </a:p>
        </p:txBody>
      </p:sp>
      <p:pic>
        <p:nvPicPr>
          <p:cNvPr id="19" name="Figure image18.png" descr="Long-term PV contribution and grid requirement figure">    </p:cNvPr>
          <p:cNvPicPr>
            <a:picLocks noChangeAspect="1"/>
          </p:cNvPicPr>
          <p:nvPr/>
        </p:nvPicPr>
        <p:blipFill>
          <a:blip r:embed="rId4"/>
          <a:stretch>
            <a:fillRect/>
          </a:stretch>
        </p:blipFill>
        <p:spPr>
          <a:xfrm>
            <a:off x="1176252" y="3250692"/>
            <a:ext cx="4368335" cy="2314956"/>
          </a:xfrm>
          <a:prstGeom prst="rect">
            <a:avLst/>
          </a:prstGeom>
        </p:spPr>
      </p:pic>
      <p:sp>
        <p:nvSpPr>
          <p:cNvPr id="20" name="Results card"/>
          <p:cNvSpPr/>
          <p:nvPr/>
        </p:nvSpPr>
        <p:spPr>
          <a:xfrm>
            <a:off x="6537960" y="2112264"/>
            <a:ext cx="5196535" cy="1716024"/>
          </a:xfrm>
          <a:prstGeom prst="roundRect">
            <a:avLst>
              <a:gd name="adj" fmla="val 4263"/>
            </a:avLst>
          </a:prstGeom>
          <a:solidFill>
            <a:schemeClr val="bg2"/>
          </a:solidFill>
          <a:ln w="12700">
            <a:solidFill>
              <a:schemeClr val="bg2"/>
            </a:solidFill>
            <a:prstDash val="solid"/>
          </a:ln>
        </p:spPr>
      </p:sp>
      <p:sp>
        <p:nvSpPr>
          <p:cNvPr id="21" name="results badge"/>
          <p:cNvSpPr/>
          <p:nvPr/>
        </p:nvSpPr>
        <p:spPr>
          <a:xfrm>
            <a:off x="67025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766926" y="2268078"/>
            <a:ext cx="163860" cy="163860"/>
          </a:xfrm>
          <a:prstGeom prst="rect">
            <a:avLst/>
          </a:prstGeom>
        </p:spPr>
      </p:pic>
      <p:sp>
        <p:nvSpPr>
          <p:cNvPr id="23" name="Results heading"/>
          <p:cNvSpPr txBox="1"/>
          <p:nvPr/>
        </p:nvSpPr>
        <p:spPr>
          <a:xfrm>
            <a:off x="70866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23" name="Results table 1"/>
          <p:cNvGraphicFramePr>
            <a:graphicFrameLocks noGrp="1"/>
          </p:cNvGraphicFramePr>
          <p:nvPr>
            <p:extLst>
              <p:ext uri="{D42A27DB-BD31-4B8C-83A1-F6EECF244321}">
                <p14:modId xmlns:p14="http://schemas.microsoft.com/office/powerpoint/2010/main" val="1579011935"/>
              </p:ext>
            </p:extLst>
          </p:nvPr>
        </p:nvGraphicFramePr>
        <p:xfrm>
          <a:off x="6720840" y="2569464"/>
          <a:ext cx="4830775" cy="914400"/>
        </p:xfrm>
        <a:graphic>
          <a:graphicData uri="http://schemas.openxmlformats.org/drawingml/2006/table">
            <a:tbl>
              <a:tblPr/>
              <a:tblGrid>
                <a:gridCol w="2547136"/>
                <a:gridCol w="1141820"/>
                <a:gridCol w="1141820"/>
              </a:tblGrid>
              <a:tr h="0">
                <a:tc>
                  <a:txBody>
                    <a:bodyPr/>
                    <a:lstStyle/>
                    <a:p>
                      <a:pPr algn="l" indent="0" marL="0">
                        <a:buNone/>
                      </a:pPr>
                      <a:r>
                        <a:rPr lang="en-US" sz="1200" b="1" dirty="0">
                          <a:solidFill>
                            <a:schemeClr val="bg1"/>
                          </a:solidFill>
                        </a:rPr>
                        <a:t>Indicator</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2026</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2045</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00" dirty="0">
                          <a:solidFill>
                            <a:schemeClr val="tx1"/>
                          </a:solidFill>
                        </a:rPr>
                        <a:t>Forecast airport demand</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15.992 GWh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29.437 GWh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Grid requirement with selected PV</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10.876 GWh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24.321 GWh</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200" dirty="0">
                          <a:solidFill>
                            <a:schemeClr val="tx1"/>
                          </a:solidFill>
                        </a:rPr>
                        <a:t>Selected-system PV share</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31.99%</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17.38%</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bl>
          </a:graphicData>
        </a:graphic>
      </p:graphicFrame>
      <p:sp>
        <p:nvSpPr>
          <p:cNvPr id="25" name="Discussion card"/>
          <p:cNvSpPr/>
          <p:nvPr/>
        </p:nvSpPr>
        <p:spPr>
          <a:xfrm>
            <a:off x="6537960" y="3965448"/>
            <a:ext cx="5196535" cy="1600200"/>
          </a:xfrm>
          <a:prstGeom prst="roundRect">
            <a:avLst>
              <a:gd name="adj" fmla="val 4571"/>
            </a:avLst>
          </a:prstGeom>
          <a:solidFill>
            <a:schemeClr val="accent6"/>
          </a:solidFill>
          <a:ln w="12700">
            <a:solidFill>
              <a:schemeClr val="accent6"/>
            </a:solidFill>
            <a:prstDash val="solid"/>
          </a:ln>
        </p:spPr>
      </p:sp>
      <p:sp>
        <p:nvSpPr>
          <p:cNvPr id="26" name="discussion badge"/>
          <p:cNvSpPr/>
          <p:nvPr/>
        </p:nvSpPr>
        <p:spPr>
          <a:xfrm>
            <a:off x="6702552" y="4056888"/>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766926" y="4121262"/>
            <a:ext cx="163860" cy="163860"/>
          </a:xfrm>
          <a:prstGeom prst="rect">
            <a:avLst/>
          </a:prstGeom>
        </p:spPr>
      </p:pic>
      <p:sp>
        <p:nvSpPr>
          <p:cNvPr id="28" name="Discussion heading"/>
          <p:cNvSpPr txBox="1"/>
          <p:nvPr/>
        </p:nvSpPr>
        <p:spPr>
          <a:xfrm>
            <a:off x="7086600" y="4056888"/>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720840" y="4422648"/>
            <a:ext cx="4830775" cy="1069848"/>
          </a:xfrm>
          <a:prstGeom prst="rect">
            <a:avLst/>
          </a:prstGeom>
          <a:noFill/>
          <a:ln/>
        </p:spPr>
        <p:txBody>
          <a:bodyPr wrap="square" lIns="0" tIns="0" rIns="0" bIns="0" rtlCol="0" anchor="t"/>
          <a:lstStyle/>
          <a:p>
            <a:pPr indent="0" marL="0">
              <a:buNone/>
            </a:pPr>
            <a:r>
              <a:rPr lang="en-US" sz="1300" dirty="0">
                <a:solidFill>
                  <a:schemeClr val="tx1"/>
                </a:solidFill>
              </a:rPr>
              <a:t>Airport demand grows while useful PV supply remains constant in this assessment, reducing the percentage supplied by solar. The selected system continues to displace 5.116 GWh/year of grid electricity, although the remaining grid requirement increases.</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Capital investment and first-year electricity savings</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proposed 3.195 MWp system required an estimated UGX 13.640 billion investment and reduced annual electricity supply expenditure by UGX 1.674 billion in 2026 after PV O&amp;M.</a:t>
            </a:r>
            <a:endParaRPr lang="en-US" sz="1500" dirty="0"/>
          </a:p>
        </p:txBody>
      </p:sp>
      <p:sp>
        <p:nvSpPr>
          <p:cNvPr id="9" name="Implication bar"/>
          <p:cNvSpPr/>
          <p:nvPr/>
        </p:nvSpPr>
        <p:spPr>
          <a:xfrm>
            <a:off x="457200" y="5833872"/>
            <a:ext cx="11277295" cy="566928"/>
          </a:xfrm>
          <a:prstGeom prst="roundRect">
            <a:avLst>
              <a:gd name="adj" fmla="val 12903"/>
            </a:avLst>
          </a:prstGeom>
          <a:solidFill>
            <a:schemeClr val="tx2"/>
          </a:solidFill>
          <a:ln w="12700">
            <a:solidFill>
              <a:schemeClr val="tx2"/>
            </a:solidFill>
            <a:prstDash val="solid"/>
          </a:ln>
        </p:spPr>
      </p:sp>
      <p:sp>
        <p:nvSpPr>
          <p:cNvPr id="10" name="impl badge"/>
          <p:cNvSpPr/>
          <p:nvPr/>
        </p:nvSpPr>
        <p:spPr>
          <a:xfrm>
            <a:off x="594360" y="5961888"/>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6030285"/>
            <a:ext cx="174102" cy="174102"/>
          </a:xfrm>
          <a:prstGeom prst="rect">
            <a:avLst/>
          </a:prstGeom>
        </p:spPr>
      </p:pic>
      <p:sp>
        <p:nvSpPr>
          <p:cNvPr id="12" name="Implication label"/>
          <p:cNvSpPr txBox="1"/>
          <p:nvPr/>
        </p:nvSpPr>
        <p:spPr>
          <a:xfrm>
            <a:off x="987552" y="5833872"/>
            <a:ext cx="1463040" cy="566928"/>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833872"/>
            <a:ext cx="9037015" cy="566928"/>
          </a:xfrm>
          <a:prstGeom prst="rect">
            <a:avLst/>
          </a:prstGeom>
          <a:noFill/>
          <a:ln/>
        </p:spPr>
        <p:txBody>
          <a:bodyPr wrap="square" lIns="0" tIns="0" rIns="0" bIns="0" rtlCol="0" anchor="ctr"/>
          <a:lstStyle/>
          <a:p>
            <a:pPr indent="0" marL="0">
              <a:buNone/>
            </a:pPr>
            <a:r>
              <a:rPr lang="en-US" sz="1300" dirty="0">
                <a:solidFill>
                  <a:schemeClr val="bg1"/>
                </a:solidFill>
              </a:rPr>
              <a:t>The annual saving provides the cash inflow for the following capital-recovery and investment appraisal.</a:t>
            </a:r>
            <a:endParaRPr lang="en-US" sz="1300" dirty="0"/>
          </a:p>
        </p:txBody>
      </p:sp>
      <p:sp>
        <p:nvSpPr>
          <p:cNvPr id="14" name="Basis heading"/>
          <p:cNvSpPr txBox="1"/>
          <p:nvPr/>
        </p:nvSpPr>
        <p:spPr>
          <a:xfrm>
            <a:off x="841248" y="2112264"/>
            <a:ext cx="47365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51206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496312"/>
            <a:ext cx="4754880" cy="6172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Net annual saving = (5,116,000 × 357.71) − 155,870,000 = UGX 1,674,174,360</a:t>
            </a:r>
            <a:endParaRPr lang="en-US" sz="1300" dirty="0"/>
          </a:p>
        </p:txBody>
      </p:sp>
      <p:pic>
        <p:nvPicPr>
          <p:cNvPr id="19" name="Figure image19.png" descr="Capital investment and first-year electricity savings figure">    </p:cNvPr>
          <p:cNvPicPr>
            <a:picLocks noChangeAspect="1"/>
          </p:cNvPicPr>
          <p:nvPr/>
        </p:nvPicPr>
        <p:blipFill>
          <a:blip r:embed="rId4"/>
          <a:stretch>
            <a:fillRect/>
          </a:stretch>
        </p:blipFill>
        <p:spPr>
          <a:xfrm>
            <a:off x="770085" y="3250692"/>
            <a:ext cx="4494870" cy="2382012"/>
          </a:xfrm>
          <a:prstGeom prst="rect">
            <a:avLst/>
          </a:prstGeom>
        </p:spPr>
      </p:pic>
      <p:sp>
        <p:nvSpPr>
          <p:cNvPr id="20" name="Results card"/>
          <p:cNvSpPr/>
          <p:nvPr/>
        </p:nvSpPr>
        <p:spPr>
          <a:xfrm>
            <a:off x="5852160" y="2112264"/>
            <a:ext cx="5882335" cy="2141220"/>
          </a:xfrm>
          <a:prstGeom prst="roundRect">
            <a:avLst>
              <a:gd name="adj" fmla="val 3416"/>
            </a:avLst>
          </a:prstGeom>
          <a:solidFill>
            <a:schemeClr val="bg2"/>
          </a:solidFill>
          <a:ln w="12700">
            <a:solidFill>
              <a:schemeClr val="bg2"/>
            </a:solidFill>
            <a:prstDash val="solid"/>
          </a:ln>
        </p:spPr>
      </p:sp>
      <p:sp>
        <p:nvSpPr>
          <p:cNvPr id="21" name="results badge"/>
          <p:cNvSpPr/>
          <p:nvPr/>
        </p:nvSpPr>
        <p:spPr>
          <a:xfrm>
            <a:off x="60167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6081126" y="2268078"/>
            <a:ext cx="163860" cy="163860"/>
          </a:xfrm>
          <a:prstGeom prst="rect">
            <a:avLst/>
          </a:prstGeom>
        </p:spPr>
      </p:pic>
      <p:sp>
        <p:nvSpPr>
          <p:cNvPr id="23" name="Results heading"/>
          <p:cNvSpPr txBox="1"/>
          <p:nvPr/>
        </p:nvSpPr>
        <p:spPr>
          <a:xfrm>
            <a:off x="64008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24" name="Results table 1"/>
          <p:cNvGraphicFramePr>
            <a:graphicFrameLocks noGrp="1"/>
          </p:cNvGraphicFramePr>
          <p:nvPr>
            <p:extLst>
              <p:ext uri="{D42A27DB-BD31-4B8C-83A1-F6EECF244321}">
                <p14:modId xmlns:p14="http://schemas.microsoft.com/office/powerpoint/2010/main" val="1579011935"/>
              </p:ext>
            </p:extLst>
          </p:nvPr>
        </p:nvGraphicFramePr>
        <p:xfrm>
          <a:off x="6035040" y="2569464"/>
          <a:ext cx="5516575" cy="914400"/>
        </p:xfrm>
        <a:graphic>
          <a:graphicData uri="http://schemas.openxmlformats.org/drawingml/2006/table">
            <a:tbl>
              <a:tblPr/>
              <a:tblGrid>
                <a:gridCol w="1927478"/>
                <a:gridCol w="1661619"/>
                <a:gridCol w="1927478"/>
              </a:tblGrid>
              <a:tr h="0">
                <a:tc>
                  <a:txBody>
                    <a:bodyPr/>
                    <a:lstStyle/>
                    <a:p>
                      <a:pPr algn="l" indent="0" marL="0">
                        <a:buNone/>
                      </a:pPr>
                      <a:r>
                        <a:rPr lang="en-US" sz="1000" b="1" dirty="0">
                          <a:solidFill>
                            <a:schemeClr val="bg1"/>
                          </a:solidFill>
                        </a:rPr>
                        <a:t>Indicator</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000" b="1" dirty="0">
                          <a:solidFill>
                            <a:schemeClr val="bg1"/>
                          </a:solidFill>
                        </a:rPr>
                        <a:t>Result</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000" b="1" dirty="0">
                          <a:solidFill>
                            <a:schemeClr val="bg1"/>
                          </a:solidFill>
                        </a:rPr>
                        <a:t>Indicator</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000" dirty="0">
                          <a:solidFill>
                            <a:schemeClr val="tx1"/>
                          </a:solidFill>
                        </a:rPr>
                        <a:t>Estimated initial CAPEX</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UGX 13.640 billion</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Estimated initial CAPEX</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000" dirty="0">
                          <a:solidFill>
                            <a:schemeClr val="tx1"/>
                          </a:solidFill>
                        </a:rPr>
                        <a:t>Avoided grid expenditure</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1"/>
                          </a:solidFill>
                        </a:rPr>
                        <a:t>UGX 1.830 billion/year</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1"/>
                          </a:solidFill>
                        </a:rPr>
                        <a:t>Avoided grid expenditure</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000" dirty="0">
                          <a:solidFill>
                            <a:schemeClr val="tx1"/>
                          </a:solidFill>
                        </a:rPr>
                        <a:t>PV O&amp;M</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UGX 0.156 billion/year</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PV O&amp;M</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000" dirty="0">
                          <a:solidFill>
                            <a:schemeClr val="tx1"/>
                          </a:solidFill>
                        </a:rPr>
                        <a:t>Net electricity saving</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1"/>
                          </a:solidFill>
                        </a:rPr>
                        <a:t>UGX 1.674 billion/year</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1"/>
                          </a:solidFill>
                        </a:rPr>
                        <a:t>Net electricity saving</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000" dirty="0">
                          <a:solidFill>
                            <a:schemeClr val="tx1"/>
                          </a:solidFill>
                        </a:rPr>
                        <a:t>Reduction in annual supply expenditure</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29.27%</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Reduction in annual supply expenditure</a:t>
                      </a:r>
                      <a:endParaRPr lang="en-US" sz="10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bl>
          </a:graphicData>
        </a:graphic>
      </p:graphicFrame>
      <p:sp>
        <p:nvSpPr>
          <p:cNvPr id="25" name="Discussion card"/>
          <p:cNvSpPr/>
          <p:nvPr/>
        </p:nvSpPr>
        <p:spPr>
          <a:xfrm>
            <a:off x="5852160" y="4390644"/>
            <a:ext cx="5882335" cy="1242060"/>
          </a:xfrm>
          <a:prstGeom prst="roundRect">
            <a:avLst>
              <a:gd name="adj" fmla="val 5890"/>
            </a:avLst>
          </a:prstGeom>
          <a:solidFill>
            <a:schemeClr val="accent6"/>
          </a:solidFill>
          <a:ln w="12700">
            <a:solidFill>
              <a:schemeClr val="accent6"/>
            </a:solidFill>
            <a:prstDash val="solid"/>
          </a:ln>
        </p:spPr>
      </p:sp>
      <p:sp>
        <p:nvSpPr>
          <p:cNvPr id="26" name="discussion badge"/>
          <p:cNvSpPr/>
          <p:nvPr/>
        </p:nvSpPr>
        <p:spPr>
          <a:xfrm>
            <a:off x="6016752" y="4482084"/>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6081126" y="4546458"/>
            <a:ext cx="163860" cy="163860"/>
          </a:xfrm>
          <a:prstGeom prst="rect">
            <a:avLst/>
          </a:prstGeom>
        </p:spPr>
      </p:pic>
      <p:sp>
        <p:nvSpPr>
          <p:cNvPr id="28" name="Discussion heading"/>
          <p:cNvSpPr txBox="1"/>
          <p:nvPr/>
        </p:nvSpPr>
        <p:spPr>
          <a:xfrm>
            <a:off x="6400800" y="4482084"/>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6035040" y="4847844"/>
            <a:ext cx="5516575" cy="711708"/>
          </a:xfrm>
          <a:prstGeom prst="rect">
            <a:avLst/>
          </a:prstGeom>
          <a:noFill/>
          <a:ln/>
        </p:spPr>
        <p:txBody>
          <a:bodyPr wrap="square" lIns="0" tIns="0" rIns="0" bIns="0" rtlCol="0" anchor="t"/>
          <a:lstStyle/>
          <a:p>
            <a:pPr indent="0" marL="0">
              <a:buNone/>
            </a:pPr>
            <a:r>
              <a:rPr lang="en-US" sz="1100" dirty="0">
                <a:solidFill>
                  <a:schemeClr val="tx1"/>
                </a:solidFill>
              </a:rPr>
              <a:t>Direct use of 5.116 GWh/year of PV electricity reduces grid purchases. O&amp;M absorbs part of the avoided expenditure, leaving the reported net saving. Within the indicative CAPEX allocation, modules account for 27%; the remaining investment covers equipment, installation and integration with the airport electrical network.</a:t>
            </a:r>
            <a:endParaRPr lang="en-US" sz="11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Cash flow and investment appraisal</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proposed PV system was projected to recover its initial investment within the 20-year assessment period, with a positive NPV of UGX 0.613 billion under the base-case assumptions.</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base case supports investment, but its narrow margin makes capital-cost control and sustained PV utilisation important. The following break-even assessment examines how much financial margin remains.</a:t>
            </a:r>
            <a:endParaRPr lang="en-US" sz="1300" dirty="0"/>
          </a:p>
        </p:txBody>
      </p:sp>
      <p:sp>
        <p:nvSpPr>
          <p:cNvPr id="14" name="Basis heading"/>
          <p:cNvSpPr txBox="1"/>
          <p:nvPr/>
        </p:nvSpPr>
        <p:spPr>
          <a:xfrm>
            <a:off x="841248" y="2112264"/>
            <a:ext cx="45079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48920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496312"/>
            <a:ext cx="4526280" cy="6172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NPV = −C₀ + Σ CFₜ/(1+r)ᵗ     |     IRR occurs where NPV = 0     |     LCOE = discounted cost / discounted energy</a:t>
            </a:r>
            <a:endParaRPr lang="en-US" sz="1300" dirty="0"/>
          </a:p>
        </p:txBody>
      </p:sp>
      <p:pic>
        <p:nvPicPr>
          <p:cNvPr id="19" name="Figure image20.png" descr="Cash flow and investment appraisal figure">    </p:cNvPr>
          <p:cNvPicPr>
            <a:picLocks noChangeAspect="1"/>
          </p:cNvPicPr>
          <p:nvPr/>
        </p:nvPicPr>
        <p:blipFill>
          <a:blip r:embed="rId4"/>
          <a:stretch>
            <a:fillRect/>
          </a:stretch>
        </p:blipFill>
        <p:spPr>
          <a:xfrm>
            <a:off x="719052" y="3250692"/>
            <a:ext cx="4368335" cy="2314956"/>
          </a:xfrm>
          <a:prstGeom prst="rect">
            <a:avLst/>
          </a:prstGeom>
        </p:spPr>
      </p:pic>
      <p:sp>
        <p:nvSpPr>
          <p:cNvPr id="20" name="Results card"/>
          <p:cNvSpPr/>
          <p:nvPr/>
        </p:nvSpPr>
        <p:spPr>
          <a:xfrm>
            <a:off x="5623560" y="2112264"/>
            <a:ext cx="6110935" cy="2046732"/>
          </a:xfrm>
          <a:prstGeom prst="roundRect">
            <a:avLst>
              <a:gd name="adj" fmla="val 3574"/>
            </a:avLst>
          </a:prstGeom>
          <a:solidFill>
            <a:schemeClr val="bg2"/>
          </a:solidFill>
          <a:ln w="12700">
            <a:solidFill>
              <a:schemeClr val="bg2"/>
            </a:solidFill>
            <a:prstDash val="solid"/>
          </a:ln>
        </p:spPr>
      </p:sp>
      <p:sp>
        <p:nvSpPr>
          <p:cNvPr id="21" name="results badge"/>
          <p:cNvSpPr/>
          <p:nvPr/>
        </p:nvSpPr>
        <p:spPr>
          <a:xfrm>
            <a:off x="57881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5852526" y="2268078"/>
            <a:ext cx="163860" cy="163860"/>
          </a:xfrm>
          <a:prstGeom prst="rect">
            <a:avLst/>
          </a:prstGeom>
        </p:spPr>
      </p:pic>
      <p:sp>
        <p:nvSpPr>
          <p:cNvPr id="23" name="Results heading"/>
          <p:cNvSpPr txBox="1"/>
          <p:nvPr/>
        </p:nvSpPr>
        <p:spPr>
          <a:xfrm>
            <a:off x="61722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25" name="Results table 1"/>
          <p:cNvGraphicFramePr>
            <a:graphicFrameLocks noGrp="1"/>
          </p:cNvGraphicFramePr>
          <p:nvPr>
            <p:extLst>
              <p:ext uri="{D42A27DB-BD31-4B8C-83A1-F6EECF244321}">
                <p14:modId xmlns:p14="http://schemas.microsoft.com/office/powerpoint/2010/main" val="1579011935"/>
              </p:ext>
            </p:extLst>
          </p:nvPr>
        </p:nvGraphicFramePr>
        <p:xfrm>
          <a:off x="5806440" y="2569464"/>
          <a:ext cx="5745175" cy="914400"/>
        </p:xfrm>
        <a:graphic>
          <a:graphicData uri="http://schemas.openxmlformats.org/drawingml/2006/table">
            <a:tbl>
              <a:tblPr/>
              <a:tblGrid>
                <a:gridCol w="3332202"/>
                <a:gridCol w="2412974"/>
              </a:tblGrid>
              <a:tr h="0">
                <a:tc>
                  <a:txBody>
                    <a:bodyPr/>
                    <a:lstStyle/>
                    <a:p>
                      <a:pPr algn="l" indent="0" marL="0">
                        <a:buNone/>
                      </a:pPr>
                      <a:r>
                        <a:rPr lang="en-US" sz="1100" b="1" dirty="0">
                          <a:solidFill>
                            <a:schemeClr val="bg1"/>
                          </a:solidFill>
                        </a:rPr>
                        <a:t>Indicator</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rPr>
                        <a:t>Result</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100" dirty="0">
                          <a:solidFill>
                            <a:schemeClr val="tx1"/>
                          </a:solidFill>
                        </a:rPr>
                        <a:t>Simple payback</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8.15 years</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100" dirty="0">
                          <a:solidFill>
                            <a:schemeClr val="tx1"/>
                          </a:solidFill>
                        </a:rPr>
                        <a:t>Discounted payback</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17.70 years</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100" dirty="0">
                          <a:solidFill>
                            <a:schemeClr val="tx1"/>
                          </a:solidFill>
                        </a:rPr>
                        <a:t>NPV at 10%</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+UGX 0.613 billion</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100" dirty="0">
                          <a:solidFill>
                            <a:schemeClr val="tx1"/>
                          </a:solidFill>
                        </a:rPr>
                        <a:t>IRR</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10.65%</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100" dirty="0">
                          <a:solidFill>
                            <a:schemeClr val="tx1"/>
                          </a:solidFill>
                        </a:rPr>
                        <a:t>LCOE of useful PV electricity</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UGX 343.64/kWh</a:t>
                      </a:r>
                      <a:endParaRPr lang="en-US" sz="11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bl>
          </a:graphicData>
        </a:graphic>
      </p:graphicFrame>
      <p:sp>
        <p:nvSpPr>
          <p:cNvPr id="25" name="Discussion card"/>
          <p:cNvSpPr/>
          <p:nvPr/>
        </p:nvSpPr>
        <p:spPr>
          <a:xfrm>
            <a:off x="5623560" y="4296156"/>
            <a:ext cx="6110935" cy="1269492"/>
          </a:xfrm>
          <a:prstGeom prst="roundRect">
            <a:avLst>
              <a:gd name="adj" fmla="val 5762"/>
            </a:avLst>
          </a:prstGeom>
          <a:solidFill>
            <a:schemeClr val="accent6"/>
          </a:solidFill>
          <a:ln w="12700">
            <a:solidFill>
              <a:schemeClr val="accent6"/>
            </a:solidFill>
            <a:prstDash val="solid"/>
          </a:ln>
        </p:spPr>
      </p:sp>
      <p:sp>
        <p:nvSpPr>
          <p:cNvPr id="26" name="discussion badge"/>
          <p:cNvSpPr/>
          <p:nvPr/>
        </p:nvSpPr>
        <p:spPr>
          <a:xfrm>
            <a:off x="5788152" y="4387596"/>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5852526" y="4451970"/>
            <a:ext cx="163860" cy="163860"/>
          </a:xfrm>
          <a:prstGeom prst="rect">
            <a:avLst/>
          </a:prstGeom>
        </p:spPr>
      </p:pic>
      <p:sp>
        <p:nvSpPr>
          <p:cNvPr id="28" name="Discussion heading"/>
          <p:cNvSpPr txBox="1"/>
          <p:nvPr/>
        </p:nvSpPr>
        <p:spPr>
          <a:xfrm>
            <a:off x="6172200" y="4387596"/>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5806440" y="4753356"/>
            <a:ext cx="5745175" cy="739140"/>
          </a:xfrm>
          <a:prstGeom prst="rect">
            <a:avLst/>
          </a:prstGeom>
          <a:noFill/>
          <a:ln/>
        </p:spPr>
        <p:txBody>
          <a:bodyPr wrap="square" lIns="0" tIns="0" rIns="0" bIns="0" rtlCol="0" anchor="t"/>
          <a:lstStyle/>
          <a:p>
            <a:pPr indent="0" marL="0">
              <a:buNone/>
            </a:pPr>
            <a:r>
              <a:rPr lang="en-US" sz="1200" dirty="0">
                <a:solidFill>
                  <a:schemeClr val="tx1"/>
                </a:solidFill>
              </a:rPr>
              <a:t>Discounting reduces the present value of later savings, extending capital recovery from 8.15 to 17.70 years. The IRR exceeds the assumed discount rate by only 0.65 percentage points, while LCOE is UGX 14.07/kWh below the adopted grid tariff. These results indicate a positive but limited financial advantage.</a:t>
            </a:r>
            <a:endParaRPr lang="en-US" sz="12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Financial sensitivity and airport operational compatibility</a:t>
            </a:r>
            <a:endParaRPr lang="en-US" sz="2600" dirty="0"/>
          </a:p>
        </p:txBody>
      </p:sp>
      <p:sp>
        <p:nvSpPr>
          <p:cNvPr id="4" name="Main finding banner"/>
          <p:cNvSpPr/>
          <p:nvPr/>
        </p:nvSpPr>
        <p:spPr>
          <a:xfrm>
            <a:off x="457200" y="1188720"/>
            <a:ext cx="11277295" cy="694944"/>
          </a:xfrm>
          <a:prstGeom prst="roundRect">
            <a:avLst>
              <a:gd name="adj" fmla="val 10526"/>
            </a:avLst>
          </a:prstGeom>
          <a:solidFill>
            <a:schemeClr val="bg2"/>
          </a:solidFill>
          <a:ln w="12700">
            <a:solidFill>
              <a:schemeClr val="bg2"/>
            </a:solidFill>
            <a:prstDash val="solid"/>
          </a:ln>
        </p:spPr>
      </p:sp>
      <p:sp>
        <p:nvSpPr>
          <p:cNvPr id="5" name="finding badge"/>
          <p:cNvSpPr/>
          <p:nvPr/>
        </p:nvSpPr>
        <p:spPr>
          <a:xfrm>
            <a:off x="594360" y="13807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449141"/>
            <a:ext cx="174102" cy="174102"/>
          </a:xfrm>
          <a:prstGeom prst="rect">
            <a:avLst/>
          </a:prstGeom>
        </p:spPr>
      </p:pic>
      <p:sp>
        <p:nvSpPr>
          <p:cNvPr id="7" name="Main finding label"/>
          <p:cNvSpPr txBox="1"/>
          <p:nvPr/>
        </p:nvSpPr>
        <p:spPr>
          <a:xfrm>
            <a:off x="969264" y="1188720"/>
            <a:ext cx="960120" cy="6949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694944"/>
          </a:xfrm>
          <a:prstGeom prst="rect">
            <a:avLst/>
          </a:prstGeom>
          <a:noFill/>
          <a:ln/>
        </p:spPr>
        <p:txBody>
          <a:bodyPr wrap="square" lIns="0" tIns="0" rIns="0" bIns="0" rtlCol="0" anchor="ctr"/>
          <a:lstStyle/>
          <a:p>
            <a:pPr indent="0" marL="0">
              <a:buNone/>
            </a:pPr>
            <a:r>
              <a:rPr lang="en-US" sz="1500" b="1" dirty="0">
                <a:solidFill>
                  <a:schemeClr val="tx2"/>
                </a:solidFill>
              </a:rPr>
              <a:t>The positive base-case NPV became negative with a 10% increase in CAPEX or a 10% reduction in grid tariff or useful PV electricity, indicating a narrow financial margin.</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Operational role:</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PV supplies part of the daytime demand; the grid supplies the balance. Existing generators and UPS retain their standby and critical-power roles. Compatibility remains subject to protection and control coordination</a:t>
            </a:r>
            <a:endParaRPr lang="en-US" sz="1300" dirty="0"/>
          </a:p>
        </p:txBody>
      </p:sp>
      <p:sp>
        <p:nvSpPr>
          <p:cNvPr id="14" name="Basis heading"/>
          <p:cNvSpPr txBox="1"/>
          <p:nvPr/>
        </p:nvSpPr>
        <p:spPr>
          <a:xfrm>
            <a:off x="841248" y="2112264"/>
            <a:ext cx="4050792" cy="292608"/>
          </a:xfrm>
          <a:prstGeom prst="rect">
            <a:avLst/>
          </a:prstGeom>
          <a:noFill/>
          <a:ln/>
        </p:spPr>
        <p:txBody>
          <a:bodyPr wrap="square" lIns="0" tIns="0" rIns="0" bIns="0" rtlCol="0" anchor="ctr"/>
          <a:lstStyle/>
          <a:p>
            <a:pPr indent="0" marL="0">
              <a:buNone/>
            </a:pPr>
            <a:r>
              <a:rPr lang="en-US" sz="1500" b="1" dirty="0">
                <a:solidFill>
                  <a:schemeClr val="accent1"/>
                </a:solidFill>
              </a:rPr>
              <a:t>Analytical Basis</a:t>
            </a:r>
            <a:endParaRPr lang="en-US" sz="1500" dirty="0"/>
          </a:p>
        </p:txBody>
      </p:sp>
      <p:sp>
        <p:nvSpPr>
          <p:cNvPr id="15" name="basis badge"/>
          <p:cNvSpPr/>
          <p:nvPr/>
        </p:nvSpPr>
        <p:spPr>
          <a:xfrm>
            <a:off x="457200" y="21122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176638"/>
            <a:ext cx="163860" cy="163860"/>
          </a:xfrm>
          <a:prstGeom prst="rect">
            <a:avLst/>
          </a:prstGeom>
        </p:spPr>
      </p:pic>
      <p:sp>
        <p:nvSpPr>
          <p:cNvPr id="17" name="Equation panel"/>
          <p:cNvSpPr/>
          <p:nvPr/>
        </p:nvSpPr>
        <p:spPr>
          <a:xfrm>
            <a:off x="457200" y="2496312"/>
            <a:ext cx="4434840" cy="1051560"/>
          </a:xfrm>
          <a:prstGeom prst="roundRect">
            <a:avLst>
              <a:gd name="adj" fmla="val 6957"/>
            </a:avLst>
          </a:prstGeom>
          <a:solidFill>
            <a:schemeClr val="accent5"/>
          </a:solidFill>
          <a:ln w="12700">
            <a:solidFill>
              <a:schemeClr val="accent5"/>
            </a:solidFill>
            <a:prstDash val="solid"/>
          </a:ln>
        </p:spPr>
      </p:sp>
      <p:sp>
        <p:nvSpPr>
          <p:cNvPr id="18" name="Equations"/>
          <p:cNvSpPr txBox="1"/>
          <p:nvPr/>
        </p:nvSpPr>
        <p:spPr>
          <a:xfrm>
            <a:off x="640080" y="2496312"/>
            <a:ext cx="4069080" cy="105156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Each financial variable changes independently; other inputs remain fixed. Assessment period: 20 years; discount rate: 10%.</a:t>
            </a:r>
            <a:endParaRPr lang="en-US" sz="1300" dirty="0"/>
          </a:p>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NPV = Σ</a:t>
            </a:r>
            <a:pPr indent="0" marL="0">
              <a:buNone/>
            </a:pPr>
            <a:r>
              <a:rPr lang="en-US" sz="1300" baseline="-40000" dirty="0">
                <a:solidFill>
                  <a:schemeClr val="tx2"/>
                </a:solidFill>
                <a:latin typeface="Cambria" pitchFamily="34" charset="0"/>
                <a:ea typeface="Cambria" pitchFamily="34" charset="-122"/>
                <a:cs typeface="Cambria" pitchFamily="34" charset="-120"/>
              </a:rPr>
              <a:t>t=0</a:t>
            </a:r>
            <a:pPr indent="0" marL="0">
              <a:buNone/>
            </a:pPr>
            <a:r>
              <a:rPr lang="en-US" sz="1300" baseline="30000" dirty="0">
                <a:solidFill>
                  <a:schemeClr val="tx2"/>
                </a:solidFill>
                <a:latin typeface="Cambria" pitchFamily="34" charset="0"/>
                <a:ea typeface="Cambria" pitchFamily="34" charset="-122"/>
                <a:cs typeface="Cambria" pitchFamily="34" charset="-120"/>
              </a:rPr>
              <a:t>n</a:t>
            </a:r>
            <a:pPr indent="0" marL="0">
              <a:buNone/>
            </a:pPr>
            <a:r>
              <a:rPr lang="en-US" sz="1300" dirty="0">
                <a:solidFill>
                  <a:schemeClr val="tx2"/>
                </a:solidFill>
                <a:latin typeface="Cambria" pitchFamily="34" charset="0"/>
                <a:ea typeface="Cambria" pitchFamily="34" charset="-122"/>
                <a:cs typeface="Cambria" pitchFamily="34" charset="-120"/>
              </a:rPr>
              <a:t> CF</a:t>
            </a:r>
            <a:pPr indent="0" marL="0">
              <a:buNone/>
            </a:pPr>
            <a:r>
              <a:rPr lang="en-US" sz="1300" baseline="-4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(1+r)</a:t>
            </a:r>
            <a:pPr indent="0" marL="0">
              <a:buNone/>
            </a:pPr>
            <a:r>
              <a:rPr lang="en-US" sz="1300" baseline="30000" dirty="0">
                <a:solidFill>
                  <a:schemeClr val="tx2"/>
                </a:solidFill>
                <a:latin typeface="Cambria" pitchFamily="34" charset="0"/>
                <a:ea typeface="Cambria" pitchFamily="34" charset="-122"/>
                <a:cs typeface="Cambria" pitchFamily="34" charset="-120"/>
              </a:rPr>
              <a:t>t</a:t>
            </a:r>
            <a:pPr indent="0" marL="0">
              <a:buNone/>
            </a:pPr>
            <a:r>
              <a:rPr lang="en-US" sz="1300" dirty="0">
                <a:solidFill>
                  <a:schemeClr val="tx2"/>
                </a:solidFill>
                <a:latin typeface="Cambria" pitchFamily="34" charset="0"/>
                <a:ea typeface="Cambria" pitchFamily="34" charset="-122"/>
                <a:cs typeface="Cambria" pitchFamily="34" charset="-120"/>
              </a:rPr>
              <a:t> − C</a:t>
            </a:r>
            <a:pPr indent="0" marL="0">
              <a:buNone/>
            </a:pPr>
            <a:r>
              <a:rPr lang="en-US" sz="1300" baseline="-40000" dirty="0">
                <a:solidFill>
                  <a:schemeClr val="tx2"/>
                </a:solidFill>
                <a:latin typeface="Cambria" pitchFamily="34" charset="0"/>
                <a:ea typeface="Cambria" pitchFamily="34" charset="-122"/>
                <a:cs typeface="Cambria" pitchFamily="34" charset="-120"/>
              </a:rPr>
              <a:t>o</a:t>
            </a:r>
            <a:endParaRPr lang="en-US" sz="1300" dirty="0"/>
          </a:p>
        </p:txBody>
      </p:sp>
      <p:pic>
        <p:nvPicPr>
          <p:cNvPr id="19" name="Figure image21.png" descr="Financial sensitivity and airport operational compatibility figure">    </p:cNvPr>
          <p:cNvPicPr>
            <a:picLocks noChangeAspect="1"/>
          </p:cNvPicPr>
          <p:nvPr/>
        </p:nvPicPr>
        <p:blipFill>
          <a:blip r:embed="rId4"/>
          <a:stretch>
            <a:fillRect/>
          </a:stretch>
        </p:blipFill>
        <p:spPr>
          <a:xfrm>
            <a:off x="900253" y="3685032"/>
            <a:ext cx="3548733" cy="1880616"/>
          </a:xfrm>
          <a:prstGeom prst="rect">
            <a:avLst/>
          </a:prstGeom>
        </p:spPr>
      </p:pic>
      <p:sp>
        <p:nvSpPr>
          <p:cNvPr id="20" name="Results card"/>
          <p:cNvSpPr/>
          <p:nvPr/>
        </p:nvSpPr>
        <p:spPr>
          <a:xfrm>
            <a:off x="5166360" y="2112264"/>
            <a:ext cx="6568135" cy="1938528"/>
          </a:xfrm>
          <a:prstGeom prst="roundRect">
            <a:avLst>
              <a:gd name="adj" fmla="val 3774"/>
            </a:avLst>
          </a:prstGeom>
          <a:solidFill>
            <a:schemeClr val="bg2"/>
          </a:solidFill>
          <a:ln w="12700">
            <a:solidFill>
              <a:schemeClr val="bg2"/>
            </a:solidFill>
            <a:prstDash val="solid"/>
          </a:ln>
        </p:spPr>
      </p:sp>
      <p:sp>
        <p:nvSpPr>
          <p:cNvPr id="21" name="results badge"/>
          <p:cNvSpPr/>
          <p:nvPr/>
        </p:nvSpPr>
        <p:spPr>
          <a:xfrm>
            <a:off x="5330952" y="2203704"/>
            <a:ext cx="292608" cy="292608"/>
          </a:xfrm>
          <a:prstGeom prst="ellipse">
            <a:avLst/>
          </a:prstGeom>
          <a:solidFill>
            <a:schemeClr val="accent1"/>
          </a:solidFill>
          <a:ln w="12700">
            <a:solidFill>
              <a:schemeClr val="accent1"/>
            </a:solidFill>
            <a:prstDash val="solid"/>
          </a:ln>
        </p:spPr>
      </p:sp>
      <p:pic>
        <p:nvPicPr>
          <p:cNvPr id="22" name="results icon" descr="preencoded.png">    </p:cNvPr>
          <p:cNvPicPr>
            <a:picLocks noChangeAspect="1"/>
          </p:cNvPicPr>
          <p:nvPr/>
        </p:nvPicPr>
        <p:blipFill>
          <a:blip r:embed="rId5"/>
          <a:stretch>
            <a:fillRect/>
          </a:stretch>
        </p:blipFill>
        <p:spPr>
          <a:xfrm>
            <a:off x="5395326" y="2268078"/>
            <a:ext cx="163860" cy="163860"/>
          </a:xfrm>
          <a:prstGeom prst="rect">
            <a:avLst/>
          </a:prstGeom>
        </p:spPr>
      </p:pic>
      <p:sp>
        <p:nvSpPr>
          <p:cNvPr id="23" name="Results heading"/>
          <p:cNvSpPr txBox="1"/>
          <p:nvPr/>
        </p:nvSpPr>
        <p:spPr>
          <a:xfrm>
            <a:off x="5715000" y="2203704"/>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26" name="Results table 1"/>
          <p:cNvGraphicFramePr>
            <a:graphicFrameLocks noGrp="1"/>
          </p:cNvGraphicFramePr>
          <p:nvPr>
            <p:extLst>
              <p:ext uri="{D42A27DB-BD31-4B8C-83A1-F6EECF244321}">
                <p14:modId xmlns:p14="http://schemas.microsoft.com/office/powerpoint/2010/main" val="1579011935"/>
              </p:ext>
            </p:extLst>
          </p:nvPr>
        </p:nvGraphicFramePr>
        <p:xfrm>
          <a:off x="5349240" y="2569464"/>
          <a:ext cx="6202375" cy="914400"/>
        </p:xfrm>
        <a:graphic>
          <a:graphicData uri="http://schemas.openxmlformats.org/drawingml/2006/table">
            <a:tbl>
              <a:tblPr/>
              <a:tblGrid>
                <a:gridCol w="3670793"/>
                <a:gridCol w="2531582"/>
              </a:tblGrid>
              <a:tr h="0">
                <a:tc>
                  <a:txBody>
                    <a:bodyPr/>
                    <a:lstStyle/>
                    <a:p>
                      <a:pPr algn="l" indent="0" marL="0">
                        <a:buNone/>
                      </a:pPr>
                      <a:r>
                        <a:rPr lang="en-US" sz="1200" b="1" dirty="0">
                          <a:solidFill>
                            <a:schemeClr val="bg1"/>
                          </a:solidFill>
                        </a:rPr>
                        <a:t>Scenario</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NPV (UGX billion)</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200" dirty="0">
                          <a:solidFill>
                            <a:schemeClr val="tx1"/>
                          </a:solidFill>
                        </a:rPr>
                        <a:t>Base case</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+0.613</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CAPEX increases by 10%</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−0.751</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200" dirty="0">
                          <a:solidFill>
                            <a:schemeClr val="tx1"/>
                          </a:solidFill>
                        </a:rPr>
                        <a:t>Grid tariff decreases by 10%</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−0.945</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200" dirty="0">
                          <a:solidFill>
                            <a:schemeClr val="tx1"/>
                          </a:solidFill>
                        </a:rPr>
                        <a:t>Useful PV electricity decreases by 10%</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−0.945</a:t>
                      </a:r>
                      <a:endParaRPr lang="en-US" sz="12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5" name="Discussion card"/>
          <p:cNvSpPr/>
          <p:nvPr/>
        </p:nvSpPr>
        <p:spPr>
          <a:xfrm>
            <a:off x="5166360" y="4187952"/>
            <a:ext cx="6568135" cy="1377696"/>
          </a:xfrm>
          <a:prstGeom prst="roundRect">
            <a:avLst>
              <a:gd name="adj" fmla="val 5310"/>
            </a:avLst>
          </a:prstGeom>
          <a:solidFill>
            <a:schemeClr val="accent6"/>
          </a:solidFill>
          <a:ln w="12700">
            <a:solidFill>
              <a:schemeClr val="accent6"/>
            </a:solidFill>
            <a:prstDash val="solid"/>
          </a:ln>
        </p:spPr>
      </p:sp>
      <p:sp>
        <p:nvSpPr>
          <p:cNvPr id="26" name="discussion badge"/>
          <p:cNvSpPr/>
          <p:nvPr/>
        </p:nvSpPr>
        <p:spPr>
          <a:xfrm>
            <a:off x="5330952" y="4279392"/>
            <a:ext cx="292608" cy="292608"/>
          </a:xfrm>
          <a:prstGeom prst="ellipse">
            <a:avLst/>
          </a:prstGeom>
          <a:solidFill>
            <a:schemeClr val="accent2"/>
          </a:solidFill>
          <a:ln w="12700">
            <a:solidFill>
              <a:schemeClr val="accent2"/>
            </a:solidFill>
            <a:prstDash val="solid"/>
          </a:ln>
        </p:spPr>
      </p:sp>
      <p:pic>
        <p:nvPicPr>
          <p:cNvPr id="27" name="discussion icon" descr="preencoded.png">    </p:cNvPr>
          <p:cNvPicPr>
            <a:picLocks noChangeAspect="1"/>
          </p:cNvPicPr>
          <p:nvPr/>
        </p:nvPicPr>
        <p:blipFill>
          <a:blip r:embed="rId6"/>
          <a:stretch>
            <a:fillRect/>
          </a:stretch>
        </p:blipFill>
        <p:spPr>
          <a:xfrm>
            <a:off x="5395326" y="4343766"/>
            <a:ext cx="163860" cy="163860"/>
          </a:xfrm>
          <a:prstGeom prst="rect">
            <a:avLst/>
          </a:prstGeom>
        </p:spPr>
      </p:pic>
      <p:sp>
        <p:nvSpPr>
          <p:cNvPr id="28" name="Discussion heading"/>
          <p:cNvSpPr txBox="1"/>
          <p:nvPr/>
        </p:nvSpPr>
        <p:spPr>
          <a:xfrm>
            <a:off x="5715000" y="4279392"/>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9" name="Discussion text"/>
          <p:cNvSpPr txBox="1"/>
          <p:nvPr/>
        </p:nvSpPr>
        <p:spPr>
          <a:xfrm>
            <a:off x="5349240" y="4645152"/>
            <a:ext cx="6202375" cy="847344"/>
          </a:xfrm>
          <a:prstGeom prst="rect">
            <a:avLst/>
          </a:prstGeom>
          <a:noFill/>
          <a:ln/>
        </p:spPr>
        <p:txBody>
          <a:bodyPr wrap="square" lIns="0" tIns="0" rIns="0" bIns="0" rtlCol="0" anchor="t"/>
          <a:lstStyle/>
          <a:p>
            <a:pPr indent="0" marL="0">
              <a:buNone/>
            </a:pPr>
            <a:r>
              <a:rPr lang="en-US" sz="1300" dirty="0">
                <a:solidFill>
                  <a:schemeClr val="tx1"/>
                </a:solidFill>
              </a:rPr>
              <a:t>The narrow financial margin makes investment-cost control and sustained direct PV use important. Under zero-export operation, unused electricity provides no additional grid-cost saving. The proposed connection requires appropriate protection, anti-islanding and coordination with existing standby supplies.</a:t>
            </a:r>
            <a:endParaRPr lang="en-US" sz="13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Overall finding for Objective Three</a:t>
            </a:r>
            <a:endParaRPr lang="en-US" sz="2600" dirty="0"/>
          </a:p>
        </p:txBody>
      </p:sp>
      <p:sp>
        <p:nvSpPr>
          <p:cNvPr id="4" name="Main finding banner"/>
          <p:cNvSpPr/>
          <p:nvPr/>
        </p:nvSpPr>
        <p:spPr>
          <a:xfrm>
            <a:off x="457200" y="1188720"/>
            <a:ext cx="11277295" cy="923544"/>
          </a:xfrm>
          <a:prstGeom prst="roundRect">
            <a:avLst>
              <a:gd name="adj" fmla="val 7921"/>
            </a:avLst>
          </a:prstGeom>
          <a:solidFill>
            <a:schemeClr val="bg2"/>
          </a:solidFill>
          <a:ln w="12700">
            <a:solidFill>
              <a:schemeClr val="bg2"/>
            </a:solidFill>
            <a:prstDash val="solid"/>
          </a:ln>
        </p:spPr>
      </p:sp>
      <p:sp>
        <p:nvSpPr>
          <p:cNvPr id="5" name="finding badge"/>
          <p:cNvSpPr/>
          <p:nvPr/>
        </p:nvSpPr>
        <p:spPr>
          <a:xfrm>
            <a:off x="594360" y="1495044"/>
            <a:ext cx="310896" cy="310896"/>
          </a:xfrm>
          <a:prstGeom prst="ellipse">
            <a:avLst/>
          </a:prstGeom>
          <a:solidFill>
            <a:schemeClr val="accent2"/>
          </a:solidFill>
          <a:ln w="12700">
            <a:solidFill>
              <a:schemeClr val="accent2"/>
            </a:solidFill>
            <a:prstDash val="solid"/>
          </a:ln>
        </p:spPr>
      </p:sp>
      <p:pic>
        <p:nvPicPr>
          <p:cNvPr id="6" name="finding icon" descr="preencoded.png">    </p:cNvPr>
          <p:cNvPicPr>
            <a:picLocks noChangeAspect="1"/>
          </p:cNvPicPr>
          <p:nvPr/>
        </p:nvPicPr>
        <p:blipFill>
          <a:blip r:embed="rId1"/>
          <a:stretch>
            <a:fillRect/>
          </a:stretch>
        </p:blipFill>
        <p:spPr>
          <a:xfrm>
            <a:off x="662757" y="1563441"/>
            <a:ext cx="174102" cy="174102"/>
          </a:xfrm>
          <a:prstGeom prst="rect">
            <a:avLst/>
          </a:prstGeom>
        </p:spPr>
      </p:pic>
      <p:sp>
        <p:nvSpPr>
          <p:cNvPr id="7" name="Main finding label"/>
          <p:cNvSpPr txBox="1"/>
          <p:nvPr/>
        </p:nvSpPr>
        <p:spPr>
          <a:xfrm>
            <a:off x="969264" y="1188720"/>
            <a:ext cx="960120" cy="923544"/>
          </a:xfrm>
          <a:prstGeom prst="rect">
            <a:avLst/>
          </a:prstGeom>
          <a:noFill/>
          <a:ln/>
        </p:spPr>
        <p:txBody>
          <a:bodyPr wrap="square" lIns="0" tIns="0" rIns="0" bIns="0" rtlCol="0" anchor="ctr"/>
          <a:lstStyle/>
          <a:p>
            <a:pPr indent="0" marL="0">
              <a:buNone/>
            </a:pPr>
            <a:r>
              <a:rPr lang="en-US" sz="1100" b="1" dirty="0">
                <a:solidFill>
                  <a:schemeClr val="accent2"/>
                </a:solidFill>
              </a:rPr>
              <a:t>Main finding</a:t>
            </a:r>
            <a:endParaRPr lang="en-US" sz="1100" dirty="0"/>
          </a:p>
        </p:txBody>
      </p:sp>
      <p:sp>
        <p:nvSpPr>
          <p:cNvPr id="8" name="Main finding text"/>
          <p:cNvSpPr txBox="1"/>
          <p:nvPr/>
        </p:nvSpPr>
        <p:spPr>
          <a:xfrm>
            <a:off x="2011680" y="1188720"/>
            <a:ext cx="9585655" cy="923544"/>
          </a:xfrm>
          <a:prstGeom prst="rect">
            <a:avLst/>
          </a:prstGeom>
          <a:noFill/>
          <a:ln/>
        </p:spPr>
        <p:txBody>
          <a:bodyPr wrap="square" lIns="0" tIns="0" rIns="0" bIns="0" rtlCol="0" anchor="ctr"/>
          <a:lstStyle/>
          <a:p>
            <a:pPr indent="0" marL="0">
              <a:buNone/>
            </a:pPr>
            <a:r>
              <a:rPr lang="en-US" sz="1500" b="1" dirty="0">
                <a:solidFill>
                  <a:schemeClr val="tx2"/>
                </a:solidFill>
              </a:rPr>
              <a:t>The independently tested Hybrid SARIMAX–ANN model informed the assessment of a 3.195 MWp PV system projected to reduce airport grid purchases and electricity costs, with a positive but narrow financial margin..</a:t>
            </a:r>
            <a:endParaRPr lang="en-US" sz="1500" dirty="0"/>
          </a:p>
        </p:txBody>
      </p:sp>
      <p:sp>
        <p:nvSpPr>
          <p:cNvPr id="9" name="Implication bar"/>
          <p:cNvSpPr/>
          <p:nvPr/>
        </p:nvSpPr>
        <p:spPr>
          <a:xfrm>
            <a:off x="457200" y="5766816"/>
            <a:ext cx="11277295" cy="633984"/>
          </a:xfrm>
          <a:prstGeom prst="roundRect">
            <a:avLst>
              <a:gd name="adj" fmla="val 11538"/>
            </a:avLst>
          </a:prstGeom>
          <a:solidFill>
            <a:schemeClr val="tx2"/>
          </a:solidFill>
          <a:ln w="12700">
            <a:solidFill>
              <a:schemeClr val="tx2"/>
            </a:solidFill>
            <a:prstDash val="solid"/>
          </a:ln>
        </p:spPr>
      </p:sp>
      <p:sp>
        <p:nvSpPr>
          <p:cNvPr id="10" name="impl badge"/>
          <p:cNvSpPr/>
          <p:nvPr/>
        </p:nvSpPr>
        <p:spPr>
          <a:xfrm>
            <a:off x="594360" y="5928360"/>
            <a:ext cx="310896" cy="310896"/>
          </a:xfrm>
          <a:prstGeom prst="ellipse">
            <a:avLst/>
          </a:prstGeom>
          <a:solidFill>
            <a:schemeClr val="accent2"/>
          </a:solidFill>
          <a:ln w="12700">
            <a:solidFill>
              <a:schemeClr val="accent2"/>
            </a:solidFill>
            <a:prstDash val="solid"/>
          </a:ln>
        </p:spPr>
      </p:sp>
      <p:pic>
        <p:nvPicPr>
          <p:cNvPr id="11" name="impl icon" descr="preencoded.png">    </p:cNvPr>
          <p:cNvPicPr>
            <a:picLocks noChangeAspect="1"/>
          </p:cNvPicPr>
          <p:nvPr/>
        </p:nvPicPr>
        <p:blipFill>
          <a:blip r:embed="rId2"/>
          <a:stretch>
            <a:fillRect/>
          </a:stretch>
        </p:blipFill>
        <p:spPr>
          <a:xfrm>
            <a:off x="662757" y="5996757"/>
            <a:ext cx="174102" cy="174102"/>
          </a:xfrm>
          <a:prstGeom prst="rect">
            <a:avLst/>
          </a:prstGeom>
        </p:spPr>
      </p:pic>
      <p:sp>
        <p:nvSpPr>
          <p:cNvPr id="12" name="Implication label"/>
          <p:cNvSpPr txBox="1"/>
          <p:nvPr/>
        </p:nvSpPr>
        <p:spPr>
          <a:xfrm>
            <a:off x="987552" y="5766816"/>
            <a:ext cx="1463040" cy="633984"/>
          </a:xfrm>
          <a:prstGeom prst="rect">
            <a:avLst/>
          </a:prstGeom>
          <a:noFill/>
          <a:ln/>
        </p:spPr>
        <p:txBody>
          <a:bodyPr wrap="square" lIns="0" tIns="0" rIns="0" bIns="0" rtlCol="0" anchor="ctr"/>
          <a:lstStyle/>
          <a:p>
            <a:pPr indent="0" marL="0">
              <a:buNone/>
            </a:pPr>
            <a:r>
              <a:rPr lang="en-US" sz="1200" b="1" dirty="0">
                <a:solidFill>
                  <a:schemeClr val="accent6"/>
                </a:solidFill>
              </a:rPr>
              <a:t>Practical implication</a:t>
            </a:r>
            <a:endParaRPr lang="en-US" sz="1200" dirty="0"/>
          </a:p>
        </p:txBody>
      </p:sp>
      <p:sp>
        <p:nvSpPr>
          <p:cNvPr id="13" name="Implication text"/>
          <p:cNvSpPr txBox="1"/>
          <p:nvPr/>
        </p:nvSpPr>
        <p:spPr>
          <a:xfrm>
            <a:off x="2514600" y="5766816"/>
            <a:ext cx="9037015" cy="633984"/>
          </a:xfrm>
          <a:prstGeom prst="rect">
            <a:avLst/>
          </a:prstGeom>
          <a:noFill/>
          <a:ln/>
        </p:spPr>
        <p:txBody>
          <a:bodyPr wrap="square" lIns="0" tIns="0" rIns="0" bIns="0" rtlCol="0" anchor="ctr"/>
          <a:lstStyle/>
          <a:p>
            <a:pPr indent="0" marL="0">
              <a:buNone/>
            </a:pPr>
            <a:r>
              <a:rPr lang="en-US" sz="1300" dirty="0">
                <a:solidFill>
                  <a:schemeClr val="bg1"/>
                </a:solidFill>
              </a:rPr>
              <a:t>The findings support forecast-informed PV planning, with investment decisions dependent on confirmed project costs, sustained PV utilisation and coordinated integration with the airport’s existing supplies.</a:t>
            </a:r>
            <a:endParaRPr lang="en-US" sz="1300" dirty="0"/>
          </a:p>
        </p:txBody>
      </p:sp>
      <p:sp>
        <p:nvSpPr>
          <p:cNvPr id="14" name="Basis heading"/>
          <p:cNvSpPr txBox="1"/>
          <p:nvPr/>
        </p:nvSpPr>
        <p:spPr>
          <a:xfrm>
            <a:off x="841248" y="2340864"/>
            <a:ext cx="5422392" cy="292608"/>
          </a:xfrm>
          <a:prstGeom prst="rect">
            <a:avLst/>
          </a:prstGeom>
          <a:noFill/>
          <a:ln/>
        </p:spPr>
        <p:txBody>
          <a:bodyPr wrap="square" lIns="0" tIns="0" rIns="0" bIns="0" rtlCol="0" anchor="ctr"/>
          <a:lstStyle/>
          <a:p>
            <a:pPr indent="0" marL="0">
              <a:buNone/>
            </a:pPr>
            <a:r>
              <a:rPr lang="en-US" sz="1500" b="1" dirty="0">
                <a:solidFill>
                  <a:schemeClr val="accent1"/>
                </a:solidFill>
              </a:rPr>
              <a:t>integrated basis</a:t>
            </a:r>
            <a:endParaRPr lang="en-US" sz="1500" dirty="0"/>
          </a:p>
        </p:txBody>
      </p:sp>
      <p:sp>
        <p:nvSpPr>
          <p:cNvPr id="15" name="basis badge"/>
          <p:cNvSpPr/>
          <p:nvPr/>
        </p:nvSpPr>
        <p:spPr>
          <a:xfrm>
            <a:off x="457200" y="2340864"/>
            <a:ext cx="292608" cy="292608"/>
          </a:xfrm>
          <a:prstGeom prst="ellipse">
            <a:avLst/>
          </a:prstGeom>
          <a:solidFill>
            <a:schemeClr val="accent1"/>
          </a:solidFill>
          <a:ln w="12700">
            <a:solidFill>
              <a:schemeClr val="accent1"/>
            </a:solidFill>
            <a:prstDash val="solid"/>
          </a:ln>
        </p:spPr>
      </p:sp>
      <p:pic>
        <p:nvPicPr>
          <p:cNvPr id="16" name="basis icon" descr="preencoded.png">    </p:cNvPr>
          <p:cNvPicPr>
            <a:picLocks noChangeAspect="1"/>
          </p:cNvPicPr>
          <p:nvPr/>
        </p:nvPicPr>
        <p:blipFill>
          <a:blip r:embed="rId3"/>
          <a:stretch>
            <a:fillRect/>
          </a:stretch>
        </p:blipFill>
        <p:spPr>
          <a:xfrm>
            <a:off x="521574" y="2405238"/>
            <a:ext cx="163860" cy="163860"/>
          </a:xfrm>
          <a:prstGeom prst="rect">
            <a:avLst/>
          </a:prstGeom>
        </p:spPr>
      </p:pic>
      <p:sp>
        <p:nvSpPr>
          <p:cNvPr id="17" name="Equation panel"/>
          <p:cNvSpPr/>
          <p:nvPr/>
        </p:nvSpPr>
        <p:spPr>
          <a:xfrm>
            <a:off x="457200" y="2724912"/>
            <a:ext cx="5806440" cy="617220"/>
          </a:xfrm>
          <a:prstGeom prst="roundRect">
            <a:avLst>
              <a:gd name="adj" fmla="val 11852"/>
            </a:avLst>
          </a:prstGeom>
          <a:solidFill>
            <a:schemeClr val="accent5"/>
          </a:solidFill>
          <a:ln w="12700">
            <a:solidFill>
              <a:schemeClr val="accent5"/>
            </a:solidFill>
            <a:prstDash val="solid"/>
          </a:ln>
        </p:spPr>
      </p:sp>
      <p:sp>
        <p:nvSpPr>
          <p:cNvPr id="18" name="Equations"/>
          <p:cNvSpPr txBox="1"/>
          <p:nvPr/>
        </p:nvSpPr>
        <p:spPr>
          <a:xfrm>
            <a:off x="640080" y="2724912"/>
            <a:ext cx="5440680" cy="617220"/>
          </a:xfrm>
          <a:prstGeom prst="rect">
            <a:avLst/>
          </a:prstGeom>
          <a:noFill/>
          <a:ln/>
        </p:spPr>
        <p:txBody>
          <a:bodyPr wrap="square" lIns="0" tIns="0" rIns="0" bIns="0" rtlCol="0" anchor="ctr"/>
          <a:lstStyle/>
          <a:p>
            <a:pPr indent="0" marL="0">
              <a:spcAft>
                <a:spcPts val="300"/>
              </a:spcAft>
              <a:buNone/>
            </a:pPr>
            <a:r>
              <a:rPr lang="en-US" sz="1300" dirty="0">
                <a:solidFill>
                  <a:schemeClr val="tx2"/>
                </a:solidFill>
                <a:latin typeface="Cambria" pitchFamily="34" charset="0"/>
                <a:ea typeface="Cambria" pitchFamily="34" charset="-122"/>
                <a:cs typeface="Cambria" pitchFamily="34" charset="-120"/>
              </a:rPr>
              <a:t>Independent model evaluation → Demand forecast → PV assessment → Investment appraisal</a:t>
            </a:r>
            <a:endParaRPr lang="en-US" sz="1300" dirty="0"/>
          </a:p>
        </p:txBody>
      </p:sp>
      <p:pic>
        <p:nvPicPr>
          <p:cNvPr id="19" name="Figure image22.png" descr="Overall finding for Objective Three figure">    </p:cNvPr>
          <p:cNvPicPr>
            <a:picLocks noChangeAspect="1"/>
          </p:cNvPicPr>
          <p:nvPr/>
        </p:nvPicPr>
        <p:blipFill>
          <a:blip r:embed="rId4"/>
          <a:stretch>
            <a:fillRect/>
          </a:stretch>
        </p:blipFill>
        <p:spPr>
          <a:xfrm>
            <a:off x="1391937" y="3479292"/>
            <a:ext cx="3936966" cy="2086356"/>
          </a:xfrm>
          <a:prstGeom prst="rect">
            <a:avLst/>
          </a:prstGeom>
        </p:spPr>
      </p:pic>
      <p:sp>
        <p:nvSpPr>
          <p:cNvPr id="20" name="Discussion card"/>
          <p:cNvSpPr/>
          <p:nvPr/>
        </p:nvSpPr>
        <p:spPr>
          <a:xfrm>
            <a:off x="6537960" y="2340864"/>
            <a:ext cx="5196535" cy="3224784"/>
          </a:xfrm>
          <a:prstGeom prst="roundRect">
            <a:avLst>
              <a:gd name="adj" fmla="val 2268"/>
            </a:avLst>
          </a:prstGeom>
          <a:solidFill>
            <a:schemeClr val="accent6"/>
          </a:solidFill>
          <a:ln w="12700">
            <a:solidFill>
              <a:schemeClr val="accent6"/>
            </a:solidFill>
            <a:prstDash val="solid"/>
          </a:ln>
        </p:spPr>
      </p:sp>
      <p:sp>
        <p:nvSpPr>
          <p:cNvPr id="21" name="discussion badge"/>
          <p:cNvSpPr/>
          <p:nvPr/>
        </p:nvSpPr>
        <p:spPr>
          <a:xfrm>
            <a:off x="6702552" y="2432304"/>
            <a:ext cx="292608" cy="292608"/>
          </a:xfrm>
          <a:prstGeom prst="ellipse">
            <a:avLst/>
          </a:prstGeom>
          <a:solidFill>
            <a:schemeClr val="accent2"/>
          </a:solidFill>
          <a:ln w="12700">
            <a:solidFill>
              <a:schemeClr val="accent2"/>
            </a:solidFill>
            <a:prstDash val="solid"/>
          </a:ln>
        </p:spPr>
      </p:sp>
      <p:pic>
        <p:nvPicPr>
          <p:cNvPr id="22" name="discussion icon" descr="preencoded.png">    </p:cNvPr>
          <p:cNvPicPr>
            <a:picLocks noChangeAspect="1"/>
          </p:cNvPicPr>
          <p:nvPr/>
        </p:nvPicPr>
        <p:blipFill>
          <a:blip r:embed="rId5"/>
          <a:stretch>
            <a:fillRect/>
          </a:stretch>
        </p:blipFill>
        <p:spPr>
          <a:xfrm>
            <a:off x="6766926" y="2496678"/>
            <a:ext cx="163860" cy="163860"/>
          </a:xfrm>
          <a:prstGeom prst="rect">
            <a:avLst/>
          </a:prstGeom>
        </p:spPr>
      </p:pic>
      <p:sp>
        <p:nvSpPr>
          <p:cNvPr id="23" name="Discussion heading"/>
          <p:cNvSpPr txBox="1"/>
          <p:nvPr/>
        </p:nvSpPr>
        <p:spPr>
          <a:xfrm>
            <a:off x="7086600" y="2432304"/>
            <a:ext cx="4114800" cy="292608"/>
          </a:xfrm>
          <a:prstGeom prst="rect">
            <a:avLst/>
          </a:prstGeom>
          <a:noFill/>
          <a:ln/>
        </p:spPr>
        <p:txBody>
          <a:bodyPr wrap="square" lIns="0" tIns="0" rIns="0" bIns="0" rtlCol="0" anchor="ctr"/>
          <a:lstStyle/>
          <a:p>
            <a:pPr indent="0" marL="0">
              <a:buNone/>
            </a:pPr>
            <a:r>
              <a:rPr lang="en-US" sz="1500" b="1" dirty="0">
                <a:solidFill>
                  <a:schemeClr val="accent2"/>
                </a:solidFill>
              </a:rPr>
              <a:t>Discussion</a:t>
            </a:r>
            <a:endParaRPr lang="en-US" sz="1500" dirty="0"/>
          </a:p>
        </p:txBody>
      </p:sp>
      <p:sp>
        <p:nvSpPr>
          <p:cNvPr id="24" name="Discussion text"/>
          <p:cNvSpPr txBox="1"/>
          <p:nvPr/>
        </p:nvSpPr>
        <p:spPr>
          <a:xfrm>
            <a:off x="6720840" y="2798064"/>
            <a:ext cx="4830775" cy="2676144"/>
          </a:xfrm>
          <a:prstGeom prst="rect">
            <a:avLst/>
          </a:prstGeom>
          <a:noFill/>
          <a:ln/>
        </p:spPr>
        <p:txBody>
          <a:bodyPr wrap="square" lIns="0" tIns="0" rIns="0" bIns="0" rtlCol="0" anchor="t"/>
          <a:lstStyle/>
          <a:p>
            <a:pPr indent="0" marL="0">
              <a:buNone/>
            </a:pPr>
            <a:r>
              <a:rPr lang="en-US" sz="1500" dirty="0">
                <a:solidFill>
                  <a:schemeClr val="tx1"/>
                </a:solidFill>
              </a:rPr>
              <a:t>The selected PV system was projected to reduce grid purchases, although demand growth lowers its percentage contribution over time. The base-case financial return was positive, but sensitivity results showed that adverse changes in investment cost or useful PV savings could eliminate this benefit</a:t>
            </a:r>
            <a:endParaRPr lang="en-US" sz="15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r>
              <a:rPr lang="en-US" sz="1100" b="1" dirty="0">
                <a:solidFill>
                  <a:schemeClr val="accent2"/>
                </a:solidFill>
              </a:rPr>
              <a:t>RESULTS AND DISCUSSION Objective 3</a:t>
            </a:r>
            <a:endParaRPr lang="en-US" sz="1100" dirty="0"/>
          </a:p>
        </p:txBody>
      </p:sp>
      <p:sp>
        <p:nvSpPr>
          <p:cNvPr id="3"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Overall finding for Objective Three</a:t>
            </a:r>
            <a:endParaRPr lang="en-US" sz="2600" dirty="0"/>
          </a:p>
        </p:txBody>
      </p:sp>
      <p:sp>
        <p:nvSpPr>
          <p:cNvPr id="4" name="Results card"/>
          <p:cNvSpPr/>
          <p:nvPr/>
        </p:nvSpPr>
        <p:spPr>
          <a:xfrm>
            <a:off x="457200" y="1188720"/>
            <a:ext cx="11277295" cy="3791712"/>
          </a:xfrm>
          <a:prstGeom prst="roundRect">
            <a:avLst>
              <a:gd name="adj" fmla="val 1929"/>
            </a:avLst>
          </a:prstGeom>
          <a:solidFill>
            <a:schemeClr val="bg2"/>
          </a:solidFill>
          <a:ln w="12700">
            <a:solidFill>
              <a:schemeClr val="bg2"/>
            </a:solidFill>
            <a:prstDash val="solid"/>
          </a:ln>
        </p:spPr>
      </p:sp>
      <p:sp>
        <p:nvSpPr>
          <p:cNvPr id="5" name="results badge"/>
          <p:cNvSpPr/>
          <p:nvPr/>
        </p:nvSpPr>
        <p:spPr>
          <a:xfrm>
            <a:off x="640080" y="1298448"/>
            <a:ext cx="292608" cy="292608"/>
          </a:xfrm>
          <a:prstGeom prst="ellipse">
            <a:avLst/>
          </a:prstGeom>
          <a:solidFill>
            <a:schemeClr val="accent1"/>
          </a:solidFill>
          <a:ln w="12700">
            <a:solidFill>
              <a:schemeClr val="accent1"/>
            </a:solidFill>
            <a:prstDash val="solid"/>
          </a:ln>
        </p:spPr>
      </p:sp>
      <p:pic>
        <p:nvPicPr>
          <p:cNvPr id="6" name="results icon" descr="preencoded.png">    </p:cNvPr>
          <p:cNvPicPr>
            <a:picLocks noChangeAspect="1"/>
          </p:cNvPicPr>
          <p:nvPr/>
        </p:nvPicPr>
        <p:blipFill>
          <a:blip r:embed="rId1"/>
          <a:stretch>
            <a:fillRect/>
          </a:stretch>
        </p:blipFill>
        <p:spPr>
          <a:xfrm>
            <a:off x="704454" y="1362822"/>
            <a:ext cx="163860" cy="163860"/>
          </a:xfrm>
          <a:prstGeom prst="rect">
            <a:avLst/>
          </a:prstGeom>
        </p:spPr>
      </p:pic>
      <p:sp>
        <p:nvSpPr>
          <p:cNvPr id="7" name="Results heading"/>
          <p:cNvSpPr txBox="1"/>
          <p:nvPr/>
        </p:nvSpPr>
        <p:spPr>
          <a:xfrm>
            <a:off x="1024128" y="1298448"/>
            <a:ext cx="4114800" cy="292608"/>
          </a:xfrm>
          <a:prstGeom prst="rect">
            <a:avLst/>
          </a:prstGeom>
          <a:noFill/>
          <a:ln/>
        </p:spPr>
        <p:txBody>
          <a:bodyPr wrap="square" lIns="0" tIns="0" rIns="0" bIns="0" rtlCol="0" anchor="ctr"/>
          <a:lstStyle/>
          <a:p>
            <a:pPr indent="0" marL="0">
              <a:buNone/>
            </a:pPr>
            <a:r>
              <a:rPr lang="en-US" sz="1500" b="1" dirty="0">
                <a:solidFill>
                  <a:schemeClr val="accent1"/>
                </a:solidFill>
              </a:rPr>
              <a:t>Results</a:t>
            </a:r>
            <a:endParaRPr lang="en-US" sz="1500" dirty="0"/>
          </a:p>
        </p:txBody>
      </p:sp>
      <p:graphicFrame>
        <p:nvGraphicFramePr>
          <p:cNvPr id="28" name="Results table"/>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5410048"/>
                <a:gridCol w="5410048"/>
              </a:tblGrid>
              <a:tr h="0">
                <a:tc>
                  <a:txBody>
                    <a:bodyPr/>
                    <a:lstStyle/>
                    <a:p>
                      <a:pPr algn="l" indent="0" marL="0">
                        <a:buNone/>
                      </a:pPr>
                      <a:r>
                        <a:rPr lang="en-US" sz="1600" b="1" dirty="0">
                          <a:solidFill>
                            <a:schemeClr val="bg1"/>
                          </a:solidFill>
                        </a:rPr>
                        <a:t>Assessment</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c>
                  <a:txBody>
                    <a:bodyPr/>
                    <a:lstStyle/>
                    <a:p>
                      <a:pPr algn="l" indent="0" marL="0">
                        <a:buNone/>
                      </a:pPr>
                      <a:r>
                        <a:rPr lang="en-US" sz="1600" b="1" dirty="0">
                          <a:solidFill>
                            <a:schemeClr val="bg1"/>
                          </a:solidFill>
                        </a:rPr>
                        <a:t>Key finding</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accent1"/>
                    </a:solidFill>
                  </a:tcPr>
                </a:tc>
              </a:tr>
              <a:tr h="0">
                <a:tc>
                  <a:txBody>
                    <a:bodyPr/>
                    <a:lstStyle/>
                    <a:p>
                      <a:pPr algn="l" indent="0" marL="0">
                        <a:buNone/>
                      </a:pPr>
                      <a:r>
                        <a:rPr lang="en-US" sz="1600" dirty="0">
                          <a:solidFill>
                            <a:schemeClr val="tx1"/>
                          </a:solidFill>
                        </a:rPr>
                        <a:t>Independent forecasting test</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Hybrid MAPE: 4.52%</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600" dirty="0">
                          <a:solidFill>
                            <a:schemeClr val="tx1"/>
                          </a:solidFill>
                        </a:rPr>
                        <a:t>Forecast airport demand</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15.992 GWh/year in 2026 → 29.437 GWh/year in 2045</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600" dirty="0">
                          <a:solidFill>
                            <a:schemeClr val="tx1"/>
                          </a:solidFill>
                        </a:rPr>
                        <a:t>Selected PV capacity</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3.195 MWp, with 2.700 MWac inverter capacity</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600" dirty="0">
                          <a:solidFill>
                            <a:schemeClr val="tx1"/>
                          </a:solidFill>
                        </a:rPr>
                        <a:t>Useful PV electricity</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5.116 GWh/year</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600" dirty="0">
                          <a:solidFill>
                            <a:schemeClr val="tx1"/>
                          </a:solidFill>
                        </a:rPr>
                        <a:t>PV contribution</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31.99% in 2026 → 17.38% in 2045, assuming fixed useful supply</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600" dirty="0">
                          <a:solidFill>
                            <a:schemeClr val="tx1"/>
                          </a:solidFill>
                        </a:rPr>
                        <a:t>Annual net saving</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UGX 1.674 billion</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r h="0">
                <a:tc>
                  <a:txBody>
                    <a:bodyPr/>
                    <a:lstStyle/>
                    <a:p>
                      <a:pPr algn="l" indent="0" marL="0">
                        <a:buNone/>
                      </a:pPr>
                      <a:r>
                        <a:rPr lang="en-US" sz="1600" dirty="0">
                          <a:solidFill>
                            <a:schemeClr val="tx1"/>
                          </a:solidFill>
                        </a:rPr>
                        <a:t>Investment return</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NPV: +UGX 0.613 billion; IRR: 10.65%</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1"/>
                    </a:solidFill>
                  </a:tcPr>
                </a:tc>
              </a:tr>
              <a:tr h="0">
                <a:tc>
                  <a:txBody>
                    <a:bodyPr/>
                    <a:lstStyle/>
                    <a:p>
                      <a:pPr algn="l" indent="0" marL="0">
                        <a:buNone/>
                      </a:pPr>
                      <a:r>
                        <a:rPr lang="en-US" sz="1600" dirty="0">
                          <a:solidFill>
                            <a:schemeClr val="tx1"/>
                          </a:solidFill>
                        </a:rPr>
                        <a:t>Capital recovery</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8.15 years simple; 17.70 years discou</a:t>
                      </a:r>
                      <a:endParaRPr lang="en-US" sz="1600" dirty="0"/>
                    </a:p>
                  </a:txBody>
                  <a:tcPr marL="73152" marR="73152" marT="36576" marB="36576"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Conclusion</a:t>
            </a:r>
            <a:endParaRPr lang="en-US" sz="2600" dirty="0"/>
          </a:p>
        </p:txBody>
      </p:sp>
      <p:sp>
        <p:nvSpPr>
          <p:cNvPr id="3" name="Conclusion card"/>
          <p:cNvSpPr/>
          <p:nvPr/>
        </p:nvSpPr>
        <p:spPr>
          <a:xfrm>
            <a:off x="457200" y="1234440"/>
            <a:ext cx="5501488" cy="5120640"/>
          </a:xfrm>
          <a:prstGeom prst="roundRect">
            <a:avLst>
              <a:gd name="adj" fmla="val 1429"/>
            </a:avLst>
          </a:prstGeom>
          <a:solidFill>
            <a:schemeClr val="bg2"/>
          </a:solidFill>
          <a:ln w="12700">
            <a:solidFill>
              <a:schemeClr val="bg2"/>
            </a:solidFill>
            <a:prstDash val="solid"/>
          </a:ln>
        </p:spPr>
      </p:sp>
      <p:sp>
        <p:nvSpPr>
          <p:cNvPr id="4" name="check badge"/>
          <p:cNvSpPr/>
          <p:nvPr/>
        </p:nvSpPr>
        <p:spPr>
          <a:xfrm>
            <a:off x="640080" y="1417320"/>
            <a:ext cx="329184" cy="329184"/>
          </a:xfrm>
          <a:prstGeom prst="ellipse">
            <a:avLst/>
          </a:prstGeom>
          <a:solidFill>
            <a:schemeClr val="accent1"/>
          </a:solidFill>
          <a:ln w="12700">
            <a:solidFill>
              <a:schemeClr val="accent1"/>
            </a:solidFill>
            <a:prstDash val="solid"/>
          </a:ln>
        </p:spPr>
      </p:sp>
      <p:pic>
        <p:nvPicPr>
          <p:cNvPr id="5" name="check icon" descr="preencoded.png">    </p:cNvPr>
          <p:cNvPicPr>
            <a:picLocks noChangeAspect="1"/>
          </p:cNvPicPr>
          <p:nvPr/>
        </p:nvPicPr>
        <p:blipFill>
          <a:blip r:embed="rId1"/>
          <a:stretch>
            <a:fillRect/>
          </a:stretch>
        </p:blipFill>
        <p:spPr>
          <a:xfrm>
            <a:off x="712500" y="1489740"/>
            <a:ext cx="184343" cy="184343"/>
          </a:xfrm>
          <a:prstGeom prst="rect">
            <a:avLst/>
          </a:prstGeom>
        </p:spPr>
      </p:pic>
      <p:sp>
        <p:nvSpPr>
          <p:cNvPr id="6" name="Conclusion lead"/>
          <p:cNvSpPr txBox="1"/>
          <p:nvPr/>
        </p:nvSpPr>
        <p:spPr>
          <a:xfrm>
            <a:off x="1097280" y="1371600"/>
            <a:ext cx="4678528" cy="914400"/>
          </a:xfrm>
          <a:prstGeom prst="rect">
            <a:avLst/>
          </a:prstGeom>
          <a:noFill/>
          <a:ln/>
        </p:spPr>
        <p:txBody>
          <a:bodyPr wrap="square" lIns="0" tIns="0" rIns="0" bIns="0" rtlCol="0" anchor="t"/>
          <a:lstStyle/>
          <a:p>
            <a:pPr indent="0" marL="0">
              <a:buNone/>
            </a:pPr>
            <a:r>
              <a:rPr lang="en-US" sz="1450" b="1" dirty="0">
                <a:solidFill>
                  <a:schemeClr val="tx2"/>
                </a:solidFill>
              </a:rPr>
              <a:t>The study found that electricity demand at Entebbe International Airport is increasing, and that combining demand forecasting with solar PV provides a practical approach for long-term power planning</a:t>
            </a:r>
            <a:endParaRPr lang="en-US" sz="1450" dirty="0"/>
          </a:p>
        </p:txBody>
      </p:sp>
      <p:sp>
        <p:nvSpPr>
          <p:cNvPr id="7" name="Conclusion points"/>
          <p:cNvSpPr txBox="1"/>
          <p:nvPr/>
        </p:nvSpPr>
        <p:spPr>
          <a:xfrm>
            <a:off x="685800" y="2423160"/>
            <a:ext cx="5044288" cy="3794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Electricity consumption and maximum demand increased over the study period, 2015–2025.</a:t>
            </a:r>
            <a:endParaRPr lang="en-US" sz="1400" dirty="0"/>
          </a:p>
          <a:p>
            <a:pPr marL="203200" indent="-203200">
              <a:spcAft>
                <a:spcPts val="800"/>
              </a:spcAft>
              <a:buSzPct val="100000"/>
              <a:buChar char="•"/>
            </a:pPr>
            <a:r>
              <a:rPr lang="en-US" sz="1400" dirty="0">
                <a:solidFill>
                  <a:schemeClr val="tx1"/>
                </a:solidFill>
              </a:rPr>
              <a:t>The Hybrid SARIMAX–ANN gave the best forecasting performance on the independent test data, with a MAPE of 4.52%.</a:t>
            </a:r>
            <a:endParaRPr lang="en-US" sz="1400" dirty="0"/>
          </a:p>
          <a:p>
            <a:pPr marL="203200" indent="-203200">
              <a:spcAft>
                <a:spcPts val="800"/>
              </a:spcAft>
              <a:buSzPct val="100000"/>
              <a:buChar char="•"/>
            </a:pPr>
            <a:r>
              <a:rPr lang="en-US" sz="1400" dirty="0">
                <a:solidFill>
                  <a:schemeClr val="tx1"/>
                </a:solidFill>
              </a:rPr>
              <a:t>Annual electricity demand is expected to increase from about 15.99 GWh in 2026 to 29.44 GWh by 2045.</a:t>
            </a:r>
            <a:endParaRPr lang="en-US" sz="1400" dirty="0"/>
          </a:p>
          <a:p>
            <a:pPr marL="203200" indent="-203200">
              <a:spcAft>
                <a:spcPts val="800"/>
              </a:spcAft>
              <a:buSzPct val="100000"/>
              <a:buChar char="•"/>
            </a:pPr>
            <a:r>
              <a:rPr lang="en-US" sz="1400" dirty="0">
                <a:solidFill>
                  <a:schemeClr val="tx1"/>
                </a:solidFill>
              </a:rPr>
              <a:t>Solar PV can reduce the amount of electricity drawn from the grid, but the grid, standby generators and UPS systems will still be required for reliable airport operations.</a:t>
            </a:r>
            <a:endParaRPr lang="en-US" sz="1400" dirty="0"/>
          </a:p>
          <a:p>
            <a:pPr marL="203200" indent="-203200">
              <a:spcAft>
                <a:spcPts val="800"/>
              </a:spcAft>
              <a:buSzPct val="100000"/>
              <a:buChar char="•"/>
            </a:pPr>
            <a:r>
              <a:rPr lang="en-US" sz="1400" dirty="0">
                <a:solidFill>
                  <a:schemeClr val="tx1"/>
                </a:solidFill>
              </a:rPr>
              <a:t>The study therefore shows that forecasting future demand before sizing PV provides a better basis for long-term energy planning.</a:t>
            </a:r>
            <a:endParaRPr lang="en-US" sz="1400" dirty="0"/>
          </a:p>
        </p:txBody>
      </p:sp>
      <p:sp>
        <p:nvSpPr>
          <p:cNvPr id="8" name="Contribution card"/>
          <p:cNvSpPr/>
          <p:nvPr/>
        </p:nvSpPr>
        <p:spPr>
          <a:xfrm>
            <a:off x="6233008" y="1234440"/>
            <a:ext cx="5501488" cy="5120640"/>
          </a:xfrm>
          <a:prstGeom prst="roundRect">
            <a:avLst>
              <a:gd name="adj" fmla="val 1429"/>
            </a:avLst>
          </a:prstGeom>
          <a:solidFill>
            <a:schemeClr val="accent6"/>
          </a:solidFill>
          <a:ln w="12700">
            <a:solidFill>
              <a:schemeClr val="accent6"/>
            </a:solidFill>
            <a:prstDash val="solid"/>
          </a:ln>
        </p:spPr>
      </p:sp>
      <p:sp>
        <p:nvSpPr>
          <p:cNvPr id="9" name="star badge"/>
          <p:cNvSpPr/>
          <p:nvPr/>
        </p:nvSpPr>
        <p:spPr>
          <a:xfrm>
            <a:off x="6415888" y="1417320"/>
            <a:ext cx="329184" cy="329184"/>
          </a:xfrm>
          <a:prstGeom prst="ellipse">
            <a:avLst/>
          </a:prstGeom>
          <a:solidFill>
            <a:schemeClr val="accent2"/>
          </a:solidFill>
          <a:ln w="12700">
            <a:solidFill>
              <a:schemeClr val="accent2"/>
            </a:solidFill>
            <a:prstDash val="solid"/>
          </a:ln>
        </p:spPr>
      </p:sp>
      <p:pic>
        <p:nvPicPr>
          <p:cNvPr id="10" name="star icon" descr="preencoded.png">    </p:cNvPr>
          <p:cNvPicPr>
            <a:picLocks noChangeAspect="1"/>
          </p:cNvPicPr>
          <p:nvPr/>
        </p:nvPicPr>
        <p:blipFill>
          <a:blip r:embed="rId2"/>
          <a:stretch>
            <a:fillRect/>
          </a:stretch>
        </p:blipFill>
        <p:spPr>
          <a:xfrm>
            <a:off x="6488308" y="1489740"/>
            <a:ext cx="184343" cy="184343"/>
          </a:xfrm>
          <a:prstGeom prst="rect">
            <a:avLst/>
          </a:prstGeom>
        </p:spPr>
      </p:pic>
      <p:sp>
        <p:nvSpPr>
          <p:cNvPr id="11" name="Contribution heading"/>
          <p:cNvSpPr txBox="1"/>
          <p:nvPr/>
        </p:nvSpPr>
        <p:spPr>
          <a:xfrm>
            <a:off x="6873088" y="1399032"/>
            <a:ext cx="4678528" cy="365760"/>
          </a:xfrm>
          <a:prstGeom prst="rect">
            <a:avLst/>
          </a:prstGeom>
          <a:noFill/>
          <a:ln/>
        </p:spPr>
        <p:txBody>
          <a:bodyPr wrap="square" lIns="0" tIns="0" rIns="0" bIns="0" rtlCol="0" anchor="ctr"/>
          <a:lstStyle/>
          <a:p>
            <a:pPr indent="0" marL="0">
              <a:buNone/>
            </a:pPr>
            <a:r>
              <a:rPr lang="en-US" sz="1800" b="1" dirty="0">
                <a:solidFill>
                  <a:schemeClr val="accent2"/>
                </a:solidFill>
              </a:rPr>
              <a:t>Contribution to Knowledge</a:t>
            </a:r>
            <a:endParaRPr lang="en-US" sz="1800" dirty="0"/>
          </a:p>
        </p:txBody>
      </p:sp>
      <p:sp>
        <p:nvSpPr>
          <p:cNvPr id="12" name="Contribution lead"/>
          <p:cNvSpPr txBox="1"/>
          <p:nvPr/>
        </p:nvSpPr>
        <p:spPr>
          <a:xfrm>
            <a:off x="6461608" y="1920240"/>
            <a:ext cx="5044288" cy="640080"/>
          </a:xfrm>
          <a:prstGeom prst="rect">
            <a:avLst/>
          </a:prstGeom>
          <a:noFill/>
          <a:ln/>
        </p:spPr>
        <p:txBody>
          <a:bodyPr wrap="square" lIns="0" tIns="0" rIns="0" bIns="0" rtlCol="0" anchor="t"/>
          <a:lstStyle/>
          <a:p>
            <a:pPr indent="0" marL="0">
              <a:buNone/>
            </a:pPr>
            <a:r>
              <a:rPr lang="en-US" sz="1450" b="1" dirty="0">
                <a:solidFill>
                  <a:schemeClr val="tx2"/>
                </a:solidFill>
              </a:rPr>
              <a:t>The study provides a practical approach for linking airport electricity-demand forecasting with long-term solar PV planning</a:t>
            </a:r>
            <a:endParaRPr lang="en-US" sz="1450" dirty="0"/>
          </a:p>
        </p:txBody>
      </p:sp>
      <p:sp>
        <p:nvSpPr>
          <p:cNvPr id="13" name="Contribution points"/>
          <p:cNvSpPr txBox="1"/>
          <p:nvPr/>
        </p:nvSpPr>
        <p:spPr>
          <a:xfrm>
            <a:off x="6461608" y="2697480"/>
            <a:ext cx="5044288" cy="3520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Established a 2015–2025 energy baseline for Entebbe International Airport covering demand, reliability and energy costs.</a:t>
            </a:r>
            <a:endParaRPr lang="en-US" sz="1400" dirty="0"/>
          </a:p>
          <a:p>
            <a:pPr marL="203200" indent="-203200">
              <a:spcAft>
                <a:spcPts val="800"/>
              </a:spcAft>
              <a:buSzPct val="100000"/>
              <a:buChar char="•"/>
            </a:pPr>
            <a:r>
              <a:rPr lang="en-US" sz="1400" dirty="0">
                <a:solidFill>
                  <a:schemeClr val="tx1"/>
                </a:solidFill>
              </a:rPr>
              <a:t>Developed and validated a Hybrid SARIMAX–ANN model for forecasting airport electricity demand.</a:t>
            </a:r>
            <a:endParaRPr lang="en-US" sz="1400" dirty="0"/>
          </a:p>
          <a:p>
            <a:pPr marL="203200" indent="-203200">
              <a:spcAft>
                <a:spcPts val="800"/>
              </a:spcAft>
              <a:buSzPct val="100000"/>
              <a:buChar char="•"/>
            </a:pPr>
            <a:r>
              <a:rPr lang="en-US" sz="1400" dirty="0">
                <a:solidFill>
                  <a:schemeClr val="tx1"/>
                </a:solidFill>
              </a:rPr>
              <a:t>Tested the forecasting models on independent 2024–2025 data before using the best model for future projections.</a:t>
            </a:r>
            <a:endParaRPr lang="en-US" sz="1400" dirty="0"/>
          </a:p>
          <a:p>
            <a:pPr marL="203200" indent="-203200">
              <a:spcAft>
                <a:spcPts val="800"/>
              </a:spcAft>
              <a:buSzPct val="100000"/>
              <a:buChar char="•"/>
            </a:pPr>
            <a:r>
              <a:rPr lang="en-US" sz="1400" dirty="0">
                <a:solidFill>
                  <a:schemeClr val="tx1"/>
                </a:solidFill>
              </a:rPr>
              <a:t>Linked the 2026–2045 demand forecast directly to the technical and economic assessment of grid-connected solar PV.</a:t>
            </a:r>
            <a:endParaRPr lang="en-US" sz="1400" dirty="0"/>
          </a:p>
        </p:txBody>
      </p:sp>
      <p:sp>
        <p:nvSpPr>
          <p:cNvPr id="14"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Recommendations</a:t>
            </a:r>
            <a:endParaRPr lang="en-US" sz="2600" dirty="0"/>
          </a:p>
        </p:txBody>
      </p:sp>
      <p:sp>
        <p:nvSpPr>
          <p:cNvPr id="3" name="Recommendation lead banner"/>
          <p:cNvSpPr/>
          <p:nvPr/>
        </p:nvSpPr>
        <p:spPr>
          <a:xfrm>
            <a:off x="457200" y="1234440"/>
            <a:ext cx="11277295" cy="731520"/>
          </a:xfrm>
          <a:prstGeom prst="roundRect">
            <a:avLst>
              <a:gd name="adj" fmla="val 10000"/>
            </a:avLst>
          </a:prstGeom>
          <a:solidFill>
            <a:schemeClr val="tx2"/>
          </a:solidFill>
          <a:ln w="12700">
            <a:solidFill>
              <a:schemeClr val="tx2"/>
            </a:solidFill>
            <a:prstDash val="solid"/>
          </a:ln>
        </p:spPr>
      </p:sp>
      <p:sp>
        <p:nvSpPr>
          <p:cNvPr id="4" name="impl badge"/>
          <p:cNvSpPr/>
          <p:nvPr/>
        </p:nvSpPr>
        <p:spPr>
          <a:xfrm>
            <a:off x="640080" y="1435608"/>
            <a:ext cx="329184" cy="329184"/>
          </a:xfrm>
          <a:prstGeom prst="ellipse">
            <a:avLst/>
          </a:prstGeom>
          <a:solidFill>
            <a:schemeClr val="accent2"/>
          </a:solidFill>
          <a:ln w="12700">
            <a:solidFill>
              <a:schemeClr val="accent2"/>
            </a:solidFill>
            <a:prstDash val="solid"/>
          </a:ln>
        </p:spPr>
      </p:sp>
      <p:pic>
        <p:nvPicPr>
          <p:cNvPr id="5" name="impl icon" descr="preencoded.png">    </p:cNvPr>
          <p:cNvPicPr>
            <a:picLocks noChangeAspect="1"/>
          </p:cNvPicPr>
          <p:nvPr/>
        </p:nvPicPr>
        <p:blipFill>
          <a:blip r:embed="rId1"/>
          <a:stretch>
            <a:fillRect/>
          </a:stretch>
        </p:blipFill>
        <p:spPr>
          <a:xfrm>
            <a:off x="712500" y="1508028"/>
            <a:ext cx="184343" cy="184343"/>
          </a:xfrm>
          <a:prstGeom prst="rect">
            <a:avLst/>
          </a:prstGeom>
        </p:spPr>
      </p:pic>
      <p:sp>
        <p:nvSpPr>
          <p:cNvPr id="6" name="Recommendation lead"/>
          <p:cNvSpPr txBox="1"/>
          <p:nvPr/>
        </p:nvSpPr>
        <p:spPr>
          <a:xfrm>
            <a:off x="1143000" y="1234440"/>
            <a:ext cx="10408615" cy="731520"/>
          </a:xfrm>
          <a:prstGeom prst="rect">
            <a:avLst/>
          </a:prstGeom>
          <a:noFill/>
          <a:ln/>
        </p:spPr>
        <p:txBody>
          <a:bodyPr wrap="square" lIns="0" tIns="0" rIns="0" bIns="0" rtlCol="0" anchor="ctr"/>
          <a:lstStyle/>
          <a:p>
            <a:pPr indent="0" marL="0">
              <a:buNone/>
            </a:pPr>
            <a:r>
              <a:rPr lang="en-US" sz="1600" b="1" dirty="0">
                <a:solidFill>
                  <a:schemeClr val="bg1"/>
                </a:solidFill>
              </a:rPr>
              <a:t>The proposed solar PV system should be taken to the next stage of detailed engineering and commercial assessment before implementation.</a:t>
            </a:r>
            <a:endParaRPr lang="en-US" sz="1600" dirty="0"/>
          </a:p>
        </p:txBody>
      </p:sp>
      <p:sp>
        <p:nvSpPr>
          <p:cNvPr id="7" name="Recommendation card 1"/>
          <p:cNvSpPr/>
          <p:nvPr/>
        </p:nvSpPr>
        <p:spPr>
          <a:xfrm>
            <a:off x="457200" y="2240280"/>
            <a:ext cx="3576218" cy="1920240"/>
          </a:xfrm>
          <a:prstGeom prst="roundRect">
            <a:avLst>
              <a:gd name="adj" fmla="val 3810"/>
            </a:avLst>
          </a:prstGeom>
          <a:solidFill>
            <a:schemeClr val="bg2"/>
          </a:solidFill>
          <a:ln w="12700">
            <a:solidFill>
              <a:schemeClr val="bg2"/>
            </a:solidFill>
            <a:prstDash val="solid"/>
          </a:ln>
        </p:spPr>
      </p:sp>
      <p:sp>
        <p:nvSpPr>
          <p:cNvPr id="8" name="Number badge 1"/>
          <p:cNvSpPr/>
          <p:nvPr/>
        </p:nvSpPr>
        <p:spPr>
          <a:xfrm>
            <a:off x="640080" y="2423160"/>
            <a:ext cx="457200" cy="457200"/>
          </a:xfrm>
          <a:prstGeom prst="ellipse">
            <a:avLst/>
          </a:prstGeom>
          <a:solidFill>
            <a:schemeClr val="accent1"/>
          </a:solidFill>
          <a:ln w="12700">
            <a:solidFill>
              <a:schemeClr val="accent1"/>
            </a:solidFill>
            <a:prstDash val="solid"/>
          </a:ln>
        </p:spPr>
      </p:sp>
      <p:sp>
        <p:nvSpPr>
          <p:cNvPr id="9" name="Number 1"/>
          <p:cNvSpPr txBox="1"/>
          <p:nvPr/>
        </p:nvSpPr>
        <p:spPr>
          <a:xfrm>
            <a:off x="640080" y="2423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Recommendation 1"/>
          <p:cNvSpPr txBox="1"/>
          <p:nvPr/>
        </p:nvSpPr>
        <p:spPr>
          <a:xfrm>
            <a:off x="640080" y="2990088"/>
            <a:ext cx="3210458" cy="1051560"/>
          </a:xfrm>
          <a:prstGeom prst="rect">
            <a:avLst/>
          </a:prstGeom>
          <a:noFill/>
          <a:ln/>
        </p:spPr>
        <p:txBody>
          <a:bodyPr wrap="square" lIns="0" tIns="0" rIns="0" bIns="0" rtlCol="0" anchor="t"/>
          <a:lstStyle/>
          <a:p>
            <a:pPr indent="0" marL="0">
              <a:buNone/>
            </a:pPr>
            <a:r>
              <a:rPr lang="en-US" sz="1400" dirty="0">
                <a:solidFill>
                  <a:schemeClr val="tx1"/>
                </a:solidFill>
              </a:rPr>
              <a:t>Update the demand forecast regularly as new electricity and airport operational data become available.</a:t>
            </a:r>
            <a:endParaRPr lang="en-US" sz="1400" dirty="0"/>
          </a:p>
        </p:txBody>
      </p:sp>
      <p:sp>
        <p:nvSpPr>
          <p:cNvPr id="11" name="Recommendation card 2"/>
          <p:cNvSpPr/>
          <p:nvPr/>
        </p:nvSpPr>
        <p:spPr>
          <a:xfrm>
            <a:off x="4307738" y="2240280"/>
            <a:ext cx="3576218" cy="1920240"/>
          </a:xfrm>
          <a:prstGeom prst="roundRect">
            <a:avLst>
              <a:gd name="adj" fmla="val 3810"/>
            </a:avLst>
          </a:prstGeom>
          <a:solidFill>
            <a:schemeClr val="bg2"/>
          </a:solidFill>
          <a:ln w="12700">
            <a:solidFill>
              <a:schemeClr val="bg2"/>
            </a:solidFill>
            <a:prstDash val="solid"/>
          </a:ln>
        </p:spPr>
      </p:sp>
      <p:sp>
        <p:nvSpPr>
          <p:cNvPr id="12" name="Number badge 2"/>
          <p:cNvSpPr/>
          <p:nvPr/>
        </p:nvSpPr>
        <p:spPr>
          <a:xfrm>
            <a:off x="4490618" y="2423160"/>
            <a:ext cx="457200" cy="457200"/>
          </a:xfrm>
          <a:prstGeom prst="ellipse">
            <a:avLst/>
          </a:prstGeom>
          <a:solidFill>
            <a:schemeClr val="accent1"/>
          </a:solidFill>
          <a:ln w="12700">
            <a:solidFill>
              <a:schemeClr val="accent1"/>
            </a:solidFill>
            <a:prstDash val="solid"/>
          </a:ln>
        </p:spPr>
      </p:sp>
      <p:sp>
        <p:nvSpPr>
          <p:cNvPr id="13" name="Number 2"/>
          <p:cNvSpPr txBox="1"/>
          <p:nvPr/>
        </p:nvSpPr>
        <p:spPr>
          <a:xfrm>
            <a:off x="4490618" y="2423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Recommendation 2"/>
          <p:cNvSpPr txBox="1"/>
          <p:nvPr/>
        </p:nvSpPr>
        <p:spPr>
          <a:xfrm>
            <a:off x="4490618" y="2990088"/>
            <a:ext cx="3210458" cy="1051560"/>
          </a:xfrm>
          <a:prstGeom prst="rect">
            <a:avLst/>
          </a:prstGeom>
          <a:noFill/>
          <a:ln/>
        </p:spPr>
        <p:txBody>
          <a:bodyPr wrap="square" lIns="0" tIns="0" rIns="0" bIns="0" rtlCol="0" anchor="t"/>
          <a:lstStyle/>
          <a:p>
            <a:pPr indent="0" marL="0">
              <a:buNone/>
            </a:pPr>
            <a:r>
              <a:rPr lang="en-US" sz="1400" dirty="0">
                <a:solidFill>
                  <a:schemeClr val="tx1"/>
                </a:solidFill>
              </a:rPr>
              <a:t>Carry out detailed engineering and commercial assessment of the proposed PV system before implementation.</a:t>
            </a:r>
            <a:endParaRPr lang="en-US" sz="1400" dirty="0"/>
          </a:p>
        </p:txBody>
      </p:sp>
      <p:sp>
        <p:nvSpPr>
          <p:cNvPr id="15" name="Recommendation card 3"/>
          <p:cNvSpPr/>
          <p:nvPr/>
        </p:nvSpPr>
        <p:spPr>
          <a:xfrm>
            <a:off x="8158277" y="2240280"/>
            <a:ext cx="3576218" cy="1920240"/>
          </a:xfrm>
          <a:prstGeom prst="roundRect">
            <a:avLst>
              <a:gd name="adj" fmla="val 3810"/>
            </a:avLst>
          </a:prstGeom>
          <a:solidFill>
            <a:schemeClr val="bg2"/>
          </a:solidFill>
          <a:ln w="12700">
            <a:solidFill>
              <a:schemeClr val="bg2"/>
            </a:solidFill>
            <a:prstDash val="solid"/>
          </a:ln>
        </p:spPr>
      </p:sp>
      <p:sp>
        <p:nvSpPr>
          <p:cNvPr id="16" name="Number badge 3"/>
          <p:cNvSpPr/>
          <p:nvPr/>
        </p:nvSpPr>
        <p:spPr>
          <a:xfrm>
            <a:off x="8341157" y="2423160"/>
            <a:ext cx="457200" cy="457200"/>
          </a:xfrm>
          <a:prstGeom prst="ellipse">
            <a:avLst/>
          </a:prstGeom>
          <a:solidFill>
            <a:schemeClr val="accent1"/>
          </a:solidFill>
          <a:ln w="12700">
            <a:solidFill>
              <a:schemeClr val="accent1"/>
            </a:solidFill>
            <a:prstDash val="solid"/>
          </a:ln>
        </p:spPr>
      </p:sp>
      <p:sp>
        <p:nvSpPr>
          <p:cNvPr id="17" name="Number 3"/>
          <p:cNvSpPr txBox="1"/>
          <p:nvPr/>
        </p:nvSpPr>
        <p:spPr>
          <a:xfrm>
            <a:off x="8341157" y="2423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Recommendation 3"/>
          <p:cNvSpPr txBox="1"/>
          <p:nvPr/>
        </p:nvSpPr>
        <p:spPr>
          <a:xfrm>
            <a:off x="8341157" y="2990088"/>
            <a:ext cx="3210458" cy="1051560"/>
          </a:xfrm>
          <a:prstGeom prst="rect">
            <a:avLst/>
          </a:prstGeom>
          <a:noFill/>
          <a:ln/>
        </p:spPr>
        <p:txBody>
          <a:bodyPr wrap="square" lIns="0" tIns="0" rIns="0" bIns="0" rtlCol="0" anchor="t"/>
          <a:lstStyle/>
          <a:p>
            <a:pPr indent="0" marL="0">
              <a:buNone/>
            </a:pPr>
            <a:r>
              <a:rPr lang="en-US" sz="1400" dirty="0">
                <a:solidFill>
                  <a:schemeClr val="tx1"/>
                </a:solidFill>
              </a:rPr>
              <a:t>Obtain current supplier quotations and update the economic analysis before making the final investment decision.</a:t>
            </a:r>
            <a:endParaRPr lang="en-US" sz="1400" dirty="0"/>
          </a:p>
        </p:txBody>
      </p:sp>
      <p:sp>
        <p:nvSpPr>
          <p:cNvPr id="19" name="Recommendation card 4"/>
          <p:cNvSpPr/>
          <p:nvPr/>
        </p:nvSpPr>
        <p:spPr>
          <a:xfrm>
            <a:off x="2382469" y="4434840"/>
            <a:ext cx="3576218" cy="1920240"/>
          </a:xfrm>
          <a:prstGeom prst="roundRect">
            <a:avLst>
              <a:gd name="adj" fmla="val 3810"/>
            </a:avLst>
          </a:prstGeom>
          <a:solidFill>
            <a:schemeClr val="bg2"/>
          </a:solidFill>
          <a:ln w="12700">
            <a:solidFill>
              <a:schemeClr val="bg2"/>
            </a:solidFill>
            <a:prstDash val="solid"/>
          </a:ln>
        </p:spPr>
      </p:sp>
      <p:sp>
        <p:nvSpPr>
          <p:cNvPr id="20" name="Number badge 4"/>
          <p:cNvSpPr/>
          <p:nvPr/>
        </p:nvSpPr>
        <p:spPr>
          <a:xfrm>
            <a:off x="2565349" y="4617720"/>
            <a:ext cx="457200" cy="457200"/>
          </a:xfrm>
          <a:prstGeom prst="ellipse">
            <a:avLst/>
          </a:prstGeom>
          <a:solidFill>
            <a:schemeClr val="accent1"/>
          </a:solidFill>
          <a:ln w="12700">
            <a:solidFill>
              <a:schemeClr val="accent1"/>
            </a:solidFill>
            <a:prstDash val="solid"/>
          </a:ln>
        </p:spPr>
      </p:sp>
      <p:sp>
        <p:nvSpPr>
          <p:cNvPr id="21" name="Number 4"/>
          <p:cNvSpPr txBox="1"/>
          <p:nvPr/>
        </p:nvSpPr>
        <p:spPr>
          <a:xfrm>
            <a:off x="2565349" y="46177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Recommendation 4"/>
          <p:cNvSpPr txBox="1"/>
          <p:nvPr/>
        </p:nvSpPr>
        <p:spPr>
          <a:xfrm>
            <a:off x="2565349" y="5184648"/>
            <a:ext cx="3210458" cy="1051560"/>
          </a:xfrm>
          <a:prstGeom prst="rect">
            <a:avLst/>
          </a:prstGeom>
          <a:noFill/>
          <a:ln/>
        </p:spPr>
        <p:txBody>
          <a:bodyPr wrap="square" lIns="0" tIns="0" rIns="0" bIns="0" rtlCol="0" anchor="t"/>
          <a:lstStyle/>
          <a:p>
            <a:pPr indent="0" marL="0">
              <a:buNone/>
            </a:pPr>
            <a:r>
              <a:rPr lang="en-US" sz="1400" dirty="0">
                <a:solidFill>
                  <a:schemeClr val="tx1"/>
                </a:solidFill>
              </a:rPr>
              <a:t>Maintain the grid, standby generators and UPS systems, since solar PV is intended to supplement rather than replace them.</a:t>
            </a:r>
            <a:endParaRPr lang="en-US" sz="1400" dirty="0"/>
          </a:p>
        </p:txBody>
      </p:sp>
      <p:sp>
        <p:nvSpPr>
          <p:cNvPr id="23" name="Recommendation card 5"/>
          <p:cNvSpPr/>
          <p:nvPr/>
        </p:nvSpPr>
        <p:spPr>
          <a:xfrm>
            <a:off x="6233008" y="4434840"/>
            <a:ext cx="3576218" cy="1920240"/>
          </a:xfrm>
          <a:prstGeom prst="roundRect">
            <a:avLst>
              <a:gd name="adj" fmla="val 3810"/>
            </a:avLst>
          </a:prstGeom>
          <a:solidFill>
            <a:schemeClr val="bg2"/>
          </a:solidFill>
          <a:ln w="12700">
            <a:solidFill>
              <a:schemeClr val="bg2"/>
            </a:solidFill>
            <a:prstDash val="solid"/>
          </a:ln>
        </p:spPr>
      </p:sp>
      <p:sp>
        <p:nvSpPr>
          <p:cNvPr id="24" name="Number badge 5"/>
          <p:cNvSpPr/>
          <p:nvPr/>
        </p:nvSpPr>
        <p:spPr>
          <a:xfrm>
            <a:off x="6415888" y="4617720"/>
            <a:ext cx="457200" cy="457200"/>
          </a:xfrm>
          <a:prstGeom prst="ellipse">
            <a:avLst/>
          </a:prstGeom>
          <a:solidFill>
            <a:schemeClr val="accent1"/>
          </a:solidFill>
          <a:ln w="12700">
            <a:solidFill>
              <a:schemeClr val="accent1"/>
            </a:solidFill>
            <a:prstDash val="solid"/>
          </a:ln>
        </p:spPr>
      </p:sp>
      <p:sp>
        <p:nvSpPr>
          <p:cNvPr id="25" name="Number 5"/>
          <p:cNvSpPr txBox="1"/>
          <p:nvPr/>
        </p:nvSpPr>
        <p:spPr>
          <a:xfrm>
            <a:off x="6415888" y="46177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Recommendation 5"/>
          <p:cNvSpPr txBox="1"/>
          <p:nvPr/>
        </p:nvSpPr>
        <p:spPr>
          <a:xfrm>
            <a:off x="6415888" y="5184648"/>
            <a:ext cx="3210458" cy="1051560"/>
          </a:xfrm>
          <a:prstGeom prst="rect">
            <a:avLst/>
          </a:prstGeom>
          <a:noFill/>
          <a:ln/>
        </p:spPr>
        <p:txBody>
          <a:bodyPr wrap="square" lIns="0" tIns="0" rIns="0" bIns="0" rtlCol="0" anchor="t"/>
          <a:lstStyle/>
          <a:p>
            <a:pPr indent="0" marL="0">
              <a:buNone/>
            </a:pPr>
            <a:r>
              <a:rPr lang="en-US" sz="1400" dirty="0">
                <a:solidFill>
                  <a:schemeClr val="tx1"/>
                </a:solidFill>
              </a:rPr>
              <a:t>Complete the required glint-and-glare, OLS, CNS, structural and grid-interconnection studies before installation</a:t>
            </a:r>
            <a:endParaRPr lang="en-US" sz="1400" dirty="0"/>
          </a:p>
        </p:txBody>
      </p:sp>
      <p:sp>
        <p:nvSpPr>
          <p:cNvPr id="27"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Research Limitations and Future Work</a:t>
            </a:r>
            <a:endParaRPr lang="en-US" sz="2600" dirty="0"/>
          </a:p>
        </p:txBody>
      </p:sp>
      <p:sp>
        <p:nvSpPr>
          <p:cNvPr id="3" name="Research Limitations card"/>
          <p:cNvSpPr/>
          <p:nvPr/>
        </p:nvSpPr>
        <p:spPr>
          <a:xfrm>
            <a:off x="457200" y="1234440"/>
            <a:ext cx="5501488" cy="5120640"/>
          </a:xfrm>
          <a:prstGeom prst="roundRect">
            <a:avLst>
              <a:gd name="adj" fmla="val 1429"/>
            </a:avLst>
          </a:prstGeom>
          <a:solidFill>
            <a:schemeClr val="bg2"/>
          </a:solidFill>
          <a:ln w="12700">
            <a:solidFill>
              <a:schemeClr val="bg2"/>
            </a:solidFill>
            <a:prstDash val="solid"/>
          </a:ln>
        </p:spPr>
      </p:sp>
      <p:sp>
        <p:nvSpPr>
          <p:cNvPr id="4" name="limit badge"/>
          <p:cNvSpPr/>
          <p:nvPr/>
        </p:nvSpPr>
        <p:spPr>
          <a:xfrm>
            <a:off x="640080" y="1417320"/>
            <a:ext cx="365760" cy="365760"/>
          </a:xfrm>
          <a:prstGeom prst="ellipse">
            <a:avLst/>
          </a:prstGeom>
          <a:solidFill>
            <a:schemeClr val="accent1"/>
          </a:solidFill>
          <a:ln w="12700">
            <a:solidFill>
              <a:schemeClr val="accent1"/>
            </a:solidFill>
            <a:prstDash val="solid"/>
          </a:ln>
        </p:spPr>
      </p:sp>
      <p:pic>
        <p:nvPicPr>
          <p:cNvPr id="5" name="limit icon" descr="preencoded.png">    </p:cNvPr>
          <p:cNvPicPr>
            <a:picLocks noChangeAspect="1"/>
          </p:cNvPicPr>
          <p:nvPr/>
        </p:nvPicPr>
        <p:blipFill>
          <a:blip r:embed="rId1"/>
          <a:stretch>
            <a:fillRect/>
          </a:stretch>
        </p:blipFill>
        <p:spPr>
          <a:xfrm>
            <a:off x="720547" y="1497787"/>
            <a:ext cx="204826" cy="204826"/>
          </a:xfrm>
          <a:prstGeom prst="rect">
            <a:avLst/>
          </a:prstGeom>
        </p:spPr>
      </p:pic>
      <p:sp>
        <p:nvSpPr>
          <p:cNvPr id="6" name="Research Limitations heading"/>
          <p:cNvSpPr txBox="1"/>
          <p:nvPr/>
        </p:nvSpPr>
        <p:spPr>
          <a:xfrm>
            <a:off x="1143000" y="1417320"/>
            <a:ext cx="4632808" cy="365760"/>
          </a:xfrm>
          <a:prstGeom prst="rect">
            <a:avLst/>
          </a:prstGeom>
          <a:noFill/>
          <a:ln/>
        </p:spPr>
        <p:txBody>
          <a:bodyPr wrap="square" lIns="0" tIns="0" rIns="0" bIns="0" rtlCol="0" anchor="ctr"/>
          <a:lstStyle/>
          <a:p>
            <a:pPr indent="0" marL="0">
              <a:buNone/>
            </a:pPr>
            <a:r>
              <a:rPr lang="en-US" sz="2000" b="1" dirty="0">
                <a:solidFill>
                  <a:schemeClr val="accent1"/>
                </a:solidFill>
              </a:rPr>
              <a:t>Research Limitations</a:t>
            </a:r>
            <a:endParaRPr lang="en-US" sz="2000" dirty="0"/>
          </a:p>
        </p:txBody>
      </p:sp>
      <p:sp>
        <p:nvSpPr>
          <p:cNvPr id="7" name="Research Limitations list"/>
          <p:cNvSpPr txBox="1"/>
          <p:nvPr/>
        </p:nvSpPr>
        <p:spPr>
          <a:xfrm>
            <a:off x="685800" y="2011680"/>
            <a:ext cx="5044288" cy="42062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The forecasting models were developed using monthly data from 2015–2025.</a:t>
            </a:r>
            <a:endParaRPr lang="en-US" sz="1500" dirty="0"/>
          </a:p>
          <a:p>
            <a:pPr marL="203200" indent="-203200">
              <a:spcAft>
                <a:spcPts val="800"/>
              </a:spcAft>
              <a:buSzPct val="100000"/>
              <a:buChar char="•"/>
            </a:pPr>
            <a:r>
              <a:rPr lang="en-US" sz="1500" dirty="0">
                <a:solidFill>
                  <a:schemeClr val="tx1"/>
                </a:solidFill>
              </a:rPr>
              <a:t>The long-term forecast depends on projected future values of the explanatory variables.</a:t>
            </a:r>
            <a:endParaRPr lang="en-US" sz="1500" dirty="0"/>
          </a:p>
          <a:p>
            <a:pPr marL="203200" indent="-203200">
              <a:spcAft>
                <a:spcPts val="800"/>
              </a:spcAft>
              <a:buSzPct val="100000"/>
              <a:buChar char="•"/>
            </a:pPr>
            <a:r>
              <a:rPr lang="en-US" sz="1500" dirty="0">
                <a:solidFill>
                  <a:schemeClr val="tx1"/>
                </a:solidFill>
              </a:rPr>
              <a:t>The PV assessment considered self-consumption without battery storage or intentional grid export.</a:t>
            </a:r>
            <a:endParaRPr lang="en-US" sz="1500" dirty="0"/>
          </a:p>
          <a:p>
            <a:pPr marL="203200" indent="-203200">
              <a:spcAft>
                <a:spcPts val="800"/>
              </a:spcAft>
              <a:buSzPct val="100000"/>
              <a:buChar char="•"/>
            </a:pPr>
            <a:r>
              <a:rPr lang="en-US" sz="1500" dirty="0">
                <a:solidFill>
                  <a:schemeClr val="tx1"/>
                </a:solidFill>
              </a:rPr>
              <a:t>The PV design and economic assessment were carried out at planning level rather than detailed engineering level.</a:t>
            </a:r>
            <a:endParaRPr lang="en-US" sz="1500" dirty="0"/>
          </a:p>
          <a:p>
            <a:pPr marL="203200" indent="-203200">
              <a:spcAft>
                <a:spcPts val="800"/>
              </a:spcAft>
              <a:buSzPct val="100000"/>
              <a:buChar char="•"/>
            </a:pPr>
            <a:r>
              <a:rPr lang="en-US" sz="1500" dirty="0">
                <a:solidFill>
                  <a:schemeClr val="tx1"/>
                </a:solidFill>
              </a:rPr>
              <a:t>Complete generator fuel-consumption data were not available for all periods.</a:t>
            </a:r>
            <a:endParaRPr lang="en-US" sz="1500" dirty="0"/>
          </a:p>
        </p:txBody>
      </p:sp>
      <p:sp>
        <p:nvSpPr>
          <p:cNvPr id="8" name="Future Work card"/>
          <p:cNvSpPr/>
          <p:nvPr/>
        </p:nvSpPr>
        <p:spPr>
          <a:xfrm>
            <a:off x="6233008" y="1234440"/>
            <a:ext cx="5501488" cy="5120640"/>
          </a:xfrm>
          <a:prstGeom prst="roundRect">
            <a:avLst>
              <a:gd name="adj" fmla="val 1429"/>
            </a:avLst>
          </a:prstGeom>
          <a:solidFill>
            <a:schemeClr val="accent6"/>
          </a:solidFill>
          <a:ln w="12700">
            <a:solidFill>
              <a:schemeClr val="accent6"/>
            </a:solidFill>
            <a:prstDash val="solid"/>
          </a:ln>
        </p:spPr>
      </p:sp>
      <p:sp>
        <p:nvSpPr>
          <p:cNvPr id="9" name="future badge"/>
          <p:cNvSpPr/>
          <p:nvPr/>
        </p:nvSpPr>
        <p:spPr>
          <a:xfrm>
            <a:off x="6415888" y="1417320"/>
            <a:ext cx="365760" cy="365760"/>
          </a:xfrm>
          <a:prstGeom prst="ellipse">
            <a:avLst/>
          </a:prstGeom>
          <a:solidFill>
            <a:schemeClr val="accent2"/>
          </a:solidFill>
          <a:ln w="12700">
            <a:solidFill>
              <a:schemeClr val="accent2"/>
            </a:solidFill>
            <a:prstDash val="solid"/>
          </a:ln>
        </p:spPr>
      </p:sp>
      <p:pic>
        <p:nvPicPr>
          <p:cNvPr id="10" name="future icon" descr="preencoded.png">    </p:cNvPr>
          <p:cNvPicPr>
            <a:picLocks noChangeAspect="1"/>
          </p:cNvPicPr>
          <p:nvPr/>
        </p:nvPicPr>
        <p:blipFill>
          <a:blip r:embed="rId2"/>
          <a:stretch>
            <a:fillRect/>
          </a:stretch>
        </p:blipFill>
        <p:spPr>
          <a:xfrm>
            <a:off x="6496355" y="1497787"/>
            <a:ext cx="204826" cy="204826"/>
          </a:xfrm>
          <a:prstGeom prst="rect">
            <a:avLst/>
          </a:prstGeom>
        </p:spPr>
      </p:pic>
      <p:sp>
        <p:nvSpPr>
          <p:cNvPr id="11" name="Future Work heading"/>
          <p:cNvSpPr txBox="1"/>
          <p:nvPr/>
        </p:nvSpPr>
        <p:spPr>
          <a:xfrm>
            <a:off x="6918808" y="1417320"/>
            <a:ext cx="4632808" cy="365760"/>
          </a:xfrm>
          <a:prstGeom prst="rect">
            <a:avLst/>
          </a:prstGeom>
          <a:noFill/>
          <a:ln/>
        </p:spPr>
        <p:txBody>
          <a:bodyPr wrap="square" lIns="0" tIns="0" rIns="0" bIns="0" rtlCol="0" anchor="ctr"/>
          <a:lstStyle/>
          <a:p>
            <a:pPr indent="0" marL="0">
              <a:buNone/>
            </a:pPr>
            <a:r>
              <a:rPr lang="en-US" sz="2000" b="1" dirty="0">
                <a:solidFill>
                  <a:schemeClr val="accent2"/>
                </a:solidFill>
              </a:rPr>
              <a:t>Future Work</a:t>
            </a:r>
            <a:endParaRPr lang="en-US" sz="2000" dirty="0"/>
          </a:p>
        </p:txBody>
      </p:sp>
      <p:sp>
        <p:nvSpPr>
          <p:cNvPr id="12" name="Future Work list"/>
          <p:cNvSpPr txBox="1"/>
          <p:nvPr/>
        </p:nvSpPr>
        <p:spPr>
          <a:xfrm>
            <a:off x="6461608" y="2011680"/>
            <a:ext cx="5044288" cy="42062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Update and test the forecasting models as more measured data become available.</a:t>
            </a:r>
            <a:endParaRPr lang="en-US" sz="1500" dirty="0"/>
          </a:p>
          <a:p>
            <a:pPr marL="203200" indent="-203200">
              <a:spcAft>
                <a:spcPts val="800"/>
              </a:spcAft>
              <a:buSzPct val="100000"/>
              <a:buChar char="•"/>
            </a:pPr>
            <a:r>
              <a:rPr lang="en-US" sz="1500" dirty="0">
                <a:solidFill>
                  <a:schemeClr val="tx1"/>
                </a:solidFill>
              </a:rPr>
              <a:t>Investigate other factors that may influence airport electricity demand, such as aircraft movements, HVAC operation, humidity and terminal occupancy.</a:t>
            </a:r>
            <a:endParaRPr lang="en-US" sz="1500" dirty="0"/>
          </a:p>
          <a:p>
            <a:pPr marL="203200" indent="-203200">
              <a:spcAft>
                <a:spcPts val="800"/>
              </a:spcAft>
              <a:buSzPct val="100000"/>
              <a:buChar char="•"/>
            </a:pPr>
            <a:r>
              <a:rPr lang="en-US" sz="1500" dirty="0">
                <a:solidFill>
                  <a:schemeClr val="tx1"/>
                </a:solidFill>
              </a:rPr>
              <a:t>Assess the benefits of combining the PV system with battery energy storage.</a:t>
            </a:r>
            <a:endParaRPr lang="en-US" sz="1500" dirty="0"/>
          </a:p>
          <a:p>
            <a:pPr marL="203200" indent="-203200">
              <a:spcAft>
                <a:spcPts val="800"/>
              </a:spcAft>
              <a:buSzPct val="100000"/>
              <a:buChar char="•"/>
            </a:pPr>
            <a:r>
              <a:rPr lang="en-US" sz="1500" dirty="0">
                <a:solidFill>
                  <a:schemeClr val="tx1"/>
                </a:solidFill>
              </a:rPr>
              <a:t>Investigate phased PV expansion as airport electricity demand increases.</a:t>
            </a:r>
            <a:endParaRPr lang="en-US" sz="1500" dirty="0"/>
          </a:p>
          <a:p>
            <a:pPr marL="203200" indent="-203200">
              <a:spcAft>
                <a:spcPts val="800"/>
              </a:spcAft>
              <a:buSzPct val="100000"/>
              <a:buChar char="•"/>
            </a:pPr>
            <a:r>
              <a:rPr lang="en-US" sz="1500" dirty="0">
                <a:solidFill>
                  <a:schemeClr val="tx1"/>
                </a:solidFill>
              </a:rPr>
              <a:t>Carry out the detailed engineering and site studies required before implementation</a:t>
            </a:r>
            <a:endParaRPr lang="en-US" sz="1500" dirty="0"/>
          </a:p>
        </p:txBody>
      </p:sp>
      <p:sp>
        <p:nvSpPr>
          <p:cNvPr id="13"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57200" y="530352"/>
            <a:ext cx="11277295" cy="548640"/>
          </a:xfrm>
          <a:prstGeom prst="rect">
            <a:avLst/>
          </a:prstGeom>
          <a:noFill/>
          <a:ln/>
        </p:spPr>
        <p:txBody>
          <a:bodyPr wrap="square" lIns="0" tIns="0" rIns="0" bIns="0" rtlCol="0" anchor="ctr"/>
          <a:lstStyle/>
          <a:p>
            <a:pPr algn="l" indent="0" marL="0">
              <a:buNone/>
            </a:pPr>
            <a:r>
              <a:rPr lang="en-US" sz="2600" b="1" dirty="0">
                <a:solidFill>
                  <a:schemeClr val="tx2"/>
                </a:solidFill>
              </a:rPr>
              <a:t>References</a:t>
            </a:r>
            <a:endParaRPr lang="en-US" sz="2600" dirty="0"/>
          </a:p>
        </p:txBody>
      </p:sp>
      <p:sp>
        <p:nvSpPr>
          <p:cNvPr id="3" name="References column 1"/>
          <p:cNvSpPr txBox="1"/>
          <p:nvPr/>
        </p:nvSpPr>
        <p:spPr>
          <a:xfrm>
            <a:off x="457200" y="1234440"/>
            <a:ext cx="5455768" cy="512064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Akyüz, M. K., Altuntaş, Ö., &amp; Söğüt, M. Z. (2017). Economic and environmental optimization of an airport terminal building’s wall and roof insulation. Sustainability, 9(10), 1849. https://doi.org/10.3390/su9101849</a:t>
            </a:r>
            <a:endParaRPr lang="en-US" sz="1100" dirty="0"/>
          </a:p>
          <a:p>
            <a:pPr indent="0" marL="0">
              <a:spcAft>
                <a:spcPts val="600"/>
              </a:spcAft>
              <a:buNone/>
            </a:pPr>
            <a:r>
              <a:rPr lang="en-US" sz="1100" dirty="0">
                <a:solidFill>
                  <a:schemeClr val="tx1"/>
                </a:solidFill>
              </a:rPr>
              <a:t>Anurag, A., Zhang, J., Gwamuri, J., &amp; Pearce, J. M. (2017). General design procedures for airport-based solar photovoltaic systems. Energies, 10(8), 1194. https://doi.org/10.3390/en10081194</a:t>
            </a:r>
            <a:endParaRPr lang="en-US" sz="1100" dirty="0"/>
          </a:p>
          <a:p>
            <a:pPr indent="0" marL="0">
              <a:spcAft>
                <a:spcPts val="600"/>
              </a:spcAft>
              <a:buNone/>
            </a:pPr>
            <a:r>
              <a:rPr lang="en-US" sz="1100" dirty="0">
                <a:solidFill>
                  <a:schemeClr val="tx1"/>
                </a:solidFill>
              </a:rPr>
              <a:t>Ashford, N. J., Mumayiz, S. A., &amp; Wright, P. H. (2011). Airport engineering: Planning, design, and development of 21st century airports (4th ed.). John Wiley &amp; Sons.</a:t>
            </a:r>
            <a:endParaRPr lang="en-US" sz="1100" dirty="0"/>
          </a:p>
          <a:p>
            <a:pPr indent="0" marL="0">
              <a:spcAft>
                <a:spcPts val="600"/>
              </a:spcAft>
              <a:buNone/>
            </a:pPr>
            <a:r>
              <a:rPr lang="en-US" sz="1100" dirty="0">
                <a:solidFill>
                  <a:schemeClr val="tx1"/>
                </a:solidFill>
              </a:rPr>
              <a:t>Box, G. E. P., Jenkins, G. M., Reinsel, G. C., &amp; Ljung, G. M. (2015). Time series analysis: Forecasting and control (5th ed.). John Wiley &amp; Sons.</a:t>
            </a:r>
            <a:endParaRPr lang="en-US" sz="1100" dirty="0"/>
          </a:p>
          <a:p>
            <a:pPr indent="0" marL="0">
              <a:spcAft>
                <a:spcPts val="600"/>
              </a:spcAft>
              <a:buNone/>
            </a:pPr>
            <a:r>
              <a:rPr lang="en-US" sz="1100" dirty="0">
                <a:solidFill>
                  <a:schemeClr val="tx1"/>
                </a:solidFill>
              </a:rPr>
              <a:t>Graham, A. (2018). Managing airports: An international perspective (5th ed.). Routledge.</a:t>
            </a:r>
            <a:endParaRPr lang="en-US" sz="1100" dirty="0"/>
          </a:p>
          <a:p>
            <a:pPr indent="0" marL="0">
              <a:spcAft>
                <a:spcPts val="600"/>
              </a:spcAft>
              <a:buNone/>
            </a:pPr>
            <a:r>
              <a:rPr lang="en-US" sz="1100" dirty="0">
                <a:solidFill>
                  <a:schemeClr val="tx1"/>
                </a:solidFill>
              </a:rPr>
              <a:t>Gu, X., Xie, J., Luo, Z., &amp; Liu, J. (2021). Analysis to energy consumption characteristics and influencing factors of terminal building based on airport operating data. Sustainable Energy Technologies and Assessments, 44, 101034. https://doi.org/10.1016/j.seta.2021.101034</a:t>
            </a:r>
            <a:endParaRPr lang="en-US" sz="1100" dirty="0"/>
          </a:p>
          <a:p>
            <a:pPr indent="0" marL="0">
              <a:spcAft>
                <a:spcPts val="600"/>
              </a:spcAft>
              <a:buNone/>
            </a:pPr>
            <a:r>
              <a:rPr lang="en-US" sz="1100" dirty="0">
                <a:solidFill>
                  <a:schemeClr val="tx1"/>
                </a:solidFill>
              </a:rPr>
              <a:t>Hyndman, R. J., &amp; Athanasopoulos, G. (2021). Forecasting: Principles and practice (3rd ed.). OTexts. https://otexts.com/fpp3/</a:t>
            </a:r>
            <a:endParaRPr lang="en-US" sz="1100" dirty="0"/>
          </a:p>
        </p:txBody>
      </p:sp>
      <p:sp>
        <p:nvSpPr>
          <p:cNvPr id="4" name="References column 2"/>
          <p:cNvSpPr txBox="1"/>
          <p:nvPr/>
        </p:nvSpPr>
        <p:spPr>
          <a:xfrm>
            <a:off x="6278728" y="1234440"/>
            <a:ext cx="5455768" cy="512064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Kazda, A., &amp; Caves, R. E. (2015). Airport design and operation (3rd ed.). Emerald Group Publishing.</a:t>
            </a:r>
            <a:endParaRPr lang="en-US" sz="1100" dirty="0"/>
          </a:p>
          <a:p>
            <a:pPr indent="0" marL="0">
              <a:spcAft>
                <a:spcPts val="600"/>
              </a:spcAft>
              <a:buNone/>
            </a:pPr>
            <a:r>
              <a:rPr lang="en-US" sz="1100" dirty="0">
                <a:solidFill>
                  <a:schemeClr val="tx1"/>
                </a:solidFill>
              </a:rPr>
              <a:t>Khashei, M., &amp; Bijari, M. (2011). A novel hybridization of artificial neural networks and ARIMA models for time series forecasting. Applied Soft Computing, 11(2), 2664–2675. https://doi.org/10.1016/j.asoc.2010.10.015</a:t>
            </a:r>
            <a:endParaRPr lang="en-US" sz="1100" dirty="0"/>
          </a:p>
          <a:p>
            <a:pPr indent="0" marL="0">
              <a:spcAft>
                <a:spcPts val="600"/>
              </a:spcAft>
              <a:buNone/>
            </a:pPr>
            <a:r>
              <a:rPr lang="en-US" sz="1100" dirty="0">
                <a:solidFill>
                  <a:schemeClr val="tx1"/>
                </a:solidFill>
              </a:rPr>
              <a:t>Luthander, R., Widén, J., Nilsson, D., &amp; Palm, J. (2015). Photovoltaic self-consumption in buildings: A review. Applied Energy, 142, 80–94. https://doi.org/10.1016/j.apenergy.2014.12.028</a:t>
            </a:r>
            <a:endParaRPr lang="en-US" sz="1100" dirty="0"/>
          </a:p>
          <a:p>
            <a:pPr indent="0" marL="0">
              <a:spcAft>
                <a:spcPts val="600"/>
              </a:spcAft>
              <a:buNone/>
            </a:pPr>
            <a:r>
              <a:rPr lang="en-US" sz="1100" dirty="0">
                <a:solidFill>
                  <a:schemeClr val="tx1"/>
                </a:solidFill>
              </a:rPr>
              <a:t>Ortega Alba, S., &amp; Mañana, M. (2017). Characterization and analysis of energy demand patterns in airports. Energies, 10(1), 119. https://doi.org/10.3390/en10010119</a:t>
            </a:r>
            <a:endParaRPr lang="en-US" sz="1100" dirty="0"/>
          </a:p>
          <a:p>
            <a:pPr indent="0" marL="0">
              <a:spcAft>
                <a:spcPts val="600"/>
              </a:spcAft>
              <a:buNone/>
            </a:pPr>
            <a:r>
              <a:rPr lang="en-US" sz="1100" dirty="0">
                <a:solidFill>
                  <a:schemeClr val="tx1"/>
                </a:solidFill>
              </a:rPr>
              <a:t>Paida Tenemaza, C. E., &amp; Inga Ortega, E. M. (2016). State of art, reliability in electrical distribution systems based on Markov stochastic model. IEEE Latin America Transactions, 14(2), 799–804. https://doi.org/10.1109/TLA.2016.7437225</a:t>
            </a:r>
            <a:endParaRPr lang="en-US" sz="1100" dirty="0"/>
          </a:p>
          <a:p>
            <a:pPr indent="0" marL="0">
              <a:spcAft>
                <a:spcPts val="600"/>
              </a:spcAft>
              <a:buNone/>
            </a:pPr>
            <a:r>
              <a:rPr lang="en-US" sz="1100" dirty="0">
                <a:solidFill>
                  <a:schemeClr val="tx1"/>
                </a:solidFill>
              </a:rPr>
              <a:t>Sembatya, R. K. (2022). Feasibility of large-scale grid connected solar PV systems for Entebbe International Airport [Master’s thesis, Makerere University</a:t>
            </a:r>
            <a:endParaRPr lang="en-US" sz="1100" dirty="0"/>
          </a:p>
        </p:txBody>
      </p:sp>
      <p:sp>
        <p:nvSpPr>
          <p:cNvPr id="5" name="Text 0"/>
          <p:cNvSpPr/>
          <p:nvPr>
            <p:ph idx="100" type="body" hasCustomPrompt="1"/>
          </p:nvPr>
        </p:nvSpPr>
        <p:spPr>
          <a:xfrm>
            <a:off x="457200" y="256032"/>
            <a:ext cx="11277295"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Airport Energy">
  <a:themeElements>
    <a:clrScheme name="Airport Energy">
      <a:dk1>
        <a:srgbClr val="1B1F24"/>
      </a:dk1>
      <a:lt1>
        <a:srgbClr val="FFFFFF"/>
      </a:lt1>
      <a:dk2>
        <a:srgbClr val="0F2B45"/>
      </a:dk2>
      <a:lt2>
        <a:srgbClr val="EEF3F8"/>
      </a:lt2>
      <a:accent1>
        <a:srgbClr val="1F5F8B"/>
      </a:accent1>
      <a:accent2>
        <a:srgbClr val="E8892B"/>
      </a:accent2>
      <a:accent3>
        <a:srgbClr val="2E7D5B"/>
      </a:accent3>
      <a:accent4>
        <a:srgbClr val="5B6B7C"/>
      </a:accent4>
      <a:accent5>
        <a:srgbClr val="DCE7F2"/>
      </a:accent5>
      <a:accent6>
        <a:srgbClr val="FCEFE2"/>
      </a:accent6>
      <a:hlink>
        <a:srgbClr val="1F5F8B"/>
      </a:hlink>
      <a:folHlink>
        <a:srgbClr val="6B4C9A"/>
      </a:folHlink>
    </a:clrScheme>
    <a:fontScheme name="Airport Energ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Results and Discussion</dc:title>
  <dc:subject>PptxGenJS Presentation</dc:subject>
  <dc:creator>PptxGenJS</dc:creator>
  <cp:lastModifiedBy>PptxGenJS</cp:lastModifiedBy>
  <cp:revision>1</cp:revision>
  <dcterms:created xsi:type="dcterms:W3CDTF">2026-10-05T20:43:48Z</dcterms:created>
  <dcterms:modified xsi:type="dcterms:W3CDTF">2026-10-05T20:43:48Z</dcterms:modified>
</cp:coreProperties>
</file>